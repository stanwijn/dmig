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83" r:id="rId3"/>
    <p:sldId id="395" r:id="rId4"/>
    <p:sldId id="389" r:id="rId5"/>
    <p:sldId id="394" r:id="rId6"/>
    <p:sldId id="397" r:id="rId7"/>
    <p:sldId id="398" r:id="rId8"/>
    <p:sldId id="399" r:id="rId9"/>
    <p:sldId id="298" r:id="rId10"/>
    <p:sldId id="386" r:id="rId11"/>
    <p:sldId id="401" r:id="rId12"/>
    <p:sldId id="403" r:id="rId13"/>
    <p:sldId id="402" r:id="rId14"/>
    <p:sldId id="405" r:id="rId15"/>
    <p:sldId id="406" r:id="rId16"/>
    <p:sldId id="404" r:id="rId17"/>
    <p:sldId id="409" r:id="rId18"/>
    <p:sldId id="408" r:id="rId19"/>
    <p:sldId id="407" r:id="rId20"/>
    <p:sldId id="411" r:id="rId21"/>
    <p:sldId id="412" r:id="rId22"/>
    <p:sldId id="413" r:id="rId23"/>
    <p:sldId id="414" r:id="rId24"/>
    <p:sldId id="388" r:id="rId25"/>
    <p:sldId id="376" r:id="rId26"/>
    <p:sldId id="331" r:id="rId27"/>
  </p:sldIdLst>
  <p:sldSz cx="9144000" cy="6858000" type="screen4x3"/>
  <p:notesSz cx="7315200" cy="96012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n Wijn" initials="SW" lastIdx="1" clrIdx="0">
    <p:extLst>
      <p:ext uri="{19B8F6BF-5375-455C-9EA6-DF929625EA0E}">
        <p15:presenceInfo xmlns:p15="http://schemas.microsoft.com/office/powerpoint/2012/main" userId="011f624bc35983c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6600"/>
    <a:srgbClr val="339933"/>
    <a:srgbClr val="A5002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08" autoAdjust="0"/>
  </p:normalViewPr>
  <p:slideViewPr>
    <p:cSldViewPr>
      <p:cViewPr varScale="1">
        <p:scale>
          <a:sx n="105" d="100"/>
          <a:sy n="105" d="100"/>
        </p:scale>
        <p:origin x="163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BEE1EBA-AC86-4632-8267-60DAA6EE8046}" type="datetimeFigureOut">
              <a:rPr lang="nl-NL" smtClean="0"/>
              <a:pPr/>
              <a:t>22-3-2019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BEF2B7B-34A8-4724-86CF-428DD182CB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158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E8E526B-2B5D-4785-9435-10CBB1799114}" type="slidenum">
              <a:rPr lang="nl-NL"/>
              <a:pPr/>
              <a:t>1</a:t>
            </a:fld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F2B7B-34A8-4724-86CF-428DD182CBEA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5771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F2B7B-34A8-4724-86CF-428DD182CBEA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9726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F2B7B-34A8-4724-86CF-428DD182CBEA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889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Shape 5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F2B7B-34A8-4724-86CF-428DD182CBEA}" type="slidenum">
              <a:rPr lang="nl-NL" smtClean="0"/>
              <a:pPr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8109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F2B7B-34A8-4724-86CF-428DD182CBEA}" type="slidenum">
              <a:rPr lang="nl-NL" smtClean="0"/>
              <a:pPr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1726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Shape 5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3256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/>
          <p:cNvSpPr/>
          <p:nvPr userDrawn="1"/>
        </p:nvSpPr>
        <p:spPr>
          <a:xfrm>
            <a:off x="521500" y="594000"/>
            <a:ext cx="8100000" cy="4212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46000" y="1003462"/>
            <a:ext cx="7452000" cy="533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845540" y="1650209"/>
            <a:ext cx="7452000" cy="533400"/>
          </a:xfrm>
        </p:spPr>
        <p:txBody>
          <a:bodyPr>
            <a:noAutofit/>
          </a:bodyPr>
          <a:lstStyle>
            <a:lvl1pPr marL="0" indent="0" algn="l">
              <a:lnSpc>
                <a:spcPts val="4200"/>
              </a:lnSpc>
              <a:buNone/>
              <a:defRPr sz="40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het opmaakprofiel van de modelondertitel te bewerken</a:t>
            </a:r>
            <a:endParaRPr lang="nl-NL" dirty="0"/>
          </a:p>
        </p:txBody>
      </p:sp>
      <p:sp>
        <p:nvSpPr>
          <p:cNvPr id="11" name="Rechthoek 10"/>
          <p:cNvSpPr/>
          <p:nvPr userDrawn="1"/>
        </p:nvSpPr>
        <p:spPr>
          <a:xfrm>
            <a:off x="521500" y="5292000"/>
            <a:ext cx="8100000" cy="1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0"/>
          </p:nvPr>
        </p:nvSpPr>
        <p:spPr>
          <a:xfrm>
            <a:off x="846000" y="4078255"/>
            <a:ext cx="5346157" cy="6350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nl-NL"/>
              <a:t>Klik om de modelstijlen te bewerken</a:t>
            </a:r>
          </a:p>
        </p:txBody>
      </p:sp>
      <p:pic>
        <p:nvPicPr>
          <p:cNvPr id="17" name="Afbeelding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8000" y="6264000"/>
            <a:ext cx="2426807" cy="3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7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46000" y="1003462"/>
            <a:ext cx="7452000" cy="533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845540" y="1650209"/>
            <a:ext cx="7452000" cy="533400"/>
          </a:xfrm>
        </p:spPr>
        <p:txBody>
          <a:bodyPr>
            <a:noAutofit/>
          </a:bodyPr>
          <a:lstStyle>
            <a:lvl1pPr marL="0" indent="0" algn="l">
              <a:lnSpc>
                <a:spcPts val="4200"/>
              </a:lnSpc>
              <a:buNone/>
              <a:defRPr sz="4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het opmaakprofiel van de modelondertitel te bewerken</a:t>
            </a:r>
            <a:endParaRPr lang="nl-NL" dirty="0"/>
          </a:p>
        </p:txBody>
      </p:sp>
      <p:sp>
        <p:nvSpPr>
          <p:cNvPr id="11" name="Rechthoek 10"/>
          <p:cNvSpPr/>
          <p:nvPr userDrawn="1"/>
        </p:nvSpPr>
        <p:spPr>
          <a:xfrm>
            <a:off x="521500" y="5292000"/>
            <a:ext cx="8100000" cy="1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0"/>
          </p:nvPr>
        </p:nvSpPr>
        <p:spPr>
          <a:xfrm>
            <a:off x="846000" y="4078255"/>
            <a:ext cx="5346157" cy="635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de modelstijlen te bewerken</a:t>
            </a:r>
          </a:p>
        </p:txBody>
      </p:sp>
      <p:pic>
        <p:nvPicPr>
          <p:cNvPr id="17" name="Afbeelding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8000" y="6264000"/>
            <a:ext cx="2426807" cy="302400"/>
          </a:xfrm>
          <a:prstGeom prst="rect">
            <a:avLst/>
          </a:prstGeom>
        </p:spPr>
      </p:pic>
      <p:sp>
        <p:nvSpPr>
          <p:cNvPr id="9" name="Rechthoek 8"/>
          <p:cNvSpPr/>
          <p:nvPr userDrawn="1"/>
        </p:nvSpPr>
        <p:spPr>
          <a:xfrm>
            <a:off x="522000" y="594000"/>
            <a:ext cx="81000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544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81968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Ondertitel 2"/>
          <p:cNvSpPr>
            <a:spLocks noGrp="1"/>
          </p:cNvSpPr>
          <p:nvPr>
            <p:ph type="subTitle" idx="1"/>
          </p:nvPr>
        </p:nvSpPr>
        <p:spPr>
          <a:xfrm>
            <a:off x="522000" y="1650209"/>
            <a:ext cx="8100000" cy="533400"/>
          </a:xfrm>
        </p:spPr>
        <p:txBody>
          <a:bodyPr>
            <a:noAutofit/>
          </a:bodyPr>
          <a:lstStyle>
            <a:lvl1pPr marL="0" indent="0" algn="l">
              <a:lnSpc>
                <a:spcPts val="4200"/>
              </a:lnSpc>
              <a:buNone/>
              <a:defRPr sz="4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het opmaakprofiel van de modelondertitel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855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dia met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2000" y="1004344"/>
            <a:ext cx="8100000" cy="5334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/>
          </p:nvPr>
        </p:nvSpPr>
        <p:spPr>
          <a:xfrm>
            <a:off x="4647600" y="1652400"/>
            <a:ext cx="3974900" cy="4125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grafiek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4"/>
          </p:nvPr>
        </p:nvSpPr>
        <p:spPr>
          <a:xfrm>
            <a:off x="522288" y="1652001"/>
            <a:ext cx="4039200" cy="4124912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145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dia me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2000" y="1004344"/>
            <a:ext cx="8100000" cy="5334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4"/>
          </p:nvPr>
        </p:nvSpPr>
        <p:spPr>
          <a:xfrm>
            <a:off x="522288" y="1652400"/>
            <a:ext cx="4039200" cy="41256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afbeelding 3"/>
          <p:cNvSpPr>
            <a:spLocks noGrp="1"/>
          </p:cNvSpPr>
          <p:nvPr>
            <p:ph type="pic" sz="quarter" idx="15"/>
          </p:nvPr>
        </p:nvSpPr>
        <p:spPr>
          <a:xfrm>
            <a:off x="4647600" y="1652400"/>
            <a:ext cx="3974900" cy="4125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0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5721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dia me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2000" y="1004344"/>
            <a:ext cx="8100000" cy="5334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4" name="Tijdelijke aanduiding voor afbeelding 3"/>
          <p:cNvSpPr>
            <a:spLocks noGrp="1"/>
          </p:cNvSpPr>
          <p:nvPr>
            <p:ph type="pic" sz="quarter" idx="15"/>
          </p:nvPr>
        </p:nvSpPr>
        <p:spPr>
          <a:xfrm>
            <a:off x="521500" y="1652400"/>
            <a:ext cx="8101000" cy="4125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733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dia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&lt;datum&gt;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&lt;Titel van de presentatie&gt;</a:t>
            </a:r>
          </a:p>
        </p:txBody>
      </p:sp>
      <p:sp>
        <p:nvSpPr>
          <p:cNvPr id="4" name="Tijdelijke aanduiding voor afbeelding 3"/>
          <p:cNvSpPr>
            <a:spLocks noGrp="1"/>
          </p:cNvSpPr>
          <p:nvPr>
            <p:ph type="pic" sz="quarter" idx="15"/>
          </p:nvPr>
        </p:nvSpPr>
        <p:spPr>
          <a:xfrm>
            <a:off x="521500" y="592931"/>
            <a:ext cx="8101000" cy="518506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585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9144000" cy="685799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grpSp>
        <p:nvGrpSpPr>
          <p:cNvPr id="25" name="Groep 24"/>
          <p:cNvGrpSpPr/>
          <p:nvPr userDrawn="1"/>
        </p:nvGrpSpPr>
        <p:grpSpPr>
          <a:xfrm>
            <a:off x="5867400" y="6264275"/>
            <a:ext cx="2427288" cy="301626"/>
            <a:chOff x="5867400" y="6264275"/>
            <a:chExt cx="2427288" cy="301626"/>
          </a:xfrm>
        </p:grpSpPr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5867400" y="6264275"/>
              <a:ext cx="258763" cy="295275"/>
            </a:xfrm>
            <a:custGeom>
              <a:avLst/>
              <a:gdLst>
                <a:gd name="T0" fmla="*/ 389 w 407"/>
                <a:gd name="T1" fmla="*/ 424 h 463"/>
                <a:gd name="T2" fmla="*/ 352 w 407"/>
                <a:gd name="T3" fmla="*/ 397 h 463"/>
                <a:gd name="T4" fmla="*/ 248 w 407"/>
                <a:gd name="T5" fmla="*/ 229 h 463"/>
                <a:gd name="T6" fmla="*/ 346 w 407"/>
                <a:gd name="T7" fmla="*/ 108 h 463"/>
                <a:gd name="T8" fmla="*/ 185 w 407"/>
                <a:gd name="T9" fmla="*/ 0 h 463"/>
                <a:gd name="T10" fmla="*/ 8 w 407"/>
                <a:gd name="T11" fmla="*/ 0 h 463"/>
                <a:gd name="T12" fmla="*/ 0 w 407"/>
                <a:gd name="T13" fmla="*/ 11 h 463"/>
                <a:gd name="T14" fmla="*/ 0 w 407"/>
                <a:gd name="T15" fmla="*/ 24 h 463"/>
                <a:gd name="T16" fmla="*/ 17 w 407"/>
                <a:gd name="T17" fmla="*/ 39 h 463"/>
                <a:gd name="T18" fmla="*/ 46 w 407"/>
                <a:gd name="T19" fmla="*/ 47 h 463"/>
                <a:gd name="T20" fmla="*/ 46 w 407"/>
                <a:gd name="T21" fmla="*/ 417 h 463"/>
                <a:gd name="T22" fmla="*/ 17 w 407"/>
                <a:gd name="T23" fmla="*/ 424 h 463"/>
                <a:gd name="T24" fmla="*/ 0 w 407"/>
                <a:gd name="T25" fmla="*/ 440 h 463"/>
                <a:gd name="T26" fmla="*/ 0 w 407"/>
                <a:gd name="T27" fmla="*/ 453 h 463"/>
                <a:gd name="T28" fmla="*/ 8 w 407"/>
                <a:gd name="T29" fmla="*/ 463 h 463"/>
                <a:gd name="T30" fmla="*/ 167 w 407"/>
                <a:gd name="T31" fmla="*/ 463 h 463"/>
                <a:gd name="T32" fmla="*/ 176 w 407"/>
                <a:gd name="T33" fmla="*/ 453 h 463"/>
                <a:gd name="T34" fmla="*/ 176 w 407"/>
                <a:gd name="T35" fmla="*/ 440 h 463"/>
                <a:gd name="T36" fmla="*/ 158 w 407"/>
                <a:gd name="T37" fmla="*/ 424 h 463"/>
                <a:gd name="T38" fmla="*/ 129 w 407"/>
                <a:gd name="T39" fmla="*/ 417 h 463"/>
                <a:gd name="T40" fmla="*/ 129 w 407"/>
                <a:gd name="T41" fmla="*/ 242 h 463"/>
                <a:gd name="T42" fmla="*/ 171 w 407"/>
                <a:gd name="T43" fmla="*/ 242 h 463"/>
                <a:gd name="T44" fmla="*/ 287 w 407"/>
                <a:gd name="T45" fmla="*/ 452 h 463"/>
                <a:gd name="T46" fmla="*/ 309 w 407"/>
                <a:gd name="T47" fmla="*/ 463 h 463"/>
                <a:gd name="T48" fmla="*/ 398 w 407"/>
                <a:gd name="T49" fmla="*/ 463 h 463"/>
                <a:gd name="T50" fmla="*/ 407 w 407"/>
                <a:gd name="T51" fmla="*/ 453 h 463"/>
                <a:gd name="T52" fmla="*/ 407 w 407"/>
                <a:gd name="T53" fmla="*/ 440 h 463"/>
                <a:gd name="T54" fmla="*/ 389 w 407"/>
                <a:gd name="T55" fmla="*/ 424 h 463"/>
                <a:gd name="T56" fmla="*/ 145 w 407"/>
                <a:gd name="T57" fmla="*/ 203 h 463"/>
                <a:gd name="T58" fmla="*/ 130 w 407"/>
                <a:gd name="T59" fmla="*/ 203 h 463"/>
                <a:gd name="T60" fmla="*/ 130 w 407"/>
                <a:gd name="T61" fmla="*/ 43 h 463"/>
                <a:gd name="T62" fmla="*/ 162 w 407"/>
                <a:gd name="T63" fmla="*/ 43 h 463"/>
                <a:gd name="T64" fmla="*/ 257 w 407"/>
                <a:gd name="T65" fmla="*/ 121 h 463"/>
                <a:gd name="T66" fmla="*/ 145 w 407"/>
                <a:gd name="T67" fmla="*/ 203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7" h="463">
                  <a:moveTo>
                    <a:pt x="389" y="424"/>
                  </a:moveTo>
                  <a:cubicBezTo>
                    <a:pt x="371" y="420"/>
                    <a:pt x="367" y="417"/>
                    <a:pt x="352" y="397"/>
                  </a:cubicBezTo>
                  <a:cubicBezTo>
                    <a:pt x="330" y="367"/>
                    <a:pt x="278" y="292"/>
                    <a:pt x="248" y="229"/>
                  </a:cubicBezTo>
                  <a:cubicBezTo>
                    <a:pt x="304" y="209"/>
                    <a:pt x="346" y="170"/>
                    <a:pt x="346" y="108"/>
                  </a:cubicBezTo>
                  <a:cubicBezTo>
                    <a:pt x="346" y="20"/>
                    <a:pt x="261" y="0"/>
                    <a:pt x="18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0" y="4"/>
                    <a:pt x="0" y="1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5"/>
                    <a:pt x="4" y="35"/>
                    <a:pt x="17" y="39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6" y="417"/>
                    <a:pt x="46" y="417"/>
                    <a:pt x="46" y="417"/>
                  </a:cubicBezTo>
                  <a:cubicBezTo>
                    <a:pt x="17" y="424"/>
                    <a:pt x="17" y="424"/>
                    <a:pt x="17" y="424"/>
                  </a:cubicBezTo>
                  <a:cubicBezTo>
                    <a:pt x="4" y="428"/>
                    <a:pt x="0" y="429"/>
                    <a:pt x="0" y="440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459"/>
                    <a:pt x="1" y="463"/>
                    <a:pt x="8" y="463"/>
                  </a:cubicBezTo>
                  <a:cubicBezTo>
                    <a:pt x="167" y="463"/>
                    <a:pt x="167" y="463"/>
                    <a:pt x="167" y="463"/>
                  </a:cubicBezTo>
                  <a:cubicBezTo>
                    <a:pt x="175" y="463"/>
                    <a:pt x="176" y="459"/>
                    <a:pt x="176" y="453"/>
                  </a:cubicBezTo>
                  <a:cubicBezTo>
                    <a:pt x="176" y="440"/>
                    <a:pt x="176" y="440"/>
                    <a:pt x="176" y="440"/>
                  </a:cubicBezTo>
                  <a:cubicBezTo>
                    <a:pt x="176" y="429"/>
                    <a:pt x="172" y="428"/>
                    <a:pt x="158" y="424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9" y="242"/>
                    <a:pt x="129" y="242"/>
                    <a:pt x="129" y="242"/>
                  </a:cubicBezTo>
                  <a:cubicBezTo>
                    <a:pt x="171" y="242"/>
                    <a:pt x="171" y="242"/>
                    <a:pt x="171" y="242"/>
                  </a:cubicBezTo>
                  <a:cubicBezTo>
                    <a:pt x="201" y="311"/>
                    <a:pt x="266" y="424"/>
                    <a:pt x="287" y="452"/>
                  </a:cubicBezTo>
                  <a:cubicBezTo>
                    <a:pt x="295" y="463"/>
                    <a:pt x="298" y="463"/>
                    <a:pt x="309" y="463"/>
                  </a:cubicBezTo>
                  <a:cubicBezTo>
                    <a:pt x="398" y="463"/>
                    <a:pt x="398" y="463"/>
                    <a:pt x="398" y="463"/>
                  </a:cubicBezTo>
                  <a:cubicBezTo>
                    <a:pt x="406" y="463"/>
                    <a:pt x="407" y="459"/>
                    <a:pt x="407" y="453"/>
                  </a:cubicBezTo>
                  <a:cubicBezTo>
                    <a:pt x="407" y="440"/>
                    <a:pt x="407" y="440"/>
                    <a:pt x="407" y="440"/>
                  </a:cubicBezTo>
                  <a:cubicBezTo>
                    <a:pt x="407" y="427"/>
                    <a:pt x="400" y="428"/>
                    <a:pt x="389" y="424"/>
                  </a:cubicBezTo>
                  <a:close/>
                  <a:moveTo>
                    <a:pt x="145" y="203"/>
                  </a:moveTo>
                  <a:cubicBezTo>
                    <a:pt x="130" y="203"/>
                    <a:pt x="130" y="203"/>
                    <a:pt x="130" y="203"/>
                  </a:cubicBezTo>
                  <a:cubicBezTo>
                    <a:pt x="130" y="43"/>
                    <a:pt x="130" y="43"/>
                    <a:pt x="130" y="43"/>
                  </a:cubicBezTo>
                  <a:cubicBezTo>
                    <a:pt x="162" y="43"/>
                    <a:pt x="162" y="43"/>
                    <a:pt x="162" y="43"/>
                  </a:cubicBezTo>
                  <a:cubicBezTo>
                    <a:pt x="222" y="43"/>
                    <a:pt x="257" y="66"/>
                    <a:pt x="257" y="121"/>
                  </a:cubicBezTo>
                  <a:cubicBezTo>
                    <a:pt x="257" y="189"/>
                    <a:pt x="205" y="203"/>
                    <a:pt x="145" y="2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6350000" y="6264275"/>
              <a:ext cx="220663" cy="301625"/>
            </a:xfrm>
            <a:custGeom>
              <a:avLst/>
              <a:gdLst>
                <a:gd name="T0" fmla="*/ 331 w 348"/>
                <a:gd name="T1" fmla="*/ 428 h 473"/>
                <a:gd name="T2" fmla="*/ 299 w 348"/>
                <a:gd name="T3" fmla="*/ 418 h 473"/>
                <a:gd name="T4" fmla="*/ 299 w 348"/>
                <a:gd name="T5" fmla="*/ 16 h 473"/>
                <a:gd name="T6" fmla="*/ 284 w 348"/>
                <a:gd name="T7" fmla="*/ 0 h 473"/>
                <a:gd name="T8" fmla="*/ 186 w 348"/>
                <a:gd name="T9" fmla="*/ 0 h 473"/>
                <a:gd name="T10" fmla="*/ 178 w 348"/>
                <a:gd name="T11" fmla="*/ 11 h 473"/>
                <a:gd name="T12" fmla="*/ 178 w 348"/>
                <a:gd name="T13" fmla="*/ 19 h 473"/>
                <a:gd name="T14" fmla="*/ 196 w 348"/>
                <a:gd name="T15" fmla="*/ 36 h 473"/>
                <a:gd name="T16" fmla="*/ 227 w 348"/>
                <a:gd name="T17" fmla="*/ 45 h 473"/>
                <a:gd name="T18" fmla="*/ 227 w 348"/>
                <a:gd name="T19" fmla="*/ 158 h 473"/>
                <a:gd name="T20" fmla="*/ 153 w 348"/>
                <a:gd name="T21" fmla="*/ 133 h 473"/>
                <a:gd name="T22" fmla="*/ 0 w 348"/>
                <a:gd name="T23" fmla="*/ 313 h 473"/>
                <a:gd name="T24" fmla="*/ 123 w 348"/>
                <a:gd name="T25" fmla="*/ 473 h 473"/>
                <a:gd name="T26" fmla="*/ 227 w 348"/>
                <a:gd name="T27" fmla="*/ 420 h 473"/>
                <a:gd name="T28" fmla="*/ 227 w 348"/>
                <a:gd name="T29" fmla="*/ 447 h 473"/>
                <a:gd name="T30" fmla="*/ 242 w 348"/>
                <a:gd name="T31" fmla="*/ 463 h 473"/>
                <a:gd name="T32" fmla="*/ 340 w 348"/>
                <a:gd name="T33" fmla="*/ 463 h 473"/>
                <a:gd name="T34" fmla="*/ 348 w 348"/>
                <a:gd name="T35" fmla="*/ 453 h 473"/>
                <a:gd name="T36" fmla="*/ 348 w 348"/>
                <a:gd name="T37" fmla="*/ 444 h 473"/>
                <a:gd name="T38" fmla="*/ 331 w 348"/>
                <a:gd name="T39" fmla="*/ 428 h 473"/>
                <a:gd name="T40" fmla="*/ 227 w 348"/>
                <a:gd name="T41" fmla="*/ 379 h 473"/>
                <a:gd name="T42" fmla="*/ 153 w 348"/>
                <a:gd name="T43" fmla="*/ 418 h 473"/>
                <a:gd name="T44" fmla="*/ 77 w 348"/>
                <a:gd name="T45" fmla="*/ 299 h 473"/>
                <a:gd name="T46" fmla="*/ 158 w 348"/>
                <a:gd name="T47" fmla="*/ 179 h 473"/>
                <a:gd name="T48" fmla="*/ 227 w 348"/>
                <a:gd name="T49" fmla="*/ 299 h 473"/>
                <a:gd name="T50" fmla="*/ 227 w 348"/>
                <a:gd name="T51" fmla="*/ 379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48" h="473">
                  <a:moveTo>
                    <a:pt x="331" y="428"/>
                  </a:moveTo>
                  <a:cubicBezTo>
                    <a:pt x="299" y="418"/>
                    <a:pt x="299" y="418"/>
                    <a:pt x="299" y="418"/>
                  </a:cubicBezTo>
                  <a:cubicBezTo>
                    <a:pt x="299" y="16"/>
                    <a:pt x="299" y="16"/>
                    <a:pt x="299" y="16"/>
                  </a:cubicBezTo>
                  <a:cubicBezTo>
                    <a:pt x="299" y="6"/>
                    <a:pt x="296" y="0"/>
                    <a:pt x="284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79" y="0"/>
                    <a:pt x="178" y="4"/>
                    <a:pt x="178" y="11"/>
                  </a:cubicBezTo>
                  <a:cubicBezTo>
                    <a:pt x="178" y="19"/>
                    <a:pt x="178" y="19"/>
                    <a:pt x="178" y="19"/>
                  </a:cubicBezTo>
                  <a:cubicBezTo>
                    <a:pt x="178" y="31"/>
                    <a:pt x="182" y="32"/>
                    <a:pt x="196" y="36"/>
                  </a:cubicBezTo>
                  <a:cubicBezTo>
                    <a:pt x="227" y="45"/>
                    <a:pt x="227" y="45"/>
                    <a:pt x="227" y="45"/>
                  </a:cubicBezTo>
                  <a:cubicBezTo>
                    <a:pt x="227" y="158"/>
                    <a:pt x="227" y="158"/>
                    <a:pt x="227" y="158"/>
                  </a:cubicBezTo>
                  <a:cubicBezTo>
                    <a:pt x="215" y="148"/>
                    <a:pt x="190" y="133"/>
                    <a:pt x="153" y="133"/>
                  </a:cubicBezTo>
                  <a:cubicBezTo>
                    <a:pt x="81" y="133"/>
                    <a:pt x="0" y="185"/>
                    <a:pt x="0" y="313"/>
                  </a:cubicBezTo>
                  <a:cubicBezTo>
                    <a:pt x="0" y="425"/>
                    <a:pt x="62" y="473"/>
                    <a:pt x="123" y="473"/>
                  </a:cubicBezTo>
                  <a:cubicBezTo>
                    <a:pt x="162" y="473"/>
                    <a:pt x="195" y="453"/>
                    <a:pt x="227" y="420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57"/>
                    <a:pt x="230" y="463"/>
                    <a:pt x="242" y="463"/>
                  </a:cubicBezTo>
                  <a:cubicBezTo>
                    <a:pt x="340" y="463"/>
                    <a:pt x="340" y="463"/>
                    <a:pt x="340" y="463"/>
                  </a:cubicBezTo>
                  <a:cubicBezTo>
                    <a:pt x="347" y="463"/>
                    <a:pt x="348" y="459"/>
                    <a:pt x="348" y="453"/>
                  </a:cubicBezTo>
                  <a:cubicBezTo>
                    <a:pt x="348" y="444"/>
                    <a:pt x="348" y="444"/>
                    <a:pt x="348" y="444"/>
                  </a:cubicBezTo>
                  <a:cubicBezTo>
                    <a:pt x="348" y="432"/>
                    <a:pt x="344" y="432"/>
                    <a:pt x="331" y="428"/>
                  </a:cubicBezTo>
                  <a:close/>
                  <a:moveTo>
                    <a:pt x="227" y="379"/>
                  </a:moveTo>
                  <a:cubicBezTo>
                    <a:pt x="205" y="401"/>
                    <a:pt x="181" y="418"/>
                    <a:pt x="153" y="418"/>
                  </a:cubicBezTo>
                  <a:cubicBezTo>
                    <a:pt x="100" y="418"/>
                    <a:pt x="77" y="362"/>
                    <a:pt x="77" y="299"/>
                  </a:cubicBezTo>
                  <a:cubicBezTo>
                    <a:pt x="77" y="225"/>
                    <a:pt x="109" y="179"/>
                    <a:pt x="158" y="179"/>
                  </a:cubicBezTo>
                  <a:cubicBezTo>
                    <a:pt x="209" y="179"/>
                    <a:pt x="227" y="229"/>
                    <a:pt x="227" y="299"/>
                  </a:cubicBezTo>
                  <a:lnTo>
                    <a:pt x="227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7" name="Freeform 12"/>
            <p:cNvSpPr>
              <a:spLocks/>
            </p:cNvSpPr>
            <p:nvPr userDrawn="1"/>
          </p:nvSpPr>
          <p:spPr bwMode="auto">
            <a:xfrm>
              <a:off x="7032625" y="6354763"/>
              <a:ext cx="234950" cy="211138"/>
            </a:xfrm>
            <a:custGeom>
              <a:avLst/>
              <a:gdLst>
                <a:gd name="T0" fmla="*/ 323 w 372"/>
                <a:gd name="T1" fmla="*/ 15 h 330"/>
                <a:gd name="T2" fmla="*/ 308 w 372"/>
                <a:gd name="T3" fmla="*/ 0 h 330"/>
                <a:gd name="T4" fmla="*/ 210 w 372"/>
                <a:gd name="T5" fmla="*/ 0 h 330"/>
                <a:gd name="T6" fmla="*/ 202 w 372"/>
                <a:gd name="T7" fmla="*/ 10 h 330"/>
                <a:gd name="T8" fmla="*/ 202 w 372"/>
                <a:gd name="T9" fmla="*/ 19 h 330"/>
                <a:gd name="T10" fmla="*/ 219 w 372"/>
                <a:gd name="T11" fmla="*/ 35 h 330"/>
                <a:gd name="T12" fmla="*/ 251 w 372"/>
                <a:gd name="T13" fmla="*/ 44 h 330"/>
                <a:gd name="T14" fmla="*/ 251 w 372"/>
                <a:gd name="T15" fmla="*/ 236 h 330"/>
                <a:gd name="T16" fmla="*/ 176 w 372"/>
                <a:gd name="T17" fmla="*/ 275 h 330"/>
                <a:gd name="T18" fmla="*/ 121 w 372"/>
                <a:gd name="T19" fmla="*/ 169 h 330"/>
                <a:gd name="T20" fmla="*/ 121 w 372"/>
                <a:gd name="T21" fmla="*/ 15 h 330"/>
                <a:gd name="T22" fmla="*/ 106 w 372"/>
                <a:gd name="T23" fmla="*/ 0 h 330"/>
                <a:gd name="T24" fmla="*/ 8 w 372"/>
                <a:gd name="T25" fmla="*/ 0 h 330"/>
                <a:gd name="T26" fmla="*/ 0 w 372"/>
                <a:gd name="T27" fmla="*/ 10 h 330"/>
                <a:gd name="T28" fmla="*/ 0 w 372"/>
                <a:gd name="T29" fmla="*/ 19 h 330"/>
                <a:gd name="T30" fmla="*/ 18 w 372"/>
                <a:gd name="T31" fmla="*/ 35 h 330"/>
                <a:gd name="T32" fmla="*/ 49 w 372"/>
                <a:gd name="T33" fmla="*/ 44 h 330"/>
                <a:gd name="T34" fmla="*/ 49 w 372"/>
                <a:gd name="T35" fmla="*/ 207 h 330"/>
                <a:gd name="T36" fmla="*/ 145 w 372"/>
                <a:gd name="T37" fmla="*/ 330 h 330"/>
                <a:gd name="T38" fmla="*/ 251 w 372"/>
                <a:gd name="T39" fmla="*/ 277 h 330"/>
                <a:gd name="T40" fmla="*/ 251 w 372"/>
                <a:gd name="T41" fmla="*/ 304 h 330"/>
                <a:gd name="T42" fmla="*/ 266 w 372"/>
                <a:gd name="T43" fmla="*/ 320 h 330"/>
                <a:gd name="T44" fmla="*/ 364 w 372"/>
                <a:gd name="T45" fmla="*/ 320 h 330"/>
                <a:gd name="T46" fmla="*/ 372 w 372"/>
                <a:gd name="T47" fmla="*/ 310 h 330"/>
                <a:gd name="T48" fmla="*/ 372 w 372"/>
                <a:gd name="T49" fmla="*/ 301 h 330"/>
                <a:gd name="T50" fmla="*/ 354 w 372"/>
                <a:gd name="T51" fmla="*/ 285 h 330"/>
                <a:gd name="T52" fmla="*/ 323 w 372"/>
                <a:gd name="T53" fmla="*/ 275 h 330"/>
                <a:gd name="T54" fmla="*/ 323 w 372"/>
                <a:gd name="T55" fmla="*/ 15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72" h="330">
                  <a:moveTo>
                    <a:pt x="323" y="15"/>
                  </a:moveTo>
                  <a:cubicBezTo>
                    <a:pt x="323" y="6"/>
                    <a:pt x="320" y="0"/>
                    <a:pt x="30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02" y="0"/>
                    <a:pt x="202" y="4"/>
                    <a:pt x="202" y="10"/>
                  </a:cubicBezTo>
                  <a:cubicBezTo>
                    <a:pt x="202" y="19"/>
                    <a:pt x="202" y="19"/>
                    <a:pt x="202" y="19"/>
                  </a:cubicBezTo>
                  <a:cubicBezTo>
                    <a:pt x="202" y="31"/>
                    <a:pt x="206" y="31"/>
                    <a:pt x="219" y="3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1" y="236"/>
                    <a:pt x="251" y="236"/>
                    <a:pt x="251" y="236"/>
                  </a:cubicBezTo>
                  <a:cubicBezTo>
                    <a:pt x="224" y="264"/>
                    <a:pt x="204" y="275"/>
                    <a:pt x="176" y="275"/>
                  </a:cubicBezTo>
                  <a:cubicBezTo>
                    <a:pt x="125" y="275"/>
                    <a:pt x="121" y="236"/>
                    <a:pt x="121" y="169"/>
                  </a:cubicBezTo>
                  <a:cubicBezTo>
                    <a:pt x="121" y="15"/>
                    <a:pt x="121" y="15"/>
                    <a:pt x="121" y="15"/>
                  </a:cubicBezTo>
                  <a:cubicBezTo>
                    <a:pt x="121" y="6"/>
                    <a:pt x="118" y="0"/>
                    <a:pt x="10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0" y="4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31"/>
                    <a:pt x="4" y="31"/>
                    <a:pt x="18" y="35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49" y="207"/>
                    <a:pt x="49" y="207"/>
                    <a:pt x="49" y="207"/>
                  </a:cubicBezTo>
                  <a:cubicBezTo>
                    <a:pt x="49" y="309"/>
                    <a:pt x="96" y="330"/>
                    <a:pt x="145" y="330"/>
                  </a:cubicBezTo>
                  <a:cubicBezTo>
                    <a:pt x="188" y="330"/>
                    <a:pt x="220" y="312"/>
                    <a:pt x="251" y="277"/>
                  </a:cubicBezTo>
                  <a:cubicBezTo>
                    <a:pt x="251" y="304"/>
                    <a:pt x="251" y="304"/>
                    <a:pt x="251" y="304"/>
                  </a:cubicBezTo>
                  <a:cubicBezTo>
                    <a:pt x="251" y="314"/>
                    <a:pt x="254" y="320"/>
                    <a:pt x="266" y="320"/>
                  </a:cubicBezTo>
                  <a:cubicBezTo>
                    <a:pt x="364" y="320"/>
                    <a:pt x="364" y="320"/>
                    <a:pt x="364" y="320"/>
                  </a:cubicBezTo>
                  <a:cubicBezTo>
                    <a:pt x="371" y="320"/>
                    <a:pt x="372" y="316"/>
                    <a:pt x="372" y="310"/>
                  </a:cubicBezTo>
                  <a:cubicBezTo>
                    <a:pt x="372" y="301"/>
                    <a:pt x="372" y="301"/>
                    <a:pt x="372" y="301"/>
                  </a:cubicBezTo>
                  <a:cubicBezTo>
                    <a:pt x="372" y="289"/>
                    <a:pt x="368" y="289"/>
                    <a:pt x="354" y="285"/>
                  </a:cubicBezTo>
                  <a:cubicBezTo>
                    <a:pt x="323" y="275"/>
                    <a:pt x="323" y="275"/>
                    <a:pt x="323" y="275"/>
                  </a:cubicBezTo>
                  <a:lnTo>
                    <a:pt x="323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8" name="Freeform 13"/>
            <p:cNvSpPr>
              <a:spLocks noEditPoints="1"/>
            </p:cNvSpPr>
            <p:nvPr userDrawn="1"/>
          </p:nvSpPr>
          <p:spPr bwMode="auto">
            <a:xfrm>
              <a:off x="6140450" y="6348413"/>
              <a:ext cx="195263" cy="217488"/>
            </a:xfrm>
            <a:custGeom>
              <a:avLst/>
              <a:gdLst>
                <a:gd name="T0" fmla="*/ 289 w 307"/>
                <a:gd name="T1" fmla="*/ 295 h 340"/>
                <a:gd name="T2" fmla="*/ 258 w 307"/>
                <a:gd name="T3" fmla="*/ 285 h 340"/>
                <a:gd name="T4" fmla="*/ 258 w 307"/>
                <a:gd name="T5" fmla="*/ 106 h 340"/>
                <a:gd name="T6" fmla="*/ 130 w 307"/>
                <a:gd name="T7" fmla="*/ 0 h 340"/>
                <a:gd name="T8" fmla="*/ 45 w 307"/>
                <a:gd name="T9" fmla="*/ 12 h 340"/>
                <a:gd name="T10" fmla="*/ 22 w 307"/>
                <a:gd name="T11" fmla="*/ 39 h 340"/>
                <a:gd name="T12" fmla="*/ 18 w 307"/>
                <a:gd name="T13" fmla="*/ 74 h 340"/>
                <a:gd name="T14" fmla="*/ 24 w 307"/>
                <a:gd name="T15" fmla="*/ 84 h 340"/>
                <a:gd name="T16" fmla="*/ 43 w 307"/>
                <a:gd name="T17" fmla="*/ 76 h 340"/>
                <a:gd name="T18" fmla="*/ 125 w 307"/>
                <a:gd name="T19" fmla="*/ 54 h 340"/>
                <a:gd name="T20" fmla="*/ 185 w 307"/>
                <a:gd name="T21" fmla="*/ 118 h 340"/>
                <a:gd name="T22" fmla="*/ 185 w 307"/>
                <a:gd name="T23" fmla="*/ 151 h 340"/>
                <a:gd name="T24" fmla="*/ 63 w 307"/>
                <a:gd name="T25" fmla="*/ 176 h 340"/>
                <a:gd name="T26" fmla="*/ 0 w 307"/>
                <a:gd name="T27" fmla="*/ 250 h 340"/>
                <a:gd name="T28" fmla="*/ 83 w 307"/>
                <a:gd name="T29" fmla="*/ 340 h 340"/>
                <a:gd name="T30" fmla="*/ 185 w 307"/>
                <a:gd name="T31" fmla="*/ 290 h 340"/>
                <a:gd name="T32" fmla="*/ 185 w 307"/>
                <a:gd name="T33" fmla="*/ 314 h 340"/>
                <a:gd name="T34" fmla="*/ 200 w 307"/>
                <a:gd name="T35" fmla="*/ 330 h 340"/>
                <a:gd name="T36" fmla="*/ 298 w 307"/>
                <a:gd name="T37" fmla="*/ 330 h 340"/>
                <a:gd name="T38" fmla="*/ 307 w 307"/>
                <a:gd name="T39" fmla="*/ 320 h 340"/>
                <a:gd name="T40" fmla="*/ 307 w 307"/>
                <a:gd name="T41" fmla="*/ 311 h 340"/>
                <a:gd name="T42" fmla="*/ 289 w 307"/>
                <a:gd name="T43" fmla="*/ 295 h 340"/>
                <a:gd name="T44" fmla="*/ 185 w 307"/>
                <a:gd name="T45" fmla="*/ 254 h 340"/>
                <a:gd name="T46" fmla="*/ 116 w 307"/>
                <a:gd name="T47" fmla="*/ 285 h 340"/>
                <a:gd name="T48" fmla="*/ 78 w 307"/>
                <a:gd name="T49" fmla="*/ 244 h 340"/>
                <a:gd name="T50" fmla="*/ 114 w 307"/>
                <a:gd name="T51" fmla="*/ 201 h 340"/>
                <a:gd name="T52" fmla="*/ 185 w 307"/>
                <a:gd name="T53" fmla="*/ 184 h 340"/>
                <a:gd name="T54" fmla="*/ 185 w 307"/>
                <a:gd name="T55" fmla="*/ 254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7" h="340">
                  <a:moveTo>
                    <a:pt x="289" y="295"/>
                  </a:moveTo>
                  <a:cubicBezTo>
                    <a:pt x="258" y="285"/>
                    <a:pt x="258" y="285"/>
                    <a:pt x="258" y="285"/>
                  </a:cubicBezTo>
                  <a:cubicBezTo>
                    <a:pt x="258" y="106"/>
                    <a:pt x="258" y="106"/>
                    <a:pt x="258" y="106"/>
                  </a:cubicBezTo>
                  <a:cubicBezTo>
                    <a:pt x="258" y="27"/>
                    <a:pt x="202" y="0"/>
                    <a:pt x="130" y="0"/>
                  </a:cubicBezTo>
                  <a:cubicBezTo>
                    <a:pt x="87" y="0"/>
                    <a:pt x="52" y="10"/>
                    <a:pt x="45" y="12"/>
                  </a:cubicBezTo>
                  <a:cubicBezTo>
                    <a:pt x="27" y="17"/>
                    <a:pt x="24" y="21"/>
                    <a:pt x="22" y="39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18" y="81"/>
                    <a:pt x="20" y="84"/>
                    <a:pt x="24" y="84"/>
                  </a:cubicBezTo>
                  <a:cubicBezTo>
                    <a:pt x="30" y="84"/>
                    <a:pt x="38" y="79"/>
                    <a:pt x="43" y="76"/>
                  </a:cubicBezTo>
                  <a:cubicBezTo>
                    <a:pt x="65" y="64"/>
                    <a:pt x="98" y="54"/>
                    <a:pt x="125" y="54"/>
                  </a:cubicBezTo>
                  <a:cubicBezTo>
                    <a:pt x="182" y="54"/>
                    <a:pt x="185" y="92"/>
                    <a:pt x="185" y="118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63" y="176"/>
                    <a:pt x="63" y="176"/>
                    <a:pt x="63" y="176"/>
                  </a:cubicBezTo>
                  <a:cubicBezTo>
                    <a:pt x="22" y="184"/>
                    <a:pt x="0" y="203"/>
                    <a:pt x="0" y="250"/>
                  </a:cubicBezTo>
                  <a:cubicBezTo>
                    <a:pt x="0" y="302"/>
                    <a:pt x="27" y="340"/>
                    <a:pt x="83" y="340"/>
                  </a:cubicBezTo>
                  <a:cubicBezTo>
                    <a:pt x="119" y="340"/>
                    <a:pt x="145" y="328"/>
                    <a:pt x="185" y="290"/>
                  </a:cubicBezTo>
                  <a:cubicBezTo>
                    <a:pt x="185" y="314"/>
                    <a:pt x="185" y="314"/>
                    <a:pt x="185" y="314"/>
                  </a:cubicBezTo>
                  <a:cubicBezTo>
                    <a:pt x="185" y="324"/>
                    <a:pt x="188" y="330"/>
                    <a:pt x="200" y="330"/>
                  </a:cubicBezTo>
                  <a:cubicBezTo>
                    <a:pt x="298" y="330"/>
                    <a:pt x="298" y="330"/>
                    <a:pt x="298" y="330"/>
                  </a:cubicBezTo>
                  <a:cubicBezTo>
                    <a:pt x="305" y="330"/>
                    <a:pt x="307" y="326"/>
                    <a:pt x="307" y="320"/>
                  </a:cubicBezTo>
                  <a:cubicBezTo>
                    <a:pt x="307" y="311"/>
                    <a:pt x="307" y="311"/>
                    <a:pt x="307" y="311"/>
                  </a:cubicBezTo>
                  <a:cubicBezTo>
                    <a:pt x="307" y="299"/>
                    <a:pt x="303" y="299"/>
                    <a:pt x="289" y="295"/>
                  </a:cubicBezTo>
                  <a:close/>
                  <a:moveTo>
                    <a:pt x="185" y="254"/>
                  </a:moveTo>
                  <a:cubicBezTo>
                    <a:pt x="160" y="276"/>
                    <a:pt x="135" y="285"/>
                    <a:pt x="116" y="285"/>
                  </a:cubicBezTo>
                  <a:cubicBezTo>
                    <a:pt x="99" y="285"/>
                    <a:pt x="78" y="278"/>
                    <a:pt x="78" y="244"/>
                  </a:cubicBezTo>
                  <a:cubicBezTo>
                    <a:pt x="78" y="211"/>
                    <a:pt x="97" y="205"/>
                    <a:pt x="114" y="201"/>
                  </a:cubicBezTo>
                  <a:cubicBezTo>
                    <a:pt x="185" y="184"/>
                    <a:pt x="185" y="184"/>
                    <a:pt x="185" y="184"/>
                  </a:cubicBezTo>
                  <a:cubicBezTo>
                    <a:pt x="185" y="254"/>
                    <a:pt x="185" y="254"/>
                    <a:pt x="185" y="2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9" name="Freeform 14"/>
            <p:cNvSpPr>
              <a:spLocks noEditPoints="1"/>
            </p:cNvSpPr>
            <p:nvPr userDrawn="1"/>
          </p:nvSpPr>
          <p:spPr bwMode="auto">
            <a:xfrm>
              <a:off x="6565900" y="6264275"/>
              <a:ext cx="222250" cy="301625"/>
            </a:xfrm>
            <a:custGeom>
              <a:avLst/>
              <a:gdLst>
                <a:gd name="T0" fmla="*/ 226 w 349"/>
                <a:gd name="T1" fmla="*/ 133 h 473"/>
                <a:gd name="T2" fmla="*/ 122 w 349"/>
                <a:gd name="T3" fmla="*/ 185 h 473"/>
                <a:gd name="T4" fmla="*/ 122 w 349"/>
                <a:gd name="T5" fmla="*/ 16 h 473"/>
                <a:gd name="T6" fmla="*/ 107 w 349"/>
                <a:gd name="T7" fmla="*/ 0 h 473"/>
                <a:gd name="T8" fmla="*/ 9 w 349"/>
                <a:gd name="T9" fmla="*/ 0 h 473"/>
                <a:gd name="T10" fmla="*/ 0 w 349"/>
                <a:gd name="T11" fmla="*/ 11 h 473"/>
                <a:gd name="T12" fmla="*/ 0 w 349"/>
                <a:gd name="T13" fmla="*/ 19 h 473"/>
                <a:gd name="T14" fmla="*/ 18 w 349"/>
                <a:gd name="T15" fmla="*/ 36 h 473"/>
                <a:gd name="T16" fmla="*/ 49 w 349"/>
                <a:gd name="T17" fmla="*/ 45 h 473"/>
                <a:gd name="T18" fmla="*/ 49 w 349"/>
                <a:gd name="T19" fmla="*/ 422 h 473"/>
                <a:gd name="T20" fmla="*/ 62 w 349"/>
                <a:gd name="T21" fmla="*/ 445 h 473"/>
                <a:gd name="T22" fmla="*/ 182 w 349"/>
                <a:gd name="T23" fmla="*/ 473 h 473"/>
                <a:gd name="T24" fmla="*/ 349 w 349"/>
                <a:gd name="T25" fmla="*/ 291 h 473"/>
                <a:gd name="T26" fmla="*/ 226 w 349"/>
                <a:gd name="T27" fmla="*/ 133 h 473"/>
                <a:gd name="T28" fmla="*/ 181 w 349"/>
                <a:gd name="T29" fmla="*/ 430 h 473"/>
                <a:gd name="T30" fmla="*/ 122 w 349"/>
                <a:gd name="T31" fmla="*/ 337 h 473"/>
                <a:gd name="T32" fmla="*/ 122 w 349"/>
                <a:gd name="T33" fmla="*/ 227 h 473"/>
                <a:gd name="T34" fmla="*/ 196 w 349"/>
                <a:gd name="T35" fmla="*/ 188 h 473"/>
                <a:gd name="T36" fmla="*/ 271 w 349"/>
                <a:gd name="T37" fmla="*/ 305 h 473"/>
                <a:gd name="T38" fmla="*/ 181 w 349"/>
                <a:gd name="T39" fmla="*/ 43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49" h="473">
                  <a:moveTo>
                    <a:pt x="226" y="133"/>
                  </a:moveTo>
                  <a:cubicBezTo>
                    <a:pt x="188" y="133"/>
                    <a:pt x="154" y="153"/>
                    <a:pt x="122" y="185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22" y="6"/>
                    <a:pt x="119" y="0"/>
                    <a:pt x="107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" y="0"/>
                    <a:pt x="0" y="4"/>
                    <a:pt x="0" y="1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31"/>
                    <a:pt x="4" y="32"/>
                    <a:pt x="18" y="36"/>
                  </a:cubicBezTo>
                  <a:cubicBezTo>
                    <a:pt x="49" y="45"/>
                    <a:pt x="49" y="45"/>
                    <a:pt x="49" y="45"/>
                  </a:cubicBezTo>
                  <a:cubicBezTo>
                    <a:pt x="49" y="422"/>
                    <a:pt x="49" y="422"/>
                    <a:pt x="49" y="422"/>
                  </a:cubicBezTo>
                  <a:cubicBezTo>
                    <a:pt x="49" y="431"/>
                    <a:pt x="50" y="438"/>
                    <a:pt x="62" y="445"/>
                  </a:cubicBezTo>
                  <a:cubicBezTo>
                    <a:pt x="83" y="458"/>
                    <a:pt x="135" y="473"/>
                    <a:pt x="182" y="473"/>
                  </a:cubicBezTo>
                  <a:cubicBezTo>
                    <a:pt x="287" y="473"/>
                    <a:pt x="349" y="399"/>
                    <a:pt x="349" y="291"/>
                  </a:cubicBezTo>
                  <a:cubicBezTo>
                    <a:pt x="349" y="182"/>
                    <a:pt x="287" y="133"/>
                    <a:pt x="226" y="133"/>
                  </a:cubicBezTo>
                  <a:close/>
                  <a:moveTo>
                    <a:pt x="181" y="430"/>
                  </a:moveTo>
                  <a:cubicBezTo>
                    <a:pt x="131" y="430"/>
                    <a:pt x="122" y="385"/>
                    <a:pt x="122" y="337"/>
                  </a:cubicBezTo>
                  <a:cubicBezTo>
                    <a:pt x="122" y="227"/>
                    <a:pt x="122" y="227"/>
                    <a:pt x="122" y="227"/>
                  </a:cubicBezTo>
                  <a:cubicBezTo>
                    <a:pt x="143" y="205"/>
                    <a:pt x="168" y="188"/>
                    <a:pt x="196" y="188"/>
                  </a:cubicBezTo>
                  <a:cubicBezTo>
                    <a:pt x="249" y="188"/>
                    <a:pt x="271" y="244"/>
                    <a:pt x="271" y="305"/>
                  </a:cubicBezTo>
                  <a:cubicBezTo>
                    <a:pt x="271" y="390"/>
                    <a:pt x="229" y="430"/>
                    <a:pt x="181" y="4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0" name="Freeform 15"/>
            <p:cNvSpPr>
              <a:spLocks noEditPoints="1"/>
            </p:cNvSpPr>
            <p:nvPr userDrawn="1"/>
          </p:nvSpPr>
          <p:spPr bwMode="auto">
            <a:xfrm>
              <a:off x="7283450" y="6264275"/>
              <a:ext cx="222250" cy="301625"/>
            </a:xfrm>
            <a:custGeom>
              <a:avLst/>
              <a:gdLst>
                <a:gd name="T0" fmla="*/ 331 w 349"/>
                <a:gd name="T1" fmla="*/ 428 h 473"/>
                <a:gd name="T2" fmla="*/ 300 w 349"/>
                <a:gd name="T3" fmla="*/ 418 h 473"/>
                <a:gd name="T4" fmla="*/ 300 w 349"/>
                <a:gd name="T5" fmla="*/ 16 h 473"/>
                <a:gd name="T6" fmla="*/ 285 w 349"/>
                <a:gd name="T7" fmla="*/ 0 h 473"/>
                <a:gd name="T8" fmla="*/ 187 w 349"/>
                <a:gd name="T9" fmla="*/ 0 h 473"/>
                <a:gd name="T10" fmla="*/ 178 w 349"/>
                <a:gd name="T11" fmla="*/ 11 h 473"/>
                <a:gd name="T12" fmla="*/ 178 w 349"/>
                <a:gd name="T13" fmla="*/ 19 h 473"/>
                <a:gd name="T14" fmla="*/ 196 w 349"/>
                <a:gd name="T15" fmla="*/ 36 h 473"/>
                <a:gd name="T16" fmla="*/ 227 w 349"/>
                <a:gd name="T17" fmla="*/ 45 h 473"/>
                <a:gd name="T18" fmla="*/ 227 w 349"/>
                <a:gd name="T19" fmla="*/ 158 h 473"/>
                <a:gd name="T20" fmla="*/ 153 w 349"/>
                <a:gd name="T21" fmla="*/ 133 h 473"/>
                <a:gd name="T22" fmla="*/ 0 w 349"/>
                <a:gd name="T23" fmla="*/ 313 h 473"/>
                <a:gd name="T24" fmla="*/ 123 w 349"/>
                <a:gd name="T25" fmla="*/ 473 h 473"/>
                <a:gd name="T26" fmla="*/ 227 w 349"/>
                <a:gd name="T27" fmla="*/ 420 h 473"/>
                <a:gd name="T28" fmla="*/ 227 w 349"/>
                <a:gd name="T29" fmla="*/ 447 h 473"/>
                <a:gd name="T30" fmla="*/ 242 w 349"/>
                <a:gd name="T31" fmla="*/ 463 h 473"/>
                <a:gd name="T32" fmla="*/ 340 w 349"/>
                <a:gd name="T33" fmla="*/ 463 h 473"/>
                <a:gd name="T34" fmla="*/ 349 w 349"/>
                <a:gd name="T35" fmla="*/ 453 h 473"/>
                <a:gd name="T36" fmla="*/ 349 w 349"/>
                <a:gd name="T37" fmla="*/ 444 h 473"/>
                <a:gd name="T38" fmla="*/ 331 w 349"/>
                <a:gd name="T39" fmla="*/ 428 h 473"/>
                <a:gd name="T40" fmla="*/ 227 w 349"/>
                <a:gd name="T41" fmla="*/ 379 h 473"/>
                <a:gd name="T42" fmla="*/ 153 w 349"/>
                <a:gd name="T43" fmla="*/ 418 h 473"/>
                <a:gd name="T44" fmla="*/ 78 w 349"/>
                <a:gd name="T45" fmla="*/ 299 h 473"/>
                <a:gd name="T46" fmla="*/ 158 w 349"/>
                <a:gd name="T47" fmla="*/ 179 h 473"/>
                <a:gd name="T48" fmla="*/ 227 w 349"/>
                <a:gd name="T49" fmla="*/ 299 h 473"/>
                <a:gd name="T50" fmla="*/ 227 w 349"/>
                <a:gd name="T51" fmla="*/ 379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49" h="473">
                  <a:moveTo>
                    <a:pt x="331" y="428"/>
                  </a:moveTo>
                  <a:cubicBezTo>
                    <a:pt x="300" y="418"/>
                    <a:pt x="300" y="418"/>
                    <a:pt x="300" y="418"/>
                  </a:cubicBezTo>
                  <a:cubicBezTo>
                    <a:pt x="300" y="16"/>
                    <a:pt x="300" y="16"/>
                    <a:pt x="300" y="16"/>
                  </a:cubicBezTo>
                  <a:cubicBezTo>
                    <a:pt x="300" y="6"/>
                    <a:pt x="297" y="0"/>
                    <a:pt x="285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79" y="0"/>
                    <a:pt x="178" y="4"/>
                    <a:pt x="178" y="11"/>
                  </a:cubicBezTo>
                  <a:cubicBezTo>
                    <a:pt x="178" y="19"/>
                    <a:pt x="178" y="19"/>
                    <a:pt x="178" y="19"/>
                  </a:cubicBezTo>
                  <a:cubicBezTo>
                    <a:pt x="178" y="31"/>
                    <a:pt x="182" y="32"/>
                    <a:pt x="196" y="36"/>
                  </a:cubicBezTo>
                  <a:cubicBezTo>
                    <a:pt x="227" y="45"/>
                    <a:pt x="227" y="45"/>
                    <a:pt x="227" y="45"/>
                  </a:cubicBezTo>
                  <a:cubicBezTo>
                    <a:pt x="227" y="158"/>
                    <a:pt x="227" y="158"/>
                    <a:pt x="227" y="158"/>
                  </a:cubicBezTo>
                  <a:cubicBezTo>
                    <a:pt x="216" y="148"/>
                    <a:pt x="191" y="133"/>
                    <a:pt x="153" y="133"/>
                  </a:cubicBezTo>
                  <a:cubicBezTo>
                    <a:pt x="82" y="133"/>
                    <a:pt x="0" y="185"/>
                    <a:pt x="0" y="313"/>
                  </a:cubicBezTo>
                  <a:cubicBezTo>
                    <a:pt x="0" y="425"/>
                    <a:pt x="62" y="473"/>
                    <a:pt x="123" y="473"/>
                  </a:cubicBezTo>
                  <a:cubicBezTo>
                    <a:pt x="162" y="473"/>
                    <a:pt x="195" y="453"/>
                    <a:pt x="227" y="420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57"/>
                    <a:pt x="230" y="463"/>
                    <a:pt x="242" y="463"/>
                  </a:cubicBezTo>
                  <a:cubicBezTo>
                    <a:pt x="340" y="463"/>
                    <a:pt x="340" y="463"/>
                    <a:pt x="340" y="463"/>
                  </a:cubicBezTo>
                  <a:cubicBezTo>
                    <a:pt x="347" y="463"/>
                    <a:pt x="349" y="459"/>
                    <a:pt x="349" y="453"/>
                  </a:cubicBezTo>
                  <a:cubicBezTo>
                    <a:pt x="349" y="444"/>
                    <a:pt x="349" y="444"/>
                    <a:pt x="349" y="444"/>
                  </a:cubicBezTo>
                  <a:cubicBezTo>
                    <a:pt x="349" y="432"/>
                    <a:pt x="345" y="432"/>
                    <a:pt x="331" y="428"/>
                  </a:cubicBezTo>
                  <a:close/>
                  <a:moveTo>
                    <a:pt x="227" y="379"/>
                  </a:moveTo>
                  <a:cubicBezTo>
                    <a:pt x="206" y="401"/>
                    <a:pt x="182" y="418"/>
                    <a:pt x="153" y="418"/>
                  </a:cubicBezTo>
                  <a:cubicBezTo>
                    <a:pt x="100" y="418"/>
                    <a:pt x="78" y="362"/>
                    <a:pt x="78" y="299"/>
                  </a:cubicBezTo>
                  <a:cubicBezTo>
                    <a:pt x="78" y="225"/>
                    <a:pt x="110" y="179"/>
                    <a:pt x="158" y="179"/>
                  </a:cubicBezTo>
                  <a:cubicBezTo>
                    <a:pt x="209" y="179"/>
                    <a:pt x="227" y="229"/>
                    <a:pt x="227" y="299"/>
                  </a:cubicBezTo>
                  <a:lnTo>
                    <a:pt x="227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1" name="Freeform 16"/>
            <p:cNvSpPr>
              <a:spLocks noEditPoints="1"/>
            </p:cNvSpPr>
            <p:nvPr userDrawn="1"/>
          </p:nvSpPr>
          <p:spPr bwMode="auto">
            <a:xfrm>
              <a:off x="6816725" y="6348413"/>
              <a:ext cx="204788" cy="217488"/>
            </a:xfrm>
            <a:custGeom>
              <a:avLst/>
              <a:gdLst>
                <a:gd name="T0" fmla="*/ 168 w 322"/>
                <a:gd name="T1" fmla="*/ 0 h 340"/>
                <a:gd name="T2" fmla="*/ 0 w 322"/>
                <a:gd name="T3" fmla="*/ 178 h 340"/>
                <a:gd name="T4" fmla="*/ 154 w 322"/>
                <a:gd name="T5" fmla="*/ 340 h 340"/>
                <a:gd name="T6" fmla="*/ 322 w 322"/>
                <a:gd name="T7" fmla="*/ 162 h 340"/>
                <a:gd name="T8" fmla="*/ 168 w 322"/>
                <a:gd name="T9" fmla="*/ 0 h 340"/>
                <a:gd name="T10" fmla="*/ 162 w 322"/>
                <a:gd name="T11" fmla="*/ 294 h 340"/>
                <a:gd name="T12" fmla="*/ 76 w 322"/>
                <a:gd name="T13" fmla="*/ 170 h 340"/>
                <a:gd name="T14" fmla="*/ 162 w 322"/>
                <a:gd name="T15" fmla="*/ 46 h 340"/>
                <a:gd name="T16" fmla="*/ 248 w 322"/>
                <a:gd name="T17" fmla="*/ 170 h 340"/>
                <a:gd name="T18" fmla="*/ 162 w 322"/>
                <a:gd name="T19" fmla="*/ 294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2" h="340">
                  <a:moveTo>
                    <a:pt x="168" y="0"/>
                  </a:moveTo>
                  <a:cubicBezTo>
                    <a:pt x="56" y="0"/>
                    <a:pt x="0" y="86"/>
                    <a:pt x="0" y="178"/>
                  </a:cubicBezTo>
                  <a:cubicBezTo>
                    <a:pt x="0" y="264"/>
                    <a:pt x="48" y="340"/>
                    <a:pt x="154" y="340"/>
                  </a:cubicBezTo>
                  <a:cubicBezTo>
                    <a:pt x="266" y="340"/>
                    <a:pt x="322" y="254"/>
                    <a:pt x="322" y="162"/>
                  </a:cubicBezTo>
                  <a:cubicBezTo>
                    <a:pt x="322" y="76"/>
                    <a:pt x="273" y="0"/>
                    <a:pt x="168" y="0"/>
                  </a:cubicBezTo>
                  <a:close/>
                  <a:moveTo>
                    <a:pt x="162" y="294"/>
                  </a:moveTo>
                  <a:cubicBezTo>
                    <a:pt x="108" y="294"/>
                    <a:pt x="76" y="241"/>
                    <a:pt x="76" y="170"/>
                  </a:cubicBezTo>
                  <a:cubicBezTo>
                    <a:pt x="76" y="100"/>
                    <a:pt x="107" y="46"/>
                    <a:pt x="162" y="46"/>
                  </a:cubicBezTo>
                  <a:cubicBezTo>
                    <a:pt x="215" y="46"/>
                    <a:pt x="248" y="98"/>
                    <a:pt x="248" y="170"/>
                  </a:cubicBezTo>
                  <a:cubicBezTo>
                    <a:pt x="248" y="240"/>
                    <a:pt x="216" y="294"/>
                    <a:pt x="162" y="2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8139113" y="6348413"/>
              <a:ext cx="155575" cy="217488"/>
            </a:xfrm>
            <a:custGeom>
              <a:avLst/>
              <a:gdLst>
                <a:gd name="T0" fmla="*/ 247 w 247"/>
                <a:gd name="T1" fmla="*/ 22 h 340"/>
                <a:gd name="T2" fmla="*/ 238 w 247"/>
                <a:gd name="T3" fmla="*/ 11 h 340"/>
                <a:gd name="T4" fmla="*/ 165 w 247"/>
                <a:gd name="T5" fmla="*/ 0 h 340"/>
                <a:gd name="T6" fmla="*/ 0 w 247"/>
                <a:gd name="T7" fmla="*/ 170 h 340"/>
                <a:gd name="T8" fmla="*/ 165 w 247"/>
                <a:gd name="T9" fmla="*/ 340 h 340"/>
                <a:gd name="T10" fmla="*/ 238 w 247"/>
                <a:gd name="T11" fmla="*/ 329 h 340"/>
                <a:gd name="T12" fmla="*/ 247 w 247"/>
                <a:gd name="T13" fmla="*/ 318 h 340"/>
                <a:gd name="T14" fmla="*/ 247 w 247"/>
                <a:gd name="T15" fmla="*/ 269 h 340"/>
                <a:gd name="T16" fmla="*/ 243 w 247"/>
                <a:gd name="T17" fmla="*/ 262 h 340"/>
                <a:gd name="T18" fmla="*/ 231 w 247"/>
                <a:gd name="T19" fmla="*/ 266 h 340"/>
                <a:gd name="T20" fmla="*/ 169 w 247"/>
                <a:gd name="T21" fmla="*/ 281 h 340"/>
                <a:gd name="T22" fmla="*/ 71 w 247"/>
                <a:gd name="T23" fmla="*/ 170 h 340"/>
                <a:gd name="T24" fmla="*/ 169 w 247"/>
                <a:gd name="T25" fmla="*/ 59 h 340"/>
                <a:gd name="T26" fmla="*/ 231 w 247"/>
                <a:gd name="T27" fmla="*/ 74 h 340"/>
                <a:gd name="T28" fmla="*/ 243 w 247"/>
                <a:gd name="T29" fmla="*/ 78 h 340"/>
                <a:gd name="T30" fmla="*/ 247 w 247"/>
                <a:gd name="T31" fmla="*/ 71 h 340"/>
                <a:gd name="T32" fmla="*/ 247 w 247"/>
                <a:gd name="T33" fmla="*/ 22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7" h="340">
                  <a:moveTo>
                    <a:pt x="247" y="22"/>
                  </a:moveTo>
                  <a:cubicBezTo>
                    <a:pt x="247" y="14"/>
                    <a:pt x="245" y="14"/>
                    <a:pt x="238" y="11"/>
                  </a:cubicBezTo>
                  <a:cubicBezTo>
                    <a:pt x="222" y="5"/>
                    <a:pt x="194" y="0"/>
                    <a:pt x="165" y="0"/>
                  </a:cubicBezTo>
                  <a:cubicBezTo>
                    <a:pt x="34" y="0"/>
                    <a:pt x="0" y="92"/>
                    <a:pt x="0" y="170"/>
                  </a:cubicBezTo>
                  <a:cubicBezTo>
                    <a:pt x="0" y="249"/>
                    <a:pt x="33" y="340"/>
                    <a:pt x="165" y="340"/>
                  </a:cubicBezTo>
                  <a:cubicBezTo>
                    <a:pt x="194" y="340"/>
                    <a:pt x="222" y="335"/>
                    <a:pt x="238" y="329"/>
                  </a:cubicBezTo>
                  <a:cubicBezTo>
                    <a:pt x="245" y="326"/>
                    <a:pt x="247" y="326"/>
                    <a:pt x="247" y="318"/>
                  </a:cubicBezTo>
                  <a:cubicBezTo>
                    <a:pt x="247" y="269"/>
                    <a:pt x="247" y="269"/>
                    <a:pt x="247" y="269"/>
                  </a:cubicBezTo>
                  <a:cubicBezTo>
                    <a:pt x="247" y="264"/>
                    <a:pt x="246" y="262"/>
                    <a:pt x="243" y="262"/>
                  </a:cubicBezTo>
                  <a:cubicBezTo>
                    <a:pt x="241" y="262"/>
                    <a:pt x="237" y="264"/>
                    <a:pt x="231" y="266"/>
                  </a:cubicBezTo>
                  <a:cubicBezTo>
                    <a:pt x="221" y="271"/>
                    <a:pt x="199" y="281"/>
                    <a:pt x="169" y="281"/>
                  </a:cubicBezTo>
                  <a:cubicBezTo>
                    <a:pt x="108" y="281"/>
                    <a:pt x="71" y="244"/>
                    <a:pt x="71" y="170"/>
                  </a:cubicBezTo>
                  <a:cubicBezTo>
                    <a:pt x="71" y="95"/>
                    <a:pt x="108" y="59"/>
                    <a:pt x="169" y="59"/>
                  </a:cubicBezTo>
                  <a:cubicBezTo>
                    <a:pt x="199" y="59"/>
                    <a:pt x="221" y="69"/>
                    <a:pt x="231" y="74"/>
                  </a:cubicBezTo>
                  <a:cubicBezTo>
                    <a:pt x="237" y="76"/>
                    <a:pt x="241" y="78"/>
                    <a:pt x="243" y="78"/>
                  </a:cubicBezTo>
                  <a:cubicBezTo>
                    <a:pt x="246" y="78"/>
                    <a:pt x="247" y="76"/>
                    <a:pt x="247" y="71"/>
                  </a:cubicBezTo>
                  <a:lnTo>
                    <a:pt x="247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7542213" y="6354763"/>
              <a:ext cx="200025" cy="211138"/>
            </a:xfrm>
            <a:custGeom>
              <a:avLst/>
              <a:gdLst>
                <a:gd name="T0" fmla="*/ 9 w 317"/>
                <a:gd name="T1" fmla="*/ 0 h 330"/>
                <a:gd name="T2" fmla="*/ 0 w 317"/>
                <a:gd name="T3" fmla="*/ 10 h 330"/>
                <a:gd name="T4" fmla="*/ 0 w 317"/>
                <a:gd name="T5" fmla="*/ 19 h 330"/>
                <a:gd name="T6" fmla="*/ 18 w 317"/>
                <a:gd name="T7" fmla="*/ 35 h 330"/>
                <a:gd name="T8" fmla="*/ 49 w 317"/>
                <a:gd name="T9" fmla="*/ 44 h 330"/>
                <a:gd name="T10" fmla="*/ 49 w 317"/>
                <a:gd name="T11" fmla="*/ 193 h 330"/>
                <a:gd name="T12" fmla="*/ 152 w 317"/>
                <a:gd name="T13" fmla="*/ 330 h 330"/>
                <a:gd name="T14" fmla="*/ 247 w 317"/>
                <a:gd name="T15" fmla="*/ 280 h 330"/>
                <a:gd name="T16" fmla="*/ 249 w 317"/>
                <a:gd name="T17" fmla="*/ 280 h 330"/>
                <a:gd name="T18" fmla="*/ 249 w 317"/>
                <a:gd name="T19" fmla="*/ 312 h 330"/>
                <a:gd name="T20" fmla="*/ 257 w 317"/>
                <a:gd name="T21" fmla="*/ 320 h 330"/>
                <a:gd name="T22" fmla="*/ 309 w 317"/>
                <a:gd name="T23" fmla="*/ 320 h 330"/>
                <a:gd name="T24" fmla="*/ 317 w 317"/>
                <a:gd name="T25" fmla="*/ 312 h 330"/>
                <a:gd name="T26" fmla="*/ 317 w 317"/>
                <a:gd name="T27" fmla="*/ 8 h 330"/>
                <a:gd name="T28" fmla="*/ 309 w 317"/>
                <a:gd name="T29" fmla="*/ 0 h 330"/>
                <a:gd name="T30" fmla="*/ 255 w 317"/>
                <a:gd name="T31" fmla="*/ 0 h 330"/>
                <a:gd name="T32" fmla="*/ 247 w 317"/>
                <a:gd name="T33" fmla="*/ 8 h 330"/>
                <a:gd name="T34" fmla="*/ 247 w 317"/>
                <a:gd name="T35" fmla="*/ 226 h 330"/>
                <a:gd name="T36" fmla="*/ 173 w 317"/>
                <a:gd name="T37" fmla="*/ 268 h 330"/>
                <a:gd name="T38" fmla="*/ 119 w 317"/>
                <a:gd name="T39" fmla="*/ 173 h 330"/>
                <a:gd name="T40" fmla="*/ 119 w 317"/>
                <a:gd name="T41" fmla="*/ 8 h 330"/>
                <a:gd name="T42" fmla="*/ 111 w 317"/>
                <a:gd name="T43" fmla="*/ 0 h 330"/>
                <a:gd name="T44" fmla="*/ 9 w 317"/>
                <a:gd name="T45" fmla="*/ 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7" h="330">
                  <a:moveTo>
                    <a:pt x="9" y="0"/>
                  </a:moveTo>
                  <a:cubicBezTo>
                    <a:pt x="1" y="0"/>
                    <a:pt x="0" y="4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31"/>
                    <a:pt x="4" y="31"/>
                    <a:pt x="18" y="35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49" y="193"/>
                    <a:pt x="49" y="193"/>
                    <a:pt x="49" y="193"/>
                  </a:cubicBezTo>
                  <a:cubicBezTo>
                    <a:pt x="49" y="306"/>
                    <a:pt x="99" y="330"/>
                    <a:pt x="152" y="330"/>
                  </a:cubicBezTo>
                  <a:cubicBezTo>
                    <a:pt x="194" y="330"/>
                    <a:pt x="221" y="314"/>
                    <a:pt x="247" y="280"/>
                  </a:cubicBezTo>
                  <a:cubicBezTo>
                    <a:pt x="249" y="280"/>
                    <a:pt x="249" y="280"/>
                    <a:pt x="249" y="280"/>
                  </a:cubicBezTo>
                  <a:cubicBezTo>
                    <a:pt x="249" y="312"/>
                    <a:pt x="249" y="312"/>
                    <a:pt x="249" y="312"/>
                  </a:cubicBezTo>
                  <a:cubicBezTo>
                    <a:pt x="249" y="318"/>
                    <a:pt x="251" y="320"/>
                    <a:pt x="257" y="320"/>
                  </a:cubicBezTo>
                  <a:cubicBezTo>
                    <a:pt x="309" y="320"/>
                    <a:pt x="309" y="320"/>
                    <a:pt x="309" y="320"/>
                  </a:cubicBezTo>
                  <a:cubicBezTo>
                    <a:pt x="315" y="320"/>
                    <a:pt x="317" y="318"/>
                    <a:pt x="317" y="312"/>
                  </a:cubicBezTo>
                  <a:cubicBezTo>
                    <a:pt x="317" y="8"/>
                    <a:pt x="317" y="8"/>
                    <a:pt x="317" y="8"/>
                  </a:cubicBezTo>
                  <a:cubicBezTo>
                    <a:pt x="317" y="2"/>
                    <a:pt x="315" y="0"/>
                    <a:pt x="309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249" y="0"/>
                    <a:pt x="247" y="2"/>
                    <a:pt x="247" y="8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27" y="255"/>
                    <a:pt x="202" y="268"/>
                    <a:pt x="173" y="268"/>
                  </a:cubicBezTo>
                  <a:cubicBezTo>
                    <a:pt x="122" y="268"/>
                    <a:pt x="119" y="231"/>
                    <a:pt x="119" y="173"/>
                  </a:cubicBezTo>
                  <a:cubicBezTo>
                    <a:pt x="119" y="8"/>
                    <a:pt x="119" y="8"/>
                    <a:pt x="119" y="8"/>
                  </a:cubicBezTo>
                  <a:cubicBezTo>
                    <a:pt x="119" y="2"/>
                    <a:pt x="116" y="0"/>
                    <a:pt x="111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7799388" y="6348413"/>
              <a:ext cx="295275" cy="211138"/>
            </a:xfrm>
            <a:custGeom>
              <a:avLst/>
              <a:gdLst>
                <a:gd name="T0" fmla="*/ 0 w 467"/>
                <a:gd name="T1" fmla="*/ 322 h 330"/>
                <a:gd name="T2" fmla="*/ 8 w 467"/>
                <a:gd name="T3" fmla="*/ 330 h 330"/>
                <a:gd name="T4" fmla="*/ 62 w 467"/>
                <a:gd name="T5" fmla="*/ 330 h 330"/>
                <a:gd name="T6" fmla="*/ 70 w 467"/>
                <a:gd name="T7" fmla="*/ 322 h 330"/>
                <a:gd name="T8" fmla="*/ 70 w 467"/>
                <a:gd name="T9" fmla="*/ 104 h 330"/>
                <a:gd name="T10" fmla="*/ 145 w 467"/>
                <a:gd name="T11" fmla="*/ 62 h 330"/>
                <a:gd name="T12" fmla="*/ 198 w 467"/>
                <a:gd name="T13" fmla="*/ 157 h 330"/>
                <a:gd name="T14" fmla="*/ 198 w 467"/>
                <a:gd name="T15" fmla="*/ 322 h 330"/>
                <a:gd name="T16" fmla="*/ 206 w 467"/>
                <a:gd name="T17" fmla="*/ 330 h 330"/>
                <a:gd name="T18" fmla="*/ 261 w 467"/>
                <a:gd name="T19" fmla="*/ 330 h 330"/>
                <a:gd name="T20" fmla="*/ 268 w 467"/>
                <a:gd name="T21" fmla="*/ 322 h 330"/>
                <a:gd name="T22" fmla="*/ 268 w 467"/>
                <a:gd name="T23" fmla="*/ 104 h 330"/>
                <a:gd name="T24" fmla="*/ 343 w 467"/>
                <a:gd name="T25" fmla="*/ 62 h 330"/>
                <a:gd name="T26" fmla="*/ 397 w 467"/>
                <a:gd name="T27" fmla="*/ 157 h 330"/>
                <a:gd name="T28" fmla="*/ 397 w 467"/>
                <a:gd name="T29" fmla="*/ 322 h 330"/>
                <a:gd name="T30" fmla="*/ 405 w 467"/>
                <a:gd name="T31" fmla="*/ 330 h 330"/>
                <a:gd name="T32" fmla="*/ 459 w 467"/>
                <a:gd name="T33" fmla="*/ 330 h 330"/>
                <a:gd name="T34" fmla="*/ 467 w 467"/>
                <a:gd name="T35" fmla="*/ 322 h 330"/>
                <a:gd name="T36" fmla="*/ 467 w 467"/>
                <a:gd name="T37" fmla="*/ 137 h 330"/>
                <a:gd name="T38" fmla="*/ 363 w 467"/>
                <a:gd name="T39" fmla="*/ 0 h 330"/>
                <a:gd name="T40" fmla="*/ 253 w 467"/>
                <a:gd name="T41" fmla="*/ 54 h 330"/>
                <a:gd name="T42" fmla="*/ 165 w 467"/>
                <a:gd name="T43" fmla="*/ 0 h 330"/>
                <a:gd name="T44" fmla="*/ 70 w 467"/>
                <a:gd name="T45" fmla="*/ 50 h 330"/>
                <a:gd name="T46" fmla="*/ 68 w 467"/>
                <a:gd name="T47" fmla="*/ 50 h 330"/>
                <a:gd name="T48" fmla="*/ 68 w 467"/>
                <a:gd name="T49" fmla="*/ 18 h 330"/>
                <a:gd name="T50" fmla="*/ 60 w 467"/>
                <a:gd name="T51" fmla="*/ 10 h 330"/>
                <a:gd name="T52" fmla="*/ 8 w 467"/>
                <a:gd name="T53" fmla="*/ 10 h 330"/>
                <a:gd name="T54" fmla="*/ 0 w 467"/>
                <a:gd name="T55" fmla="*/ 18 h 330"/>
                <a:gd name="T56" fmla="*/ 0 w 467"/>
                <a:gd name="T57" fmla="*/ 322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7" h="330">
                  <a:moveTo>
                    <a:pt x="0" y="322"/>
                  </a:moveTo>
                  <a:cubicBezTo>
                    <a:pt x="0" y="328"/>
                    <a:pt x="2" y="330"/>
                    <a:pt x="8" y="330"/>
                  </a:cubicBezTo>
                  <a:cubicBezTo>
                    <a:pt x="62" y="330"/>
                    <a:pt x="62" y="330"/>
                    <a:pt x="62" y="330"/>
                  </a:cubicBezTo>
                  <a:cubicBezTo>
                    <a:pt x="68" y="330"/>
                    <a:pt x="70" y="328"/>
                    <a:pt x="70" y="322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91" y="75"/>
                    <a:pt x="115" y="62"/>
                    <a:pt x="145" y="62"/>
                  </a:cubicBezTo>
                  <a:cubicBezTo>
                    <a:pt x="196" y="62"/>
                    <a:pt x="198" y="99"/>
                    <a:pt x="198" y="157"/>
                  </a:cubicBezTo>
                  <a:cubicBezTo>
                    <a:pt x="198" y="322"/>
                    <a:pt x="198" y="322"/>
                    <a:pt x="198" y="322"/>
                  </a:cubicBezTo>
                  <a:cubicBezTo>
                    <a:pt x="198" y="328"/>
                    <a:pt x="200" y="330"/>
                    <a:pt x="206" y="330"/>
                  </a:cubicBezTo>
                  <a:cubicBezTo>
                    <a:pt x="261" y="330"/>
                    <a:pt x="261" y="330"/>
                    <a:pt x="261" y="330"/>
                  </a:cubicBezTo>
                  <a:cubicBezTo>
                    <a:pt x="267" y="330"/>
                    <a:pt x="268" y="328"/>
                    <a:pt x="268" y="322"/>
                  </a:cubicBezTo>
                  <a:cubicBezTo>
                    <a:pt x="268" y="104"/>
                    <a:pt x="268" y="104"/>
                    <a:pt x="268" y="104"/>
                  </a:cubicBezTo>
                  <a:cubicBezTo>
                    <a:pt x="289" y="75"/>
                    <a:pt x="313" y="62"/>
                    <a:pt x="343" y="62"/>
                  </a:cubicBezTo>
                  <a:cubicBezTo>
                    <a:pt x="394" y="62"/>
                    <a:pt x="397" y="99"/>
                    <a:pt x="397" y="157"/>
                  </a:cubicBezTo>
                  <a:cubicBezTo>
                    <a:pt x="397" y="322"/>
                    <a:pt x="397" y="322"/>
                    <a:pt x="397" y="322"/>
                  </a:cubicBezTo>
                  <a:cubicBezTo>
                    <a:pt x="397" y="328"/>
                    <a:pt x="399" y="330"/>
                    <a:pt x="405" y="330"/>
                  </a:cubicBezTo>
                  <a:cubicBezTo>
                    <a:pt x="459" y="330"/>
                    <a:pt x="459" y="330"/>
                    <a:pt x="459" y="330"/>
                  </a:cubicBezTo>
                  <a:cubicBezTo>
                    <a:pt x="465" y="330"/>
                    <a:pt x="467" y="328"/>
                    <a:pt x="467" y="322"/>
                  </a:cubicBezTo>
                  <a:cubicBezTo>
                    <a:pt x="467" y="137"/>
                    <a:pt x="467" y="137"/>
                    <a:pt x="467" y="137"/>
                  </a:cubicBezTo>
                  <a:cubicBezTo>
                    <a:pt x="467" y="23"/>
                    <a:pt x="417" y="0"/>
                    <a:pt x="363" y="0"/>
                  </a:cubicBezTo>
                  <a:cubicBezTo>
                    <a:pt x="316" y="0"/>
                    <a:pt x="283" y="18"/>
                    <a:pt x="253" y="54"/>
                  </a:cubicBezTo>
                  <a:cubicBezTo>
                    <a:pt x="235" y="12"/>
                    <a:pt x="201" y="0"/>
                    <a:pt x="165" y="0"/>
                  </a:cubicBezTo>
                  <a:cubicBezTo>
                    <a:pt x="124" y="0"/>
                    <a:pt x="97" y="16"/>
                    <a:pt x="70" y="50"/>
                  </a:cubicBezTo>
                  <a:cubicBezTo>
                    <a:pt x="68" y="50"/>
                    <a:pt x="68" y="50"/>
                    <a:pt x="68" y="50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12"/>
                    <a:pt x="65" y="10"/>
                    <a:pt x="60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2" y="10"/>
                    <a:pt x="0" y="12"/>
                    <a:pt x="0" y="18"/>
                  </a:cubicBezTo>
                  <a:lnTo>
                    <a:pt x="0" y="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83033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ende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359480" y="6183340"/>
            <a:ext cx="8263020" cy="499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0000" y="5940000"/>
            <a:ext cx="648000" cy="929244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4155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880725" y="593375"/>
            <a:ext cx="7951500" cy="7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728075" y="1536625"/>
            <a:ext cx="8104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rtl="0">
              <a:spcBef>
                <a:spcPts val="440"/>
              </a:spcBef>
              <a:spcAft>
                <a:spcPts val="0"/>
              </a:spcAft>
              <a:buSzPts val="2200"/>
              <a:buChar char="•"/>
              <a:defRPr/>
            </a:lvl1pPr>
            <a:lvl2pPr marL="914400" lvl="1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2pPr>
            <a:lvl3pPr marL="1371600" lvl="2" indent="-342900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Shape 134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135" name="Shape 1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1949" y="223367"/>
            <a:ext cx="841799" cy="73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8657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8" name="Shape 138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598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22000" y="1004344"/>
            <a:ext cx="8100000" cy="533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22000" y="1814635"/>
            <a:ext cx="8100000" cy="41253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94000" y="6414409"/>
            <a:ext cx="108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&lt;datum&gt;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790000" y="6414409"/>
            <a:ext cx="396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&lt;Titel van de presentatie&gt;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22000" y="6414409"/>
            <a:ext cx="810000" cy="15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200"/>
              </a:lnSpc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nl-NL"/>
              <a:t>Pagina </a:t>
            </a:r>
            <a:fld id="{7FC9B413-936F-403B-BC98-20250EBFF37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522000" y="594000"/>
            <a:ext cx="81000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/>
          <p:cNvSpPr/>
          <p:nvPr/>
        </p:nvSpPr>
        <p:spPr>
          <a:xfrm>
            <a:off x="522000" y="6264000"/>
            <a:ext cx="8100000" cy="1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9" name="Afbeelding 18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0" y="6415200"/>
            <a:ext cx="1104790" cy="1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1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0" r:id="rId3"/>
    <p:sldLayoutId id="2147483660" r:id="rId4"/>
    <p:sldLayoutId id="2147483652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8" r:id="rId11"/>
    <p:sldLayoutId id="2147483669" r:id="rId12"/>
  </p:sldLayoutIdLst>
  <p:hf sldNum="0"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2263" indent="-322263" algn="l" defTabSz="914400" rtl="0" eaLnBrk="1" latinLnBrk="0" hangingPunct="1">
        <a:lnSpc>
          <a:spcPts val="2500"/>
        </a:lnSpc>
        <a:spcBef>
          <a:spcPts val="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325438" algn="l" defTabSz="914400" rtl="0" eaLnBrk="1" latinLnBrk="0" hangingPunct="1">
        <a:lnSpc>
          <a:spcPts val="2500"/>
        </a:lnSpc>
        <a:spcBef>
          <a:spcPts val="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69963" indent="-323850" algn="l" defTabSz="914400" rtl="0" eaLnBrk="1" latinLnBrk="0" hangingPunct="1">
        <a:lnSpc>
          <a:spcPts val="2500"/>
        </a:lnSpc>
        <a:spcBef>
          <a:spcPts val="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93813" indent="-322263" algn="l" defTabSz="914400" rtl="0" eaLnBrk="1" latinLnBrk="0" hangingPunct="1">
        <a:lnSpc>
          <a:spcPts val="2500"/>
        </a:lnSpc>
        <a:spcBef>
          <a:spcPts val="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19250" indent="-323850" algn="l" defTabSz="914400" rtl="0" eaLnBrk="1" latinLnBrk="0" hangingPunct="1">
        <a:lnSpc>
          <a:spcPts val="2500"/>
        </a:lnSpc>
        <a:spcBef>
          <a:spcPts val="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journals.sagepub.com/doi/full/10.1177/0272989X18754513" TargetMode="Externa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611560" y="519336"/>
            <a:ext cx="8064896" cy="173360"/>
          </a:xfrm>
        </p:spPr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Workshop: </a:t>
            </a:r>
            <a:br>
              <a:rPr lang="en-US" dirty="0"/>
            </a:br>
            <a:r>
              <a:rPr lang="en-US" dirty="0"/>
              <a:t>Decision modelling in R</a:t>
            </a:r>
            <a:br>
              <a:rPr lang="en-US" dirty="0"/>
            </a:br>
            <a:r>
              <a:rPr lang="en-US" dirty="0"/>
              <a:t>Part 2</a:t>
            </a:r>
            <a:br>
              <a:rPr lang="en-US" dirty="0"/>
            </a:br>
            <a:endParaRPr lang="en-US" dirty="0"/>
          </a:p>
        </p:txBody>
      </p:sp>
      <p:sp>
        <p:nvSpPr>
          <p:cNvPr id="5" name="Tekstvak 4"/>
          <p:cNvSpPr txBox="1"/>
          <p:nvPr/>
        </p:nvSpPr>
        <p:spPr>
          <a:xfrm>
            <a:off x="616225" y="4427820"/>
            <a:ext cx="806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Stan Wijn MSc						22-03-2019</a:t>
            </a:r>
          </a:p>
        </p:txBody>
      </p:sp>
      <p:pic>
        <p:nvPicPr>
          <p:cNvPr id="2" name="Picture 2" descr="Image result for R studio">
            <a:extLst>
              <a:ext uri="{FF2B5EF4-FFF2-40B4-BE49-F238E27FC236}">
                <a16:creationId xmlns:a16="http://schemas.microsoft.com/office/drawing/2014/main" id="{498EBE96-7854-4B5D-AD8A-6F4049C9CA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6" r="9569"/>
          <a:stretch/>
        </p:blipFill>
        <p:spPr bwMode="auto">
          <a:xfrm>
            <a:off x="1475655" y="2708920"/>
            <a:ext cx="2127028" cy="131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3A3D25-B2C9-4D56-9424-FAEFC50CE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2708920"/>
            <a:ext cx="2127028" cy="1318466"/>
          </a:xfrm>
          <a:prstGeom prst="rect">
            <a:avLst/>
          </a:prstGeom>
        </p:spPr>
      </p:pic>
      <p:sp>
        <p:nvSpPr>
          <p:cNvPr id="6" name="Plus Sign 5">
            <a:extLst>
              <a:ext uri="{FF2B5EF4-FFF2-40B4-BE49-F238E27FC236}">
                <a16:creationId xmlns:a16="http://schemas.microsoft.com/office/drawing/2014/main" id="{81530492-6619-4260-A192-155BD38E0348}"/>
              </a:ext>
            </a:extLst>
          </p:cNvPr>
          <p:cNvSpPr/>
          <p:nvPr/>
        </p:nvSpPr>
        <p:spPr>
          <a:xfrm>
            <a:off x="4213271" y="3116125"/>
            <a:ext cx="504056" cy="504056"/>
          </a:xfrm>
          <a:prstGeom prst="mathPlu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0AA5F-7EEB-49E9-B598-3B8E87F33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Today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DD0BF11-6D48-4CB5-B126-7FECD20F7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6000" y="2132856"/>
            <a:ext cx="5346157" cy="258039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Time-dependent probabilities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PSA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Any other?</a:t>
            </a:r>
          </a:p>
        </p:txBody>
      </p:sp>
    </p:spTree>
    <p:extLst>
      <p:ext uri="{BB962C8B-B14F-4D97-AF65-F5344CB8AC3E}">
        <p14:creationId xmlns:p14="http://schemas.microsoft.com/office/powerpoint/2010/main" val="425673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D081-136E-4E20-BEBA-4BA1631F6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550" y="782731"/>
            <a:ext cx="7452000" cy="533400"/>
          </a:xfrm>
        </p:spPr>
        <p:txBody>
          <a:bodyPr/>
          <a:lstStyle/>
          <a:p>
            <a:r>
              <a:rPr lang="en-US" dirty="0"/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C9231-26F3-4BA7-BA1C-A80CC6F36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8550" y="1628800"/>
            <a:ext cx="7686900" cy="2436383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All information is based on the workshop hosted by the DARTH workgroup and my own experience. 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If you use the pre-written code in your article, please cite there publication: 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Jalal H, et al. An Overview of R in Health Decision Sciences. Med. </a:t>
            </a:r>
            <a:r>
              <a:rPr lang="en-US" sz="1800" dirty="0" err="1">
                <a:solidFill>
                  <a:schemeClr val="tx1"/>
                </a:solidFill>
              </a:rPr>
              <a:t>Decis</a:t>
            </a:r>
            <a:r>
              <a:rPr lang="en-US" sz="1800" dirty="0">
                <a:solidFill>
                  <a:schemeClr val="tx1"/>
                </a:solidFill>
              </a:rPr>
              <a:t>. Making. 2017; 37(3): 735-746. 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 Krijkamp EM, et al. Microsimulation modeling for health decision sciences using R: a tutorial. Med. </a:t>
            </a:r>
            <a:r>
              <a:rPr lang="en-US" sz="1800" dirty="0" err="1">
                <a:solidFill>
                  <a:schemeClr val="tx1"/>
                </a:solidFill>
              </a:rPr>
              <a:t>Decis</a:t>
            </a:r>
            <a:r>
              <a:rPr lang="en-US" sz="1800" dirty="0">
                <a:solidFill>
                  <a:schemeClr val="tx1"/>
                </a:solidFill>
              </a:rPr>
              <a:t>. Making. 2018; (in press).</a:t>
            </a:r>
          </a:p>
          <a:p>
            <a:r>
              <a:rPr lang="en-US" dirty="0"/>
              <a:t> </a:t>
            </a:r>
          </a:p>
        </p:txBody>
      </p:sp>
      <p:pic>
        <p:nvPicPr>
          <p:cNvPr id="1026" name="Picture 2" descr="Image result for disclaimer">
            <a:extLst>
              <a:ext uri="{FF2B5EF4-FFF2-40B4-BE49-F238E27FC236}">
                <a16:creationId xmlns:a16="http://schemas.microsoft.com/office/drawing/2014/main" id="{01F7E3D0-72E8-47AA-A47F-7777AC082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348" y="151346"/>
            <a:ext cx="2076652" cy="138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00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4A91-31AD-4EB6-A68D-E9E13193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50" y="0"/>
            <a:ext cx="7951500" cy="664108"/>
          </a:xfrm>
        </p:spPr>
        <p:txBody>
          <a:bodyPr/>
          <a:lstStyle/>
          <a:p>
            <a:r>
              <a:rPr lang="en-US" dirty="0"/>
              <a:t>General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B425-FB27-47F5-9C82-ED8EDCFA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900" y="908720"/>
            <a:ext cx="8104200" cy="4734950"/>
          </a:xfrm>
        </p:spPr>
        <p:txBody>
          <a:bodyPr/>
          <a:lstStyle/>
          <a:p>
            <a:r>
              <a:rPr lang="en-US" dirty="0"/>
              <a:t>Before you start, select a work-directory (to save your scripts)</a:t>
            </a:r>
          </a:p>
          <a:p>
            <a:pPr lvl="1"/>
            <a:r>
              <a:rPr lang="en-US" dirty="0"/>
              <a:t>Bottom-right, select Files tab and navigate to your folder. Then click More (gear icon in the top) and “set as working directory”</a:t>
            </a:r>
          </a:p>
          <a:p>
            <a:pPr lvl="1"/>
            <a:endParaRPr lang="en-US" dirty="0"/>
          </a:p>
          <a:p>
            <a:r>
              <a:rPr lang="en-US" dirty="0"/>
              <a:t>Assign variables using      “&lt;-”            (</a:t>
            </a:r>
            <a:r>
              <a:rPr lang="en-US" dirty="0" err="1"/>
              <a:t>shortkey</a:t>
            </a:r>
            <a:r>
              <a:rPr lang="en-US" dirty="0"/>
              <a:t> </a:t>
            </a:r>
            <a:r>
              <a:rPr lang="en-US" i="1" dirty="0"/>
              <a:t>alt  and minus (-) 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Select multiple rows using alt + drag with mouse</a:t>
            </a:r>
          </a:p>
          <a:p>
            <a:endParaRPr lang="en-US" dirty="0"/>
          </a:p>
          <a:p>
            <a:r>
              <a:rPr lang="en-US" dirty="0"/>
              <a:t>Vocabulary:</a:t>
            </a:r>
          </a:p>
          <a:p>
            <a:pPr lvl="1"/>
            <a:r>
              <a:rPr lang="en-US" dirty="0"/>
              <a:t>Vector: a line of numbers (1,2,3,4,5,6)   assigned using c(1,2,3,4)</a:t>
            </a:r>
          </a:p>
          <a:p>
            <a:pPr lvl="1"/>
            <a:r>
              <a:rPr lang="en-US" dirty="0"/>
              <a:t>Matrix: multiple vectors in a matrix structure (only one type: text, numeric)</a:t>
            </a:r>
          </a:p>
          <a:p>
            <a:pPr lvl="1"/>
            <a:r>
              <a:rPr lang="en-US" dirty="0" err="1"/>
              <a:t>Data.frame</a:t>
            </a:r>
            <a:r>
              <a:rPr lang="en-US" dirty="0"/>
              <a:t>:  matrix that can contain more then numbers (text)</a:t>
            </a:r>
          </a:p>
          <a:p>
            <a:pPr lvl="1"/>
            <a:r>
              <a:rPr lang="en-US" dirty="0"/>
              <a:t>Factor: Categorical variable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41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4A91-31AD-4EB6-A68D-E9E13193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B425-FB27-47F5-9C82-ED8EDCFA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900" y="1268760"/>
            <a:ext cx="8104200" cy="473495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For PSA: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rnorm</a:t>
            </a:r>
            <a:r>
              <a:rPr lang="en-US" dirty="0"/>
              <a:t>, </a:t>
            </a:r>
            <a:r>
              <a:rPr lang="en-US" dirty="0" err="1"/>
              <a:t>rbeta</a:t>
            </a:r>
            <a:r>
              <a:rPr lang="en-US" dirty="0"/>
              <a:t>, </a:t>
            </a:r>
            <a:r>
              <a:rPr lang="en-US" dirty="0" err="1"/>
              <a:t>rgamma</a:t>
            </a:r>
            <a:r>
              <a:rPr lang="en-US" dirty="0"/>
              <a:t> and for normal, beta and gamma resp.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rnorm</a:t>
            </a:r>
            <a:r>
              <a:rPr lang="en-US" dirty="0"/>
              <a:t>(1, mean, </a:t>
            </a:r>
            <a:r>
              <a:rPr lang="en-US" dirty="0" err="1"/>
              <a:t>sd</a:t>
            </a:r>
            <a:r>
              <a:rPr lang="en-US" dirty="0"/>
              <a:t>) 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rbeta</a:t>
            </a:r>
            <a:r>
              <a:rPr lang="en-US" dirty="0"/>
              <a:t>(1, a, b)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rgamma</a:t>
            </a:r>
            <a:r>
              <a:rPr lang="en-US" dirty="0"/>
              <a:t>(1, shape, scale)</a:t>
            </a:r>
          </a:p>
          <a:p>
            <a:pPr lvl="1"/>
            <a:r>
              <a:rPr lang="en-US" dirty="0"/>
              <a:t>Or </a:t>
            </a:r>
            <a:r>
              <a:rPr lang="en-US" dirty="0" err="1"/>
              <a:t>rgamma</a:t>
            </a:r>
            <a:r>
              <a:rPr lang="en-US" dirty="0"/>
              <a:t>(1,  shape = mean^2 / sd^2, rate = mean / sd^2)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36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85C463E-FC71-44FA-A742-FA7F6EFCA2E7}"/>
              </a:ext>
            </a:extLst>
          </p:cNvPr>
          <p:cNvSpPr txBox="1">
            <a:spLocks/>
          </p:cNvSpPr>
          <p:nvPr/>
        </p:nvSpPr>
        <p:spPr>
          <a:xfrm>
            <a:off x="2303748" y="3284984"/>
            <a:ext cx="4536504" cy="533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nl-NL" dirty="0"/>
              <a:t>1. </a:t>
            </a:r>
            <a:r>
              <a:rPr lang="en-US" dirty="0"/>
              <a:t>Time-dependent probabilities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Markov models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3466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age specific death rate">
            <a:extLst>
              <a:ext uri="{FF2B5EF4-FFF2-40B4-BE49-F238E27FC236}">
                <a16:creationId xmlns:a16="http://schemas.microsoft.com/office/drawing/2014/main" id="{C7B27519-F32C-4C21-A599-79D6D6C91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26" y="1628800"/>
            <a:ext cx="5334148" cy="452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84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62C9-5198-4E2E-8A45-9354C9F8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dependancies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2C19-F1D7-48E5-A169-65427BDC6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700808"/>
            <a:ext cx="8100000" cy="1050661"/>
          </a:xfrm>
        </p:spPr>
        <p:txBody>
          <a:bodyPr/>
          <a:lstStyle/>
          <a:p>
            <a:r>
              <a:rPr lang="nl-NL" dirty="0"/>
              <a:t>3D-array of </a:t>
            </a:r>
            <a:r>
              <a:rPr lang="nl-NL" dirty="0" err="1"/>
              <a:t>transition</a:t>
            </a:r>
            <a:r>
              <a:rPr lang="nl-NL" dirty="0"/>
              <a:t> </a:t>
            </a:r>
            <a:r>
              <a:rPr lang="nl-NL" dirty="0" err="1"/>
              <a:t>probabilities</a:t>
            </a:r>
            <a:endParaRPr lang="nl-NL" dirty="0"/>
          </a:p>
        </p:txBody>
      </p:sp>
      <p:pic>
        <p:nvPicPr>
          <p:cNvPr id="2050" name="Picture 2" descr="Image result for 3d array">
            <a:extLst>
              <a:ext uri="{FF2B5EF4-FFF2-40B4-BE49-F238E27FC236}">
                <a16:creationId xmlns:a16="http://schemas.microsoft.com/office/drawing/2014/main" id="{8119D593-6E1C-44E4-A598-331EB2092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785" y="2316281"/>
            <a:ext cx="407318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B85FD38F-B168-4112-98EE-1AB6D4E987F5}"/>
              </a:ext>
            </a:extLst>
          </p:cNvPr>
          <p:cNvCxnSpPr/>
          <p:nvPr/>
        </p:nvCxnSpPr>
        <p:spPr>
          <a:xfrm>
            <a:off x="1187624" y="5301208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8532D3E8-F949-4442-96E3-2511252DFC17}"/>
              </a:ext>
            </a:extLst>
          </p:cNvPr>
          <p:cNvCxnSpPr>
            <a:cxnSpLocks/>
          </p:cNvCxnSpPr>
          <p:nvPr/>
        </p:nvCxnSpPr>
        <p:spPr>
          <a:xfrm flipV="1">
            <a:off x="1159096" y="4293096"/>
            <a:ext cx="1224136" cy="100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381E83A2-8F0F-4CA4-8DE9-9E880FC5DA61}"/>
              </a:ext>
            </a:extLst>
          </p:cNvPr>
          <p:cNvCxnSpPr>
            <a:cxnSpLocks/>
          </p:cNvCxnSpPr>
          <p:nvPr/>
        </p:nvCxnSpPr>
        <p:spPr>
          <a:xfrm flipH="1" flipV="1">
            <a:off x="1153144" y="3693918"/>
            <a:ext cx="11904" cy="160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AADCB43B-7B02-4736-9A02-33B246471F22}"/>
              </a:ext>
            </a:extLst>
          </p:cNvPr>
          <p:cNvSpPr txBox="1"/>
          <p:nvPr/>
        </p:nvSpPr>
        <p:spPr>
          <a:xfrm>
            <a:off x="1273035" y="5337242"/>
            <a:ext cx="2043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From: health states </a:t>
            </a:r>
          </a:p>
          <a:p>
            <a:endParaRPr lang="nl-NL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054FBED5-95B9-4E9D-B0BD-135515F431A1}"/>
              </a:ext>
            </a:extLst>
          </p:cNvPr>
          <p:cNvSpPr txBox="1"/>
          <p:nvPr/>
        </p:nvSpPr>
        <p:spPr>
          <a:xfrm rot="19238662">
            <a:off x="934597" y="4312896"/>
            <a:ext cx="1768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To: health states 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BAE900B-FBDC-45AD-BB28-27729DEDE4E1}"/>
              </a:ext>
            </a:extLst>
          </p:cNvPr>
          <p:cNvSpPr txBox="1"/>
          <p:nvPr/>
        </p:nvSpPr>
        <p:spPr>
          <a:xfrm rot="19087096">
            <a:off x="519004" y="3448760"/>
            <a:ext cx="765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Cycles</a:t>
            </a:r>
          </a:p>
        </p:txBody>
      </p:sp>
    </p:spTree>
    <p:extLst>
      <p:ext uri="{BB962C8B-B14F-4D97-AF65-F5344CB8AC3E}">
        <p14:creationId xmlns:p14="http://schemas.microsoft.com/office/powerpoint/2010/main" val="175540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551"/>
          <p:cNvSpPr txBox="1">
            <a:spLocks noGrp="1"/>
          </p:cNvSpPr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nl-NL" sz="4800" dirty="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– </a:t>
            </a:r>
            <a:r>
              <a:rPr lang="nl-NL" dirty="0" err="1"/>
              <a:t>Decision</a:t>
            </a:r>
            <a:r>
              <a:rPr lang="nl-NL" dirty="0"/>
              <a:t> Tree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dirty="0"/>
              <a:t>https://github.com/StanWijn/DMIG</a:t>
            </a:r>
            <a:endParaRPr dirty="0"/>
          </a:p>
        </p:txBody>
      </p:sp>
      <p:sp>
        <p:nvSpPr>
          <p:cNvPr id="552" name="Shape 552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112611-EE74-4EED-A0E9-D6D4A7D1D1D0}"/>
              </a:ext>
            </a:extLst>
          </p:cNvPr>
          <p:cNvSpPr txBox="1"/>
          <p:nvPr/>
        </p:nvSpPr>
        <p:spPr>
          <a:xfrm rot="2000008">
            <a:off x="6703591" y="1597628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“Your dedication is inspiring!”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85C463E-FC71-44FA-A742-FA7F6EFCA2E7}"/>
              </a:ext>
            </a:extLst>
          </p:cNvPr>
          <p:cNvSpPr txBox="1">
            <a:spLocks/>
          </p:cNvSpPr>
          <p:nvPr/>
        </p:nvSpPr>
        <p:spPr>
          <a:xfrm>
            <a:off x="2303748" y="3284984"/>
            <a:ext cx="4536504" cy="533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nl-NL" dirty="0"/>
              <a:t>2. </a:t>
            </a:r>
            <a:r>
              <a:rPr lang="nl-NL" dirty="0" err="1"/>
              <a:t>Probabilistic</a:t>
            </a:r>
            <a:r>
              <a:rPr lang="nl-NL" dirty="0"/>
              <a:t> </a:t>
            </a:r>
            <a:r>
              <a:rPr lang="nl-NL" dirty="0" err="1"/>
              <a:t>Sensitivity</a:t>
            </a:r>
            <a:r>
              <a:rPr lang="nl-NL" dirty="0"/>
              <a:t> Analysis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Markov models</a:t>
            </a:r>
            <a:endParaRPr lang="nl-NL" dirty="0"/>
          </a:p>
        </p:txBody>
      </p:sp>
      <p:pic>
        <p:nvPicPr>
          <p:cNvPr id="4" name="Picture 2" descr="Image result for PROBABILISTIC SENSITIVITY ANALYSIS">
            <a:extLst>
              <a:ext uri="{FF2B5EF4-FFF2-40B4-BE49-F238E27FC236}">
                <a16:creationId xmlns:a16="http://schemas.microsoft.com/office/drawing/2014/main" id="{F972C05E-5D86-4A75-980E-4F6C36362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32656"/>
            <a:ext cx="3001516" cy="17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03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16" y="620688"/>
            <a:ext cx="7852200" cy="792088"/>
          </a:xfrm>
        </p:spPr>
        <p:txBody>
          <a:bodyPr/>
          <a:lstStyle/>
          <a:p>
            <a:r>
              <a:rPr lang="en-US" dirty="0"/>
              <a:t>4 Step of ‘default’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</a:rPr>
              <a:t>Model input</a:t>
            </a:r>
          </a:p>
          <a:p>
            <a:pPr marL="871537" lvl="1" indent="-457200">
              <a:spcBef>
                <a:spcPts val="800"/>
              </a:spcBef>
              <a:buSzPts val="2200"/>
            </a:pPr>
            <a:r>
              <a:rPr lang="nl-NL" dirty="0" err="1">
                <a:solidFill>
                  <a:schemeClr val="bg1"/>
                </a:solidFill>
              </a:rPr>
              <a:t>Define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healthstates</a:t>
            </a:r>
            <a:r>
              <a:rPr lang="nl-NL" dirty="0">
                <a:solidFill>
                  <a:schemeClr val="bg1"/>
                </a:solidFill>
              </a:rPr>
              <a:t>, </a:t>
            </a:r>
            <a:r>
              <a:rPr lang="nl-NL" dirty="0" err="1">
                <a:solidFill>
                  <a:schemeClr val="bg1"/>
                </a:solidFill>
              </a:rPr>
              <a:t>probabilities</a:t>
            </a:r>
            <a:r>
              <a:rPr lang="nl-NL" dirty="0">
                <a:solidFill>
                  <a:schemeClr val="bg1"/>
                </a:solidFill>
              </a:rPr>
              <a:t>, </a:t>
            </a:r>
            <a:r>
              <a:rPr lang="nl-NL" dirty="0" err="1">
                <a:solidFill>
                  <a:schemeClr val="bg1"/>
                </a:solidFill>
              </a:rPr>
              <a:t>costs</a:t>
            </a:r>
            <a:r>
              <a:rPr lang="nl-NL" dirty="0">
                <a:solidFill>
                  <a:schemeClr val="bg1"/>
                </a:solidFill>
              </a:rPr>
              <a:t> &amp; </a:t>
            </a:r>
            <a:r>
              <a:rPr lang="nl-NL" dirty="0" err="1">
                <a:solidFill>
                  <a:schemeClr val="bg1"/>
                </a:solidFill>
              </a:rPr>
              <a:t>effects</a:t>
            </a:r>
            <a:endParaRPr lang="nl-NL" dirty="0">
              <a:solidFill>
                <a:schemeClr val="bg1"/>
              </a:solidFill>
            </a:endParaRP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>
                <a:solidFill>
                  <a:schemeClr val="bg1"/>
                </a:solidFill>
              </a:rPr>
              <a:t>Initialization</a:t>
            </a:r>
            <a:endParaRPr lang="nl-NL" dirty="0">
              <a:solidFill>
                <a:schemeClr val="bg1"/>
              </a:solidFill>
            </a:endParaRPr>
          </a:p>
          <a:p>
            <a:pPr marL="871537" lvl="1" indent="-457200">
              <a:spcBef>
                <a:spcPts val="800"/>
              </a:spcBef>
              <a:buSzPts val="2200"/>
            </a:pPr>
            <a:r>
              <a:rPr lang="nl-NL" dirty="0" err="1">
                <a:solidFill>
                  <a:schemeClr val="bg1"/>
                </a:solidFill>
              </a:rPr>
              <a:t>Build</a:t>
            </a:r>
            <a:r>
              <a:rPr lang="nl-NL" dirty="0">
                <a:solidFill>
                  <a:schemeClr val="bg1"/>
                </a:solidFill>
              </a:rPr>
              <a:t> empty </a:t>
            </a:r>
            <a:r>
              <a:rPr lang="nl-NL" dirty="0" err="1">
                <a:solidFill>
                  <a:schemeClr val="bg1"/>
                </a:solidFill>
              </a:rPr>
              <a:t>Markov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trace</a:t>
            </a:r>
            <a:r>
              <a:rPr lang="nl-NL" dirty="0">
                <a:solidFill>
                  <a:schemeClr val="bg1"/>
                </a:solidFill>
              </a:rPr>
              <a:t>, </a:t>
            </a:r>
            <a:r>
              <a:rPr lang="nl-NL" dirty="0" err="1">
                <a:solidFill>
                  <a:schemeClr val="bg1"/>
                </a:solidFill>
              </a:rPr>
              <a:t>build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and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fill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transition</a:t>
            </a:r>
            <a:r>
              <a:rPr lang="nl-NL" dirty="0">
                <a:solidFill>
                  <a:schemeClr val="bg1"/>
                </a:solidFill>
              </a:rPr>
              <a:t> matrix</a:t>
            </a:r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r>
              <a:rPr lang="nl-NL" dirty="0" err="1">
                <a:solidFill>
                  <a:schemeClr val="bg1"/>
                </a:solidFill>
              </a:rPr>
              <a:t>Process</a:t>
            </a:r>
            <a:endParaRPr lang="nl-NL" dirty="0">
              <a:solidFill>
                <a:schemeClr val="bg1"/>
              </a:solidFill>
            </a:endParaRPr>
          </a:p>
          <a:p>
            <a:pPr marL="871537" lvl="1" indent="-457200">
              <a:spcBef>
                <a:spcPts val="1000"/>
              </a:spcBef>
              <a:buSzPts val="2200"/>
            </a:pPr>
            <a:r>
              <a:rPr lang="nl-NL" dirty="0">
                <a:solidFill>
                  <a:schemeClr val="bg1"/>
                </a:solidFill>
              </a:rPr>
              <a:t>Run </a:t>
            </a:r>
            <a:r>
              <a:rPr lang="nl-NL" dirty="0" err="1">
                <a:solidFill>
                  <a:schemeClr val="bg1"/>
                </a:solidFill>
              </a:rPr>
              <a:t>Markov</a:t>
            </a:r>
            <a:r>
              <a:rPr lang="nl-NL" dirty="0">
                <a:solidFill>
                  <a:schemeClr val="bg1"/>
                </a:solidFill>
              </a:rPr>
              <a:t> model loop</a:t>
            </a:r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</a:rPr>
              <a:t>Output</a:t>
            </a:r>
          </a:p>
          <a:p>
            <a:pPr marL="871537" lvl="1" indent="-457200">
              <a:spcBef>
                <a:spcPts val="1000"/>
              </a:spcBef>
              <a:buSzPts val="2200"/>
            </a:pPr>
            <a:r>
              <a:rPr lang="nl-NL" dirty="0" err="1">
                <a:solidFill>
                  <a:schemeClr val="bg1"/>
                </a:solidFill>
              </a:rPr>
              <a:t>Calculate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mean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costs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and</a:t>
            </a:r>
            <a:r>
              <a:rPr lang="nl-NL" dirty="0">
                <a:solidFill>
                  <a:schemeClr val="bg1"/>
                </a:solidFill>
              </a:rPr>
              <a:t> QALY per </a:t>
            </a:r>
            <a:r>
              <a:rPr lang="nl-NL" dirty="0" err="1">
                <a:solidFill>
                  <a:schemeClr val="bg1"/>
                </a:solidFill>
              </a:rPr>
              <a:t>cycle</a:t>
            </a:r>
            <a:r>
              <a:rPr lang="nl-NL" dirty="0">
                <a:solidFill>
                  <a:schemeClr val="bg1"/>
                </a:solidFill>
              </a:rPr>
              <a:t> &amp; discount</a:t>
            </a:r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4542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16" y="620688"/>
            <a:ext cx="7852200" cy="792088"/>
          </a:xfrm>
        </p:spPr>
        <p:txBody>
          <a:bodyPr/>
          <a:lstStyle/>
          <a:p>
            <a:r>
              <a:rPr lang="en-US" dirty="0"/>
              <a:t>4 Step of ‘default’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/>
              <a:t>Model input</a:t>
            </a:r>
          </a:p>
          <a:p>
            <a:pPr marL="871537" lvl="1" indent="-457200">
              <a:spcBef>
                <a:spcPts val="800"/>
              </a:spcBef>
              <a:buSzPts val="2200"/>
            </a:pP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healthstates</a:t>
            </a:r>
            <a:r>
              <a:rPr lang="nl-NL" dirty="0"/>
              <a:t>, </a:t>
            </a:r>
            <a:r>
              <a:rPr lang="nl-NL" dirty="0" err="1"/>
              <a:t>probabilities</a:t>
            </a:r>
            <a:r>
              <a:rPr lang="nl-NL" dirty="0"/>
              <a:t>, </a:t>
            </a:r>
            <a:r>
              <a:rPr lang="nl-NL" dirty="0" err="1"/>
              <a:t>costs</a:t>
            </a:r>
            <a:r>
              <a:rPr lang="nl-NL" dirty="0"/>
              <a:t> &amp; </a:t>
            </a:r>
            <a:r>
              <a:rPr lang="nl-NL" dirty="0" err="1"/>
              <a:t>effects</a:t>
            </a: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Initialization</a:t>
            </a:r>
            <a:endParaRPr lang="nl-NL" dirty="0"/>
          </a:p>
          <a:p>
            <a:pPr marL="871537" lvl="1" indent="-457200">
              <a:spcBef>
                <a:spcPts val="800"/>
              </a:spcBef>
              <a:buSzPts val="2200"/>
            </a:pPr>
            <a:r>
              <a:rPr lang="nl-NL" dirty="0" err="1"/>
              <a:t>Build</a:t>
            </a:r>
            <a:r>
              <a:rPr lang="nl-NL" dirty="0"/>
              <a:t> empty </a:t>
            </a:r>
            <a:r>
              <a:rPr lang="nl-NL" dirty="0" err="1"/>
              <a:t>Markov</a:t>
            </a:r>
            <a:r>
              <a:rPr lang="nl-NL" dirty="0"/>
              <a:t> </a:t>
            </a:r>
            <a:r>
              <a:rPr lang="nl-NL" dirty="0" err="1"/>
              <a:t>trace</a:t>
            </a:r>
            <a:r>
              <a:rPr lang="nl-NL" dirty="0"/>
              <a:t>, </a:t>
            </a:r>
            <a:r>
              <a:rPr lang="nl-NL" dirty="0" err="1"/>
              <a:t>build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fill</a:t>
            </a:r>
            <a:r>
              <a:rPr lang="nl-NL" dirty="0"/>
              <a:t> </a:t>
            </a:r>
            <a:r>
              <a:rPr lang="nl-NL" dirty="0" err="1"/>
              <a:t>transition</a:t>
            </a:r>
            <a:r>
              <a:rPr lang="nl-NL" dirty="0"/>
              <a:t> matrix</a:t>
            </a:r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r>
              <a:rPr lang="nl-NL" dirty="0" err="1"/>
              <a:t>Process</a:t>
            </a:r>
            <a:endParaRPr lang="nl-NL" dirty="0"/>
          </a:p>
          <a:p>
            <a:pPr marL="871537" lvl="1" indent="-457200">
              <a:spcBef>
                <a:spcPts val="1000"/>
              </a:spcBef>
              <a:buSzPts val="2200"/>
            </a:pPr>
            <a:r>
              <a:rPr lang="nl-NL" dirty="0"/>
              <a:t>Run </a:t>
            </a:r>
            <a:r>
              <a:rPr lang="nl-NL" dirty="0" err="1"/>
              <a:t>Markov</a:t>
            </a:r>
            <a:r>
              <a:rPr lang="nl-NL" dirty="0"/>
              <a:t> model loop</a:t>
            </a:r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r>
              <a:rPr lang="nl-NL" dirty="0"/>
              <a:t>Output</a:t>
            </a:r>
          </a:p>
          <a:p>
            <a:pPr marL="871537" lvl="1" indent="-457200">
              <a:spcBef>
                <a:spcPts val="1000"/>
              </a:spcBef>
              <a:buSzPts val="2200"/>
            </a:pPr>
            <a:r>
              <a:rPr lang="nl-NL" dirty="0" err="1"/>
              <a:t>Calculate</a:t>
            </a:r>
            <a:r>
              <a:rPr lang="nl-NL" dirty="0"/>
              <a:t> </a:t>
            </a:r>
            <a:r>
              <a:rPr lang="nl-NL" dirty="0" err="1"/>
              <a:t>mean</a:t>
            </a:r>
            <a:r>
              <a:rPr lang="nl-NL" dirty="0"/>
              <a:t> </a:t>
            </a:r>
            <a:r>
              <a:rPr lang="nl-NL" dirty="0" err="1"/>
              <a:t>costs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QALY per </a:t>
            </a:r>
            <a:r>
              <a:rPr lang="nl-NL" dirty="0" err="1"/>
              <a:t>cycle</a:t>
            </a:r>
            <a:r>
              <a:rPr lang="nl-NL" dirty="0"/>
              <a:t> &amp; discount</a:t>
            </a:r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5157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32" y="643012"/>
            <a:ext cx="7852200" cy="792088"/>
          </a:xfrm>
        </p:spPr>
        <p:txBody>
          <a:bodyPr/>
          <a:lstStyle/>
          <a:p>
            <a:r>
              <a:rPr lang="en-US" dirty="0"/>
              <a:t>4 Step of ‘PSA’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/>
              <a:t>Model input</a:t>
            </a:r>
          </a:p>
          <a:p>
            <a:pPr marL="871537" lvl="1" indent="-457200">
              <a:spcBef>
                <a:spcPts val="800"/>
              </a:spcBef>
              <a:buSzPts val="2200"/>
            </a:pP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healthstates</a:t>
            </a:r>
            <a:r>
              <a:rPr lang="nl-NL" dirty="0"/>
              <a:t>, </a:t>
            </a:r>
            <a:r>
              <a:rPr lang="nl-NL" dirty="0" err="1"/>
              <a:t>probabilities</a:t>
            </a:r>
            <a:r>
              <a:rPr lang="nl-NL" dirty="0"/>
              <a:t>, </a:t>
            </a:r>
            <a:r>
              <a:rPr lang="nl-NL" dirty="0" err="1"/>
              <a:t>costs</a:t>
            </a:r>
            <a:r>
              <a:rPr lang="nl-NL" dirty="0"/>
              <a:t> &amp; </a:t>
            </a:r>
            <a:r>
              <a:rPr lang="nl-NL" dirty="0" err="1"/>
              <a:t>effects</a:t>
            </a: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Initialization</a:t>
            </a:r>
            <a:endParaRPr lang="nl-NL" dirty="0"/>
          </a:p>
          <a:p>
            <a:pPr marL="871537" lvl="1" indent="-457200">
              <a:spcBef>
                <a:spcPts val="800"/>
              </a:spcBef>
              <a:buSzPts val="2200"/>
            </a:pPr>
            <a:r>
              <a:rPr lang="nl-NL" dirty="0" err="1"/>
              <a:t>Build</a:t>
            </a:r>
            <a:r>
              <a:rPr lang="nl-NL" dirty="0"/>
              <a:t> empty </a:t>
            </a:r>
            <a:r>
              <a:rPr lang="nl-NL" dirty="0" err="1"/>
              <a:t>Markov</a:t>
            </a:r>
            <a:r>
              <a:rPr lang="nl-NL" dirty="0"/>
              <a:t> </a:t>
            </a:r>
            <a:r>
              <a:rPr lang="nl-NL" dirty="0" err="1"/>
              <a:t>trace</a:t>
            </a:r>
            <a:r>
              <a:rPr lang="nl-NL" dirty="0"/>
              <a:t>, </a:t>
            </a:r>
            <a:r>
              <a:rPr lang="nl-NL" dirty="0" err="1"/>
              <a:t>build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fill</a:t>
            </a:r>
            <a:r>
              <a:rPr lang="nl-NL" dirty="0"/>
              <a:t> </a:t>
            </a:r>
            <a:r>
              <a:rPr lang="nl-NL" dirty="0" err="1"/>
              <a:t>transition</a:t>
            </a:r>
            <a:r>
              <a:rPr lang="nl-NL" dirty="0"/>
              <a:t> matrix</a:t>
            </a:r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r>
              <a:rPr lang="nl-NL" dirty="0" err="1"/>
              <a:t>Process</a:t>
            </a:r>
            <a:endParaRPr lang="nl-NL" dirty="0"/>
          </a:p>
          <a:p>
            <a:pPr marL="871537" lvl="1" indent="-457200">
              <a:spcBef>
                <a:spcPts val="1000"/>
              </a:spcBef>
              <a:buSzPts val="2200"/>
            </a:pPr>
            <a:r>
              <a:rPr lang="nl-NL" dirty="0"/>
              <a:t>Run </a:t>
            </a:r>
            <a:r>
              <a:rPr lang="nl-NL" dirty="0" err="1"/>
              <a:t>Markov</a:t>
            </a:r>
            <a:r>
              <a:rPr lang="nl-NL" dirty="0"/>
              <a:t> model loop</a:t>
            </a:r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r>
              <a:rPr lang="nl-NL" dirty="0"/>
              <a:t>Output</a:t>
            </a:r>
          </a:p>
          <a:p>
            <a:pPr marL="871537" lvl="1" indent="-457200">
              <a:spcBef>
                <a:spcPts val="1000"/>
              </a:spcBef>
              <a:buSzPts val="2200"/>
            </a:pPr>
            <a:r>
              <a:rPr lang="nl-NL" dirty="0" err="1"/>
              <a:t>Calculate</a:t>
            </a:r>
            <a:r>
              <a:rPr lang="nl-NL" dirty="0"/>
              <a:t> </a:t>
            </a:r>
            <a:r>
              <a:rPr lang="nl-NL" dirty="0" err="1"/>
              <a:t>mean</a:t>
            </a:r>
            <a:r>
              <a:rPr lang="nl-NL" dirty="0"/>
              <a:t> </a:t>
            </a:r>
            <a:r>
              <a:rPr lang="nl-NL" dirty="0" err="1"/>
              <a:t>costs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QALY per </a:t>
            </a:r>
            <a:r>
              <a:rPr lang="nl-NL" dirty="0" err="1"/>
              <a:t>cycle</a:t>
            </a:r>
            <a:r>
              <a:rPr lang="nl-NL" dirty="0"/>
              <a:t> &amp; discount</a:t>
            </a:r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A547947A-A5CE-4166-8157-39CF6A82A9FA}"/>
              </a:ext>
            </a:extLst>
          </p:cNvPr>
          <p:cNvSpPr/>
          <p:nvPr/>
        </p:nvSpPr>
        <p:spPr>
          <a:xfrm rot="16200000">
            <a:off x="5148064" y="692697"/>
            <a:ext cx="504056" cy="2952328"/>
          </a:xfrm>
          <a:prstGeom prst="rightBrace">
            <a:avLst>
              <a:gd name="adj1" fmla="val 8333"/>
              <a:gd name="adj2" fmla="val 45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F5A04-954B-4EB4-B571-E1C50E98FEF8}"/>
              </a:ext>
            </a:extLst>
          </p:cNvPr>
          <p:cNvSpPr txBox="1"/>
          <p:nvPr/>
        </p:nvSpPr>
        <p:spPr>
          <a:xfrm>
            <a:off x="4355976" y="1525804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Function of input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59F4394-9F3A-4951-8CA0-9992BC802A80}"/>
              </a:ext>
            </a:extLst>
          </p:cNvPr>
          <p:cNvSpPr/>
          <p:nvPr/>
        </p:nvSpPr>
        <p:spPr>
          <a:xfrm>
            <a:off x="7596336" y="2852935"/>
            <a:ext cx="504056" cy="2952328"/>
          </a:xfrm>
          <a:prstGeom prst="rightBrace">
            <a:avLst>
              <a:gd name="adj1" fmla="val 8333"/>
              <a:gd name="adj2" fmla="val 45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72EF5-359D-44BE-A006-D5BF3523B919}"/>
              </a:ext>
            </a:extLst>
          </p:cNvPr>
          <p:cNvSpPr txBox="1"/>
          <p:nvPr/>
        </p:nvSpPr>
        <p:spPr>
          <a:xfrm rot="5400000">
            <a:off x="7335290" y="3991074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Function of model</a:t>
            </a:r>
          </a:p>
        </p:txBody>
      </p:sp>
    </p:spTree>
    <p:extLst>
      <p:ext uri="{BB962C8B-B14F-4D97-AF65-F5344CB8AC3E}">
        <p14:creationId xmlns:p14="http://schemas.microsoft.com/office/powerpoint/2010/main" val="185764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36CB-33CE-4292-9609-3302673F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16632"/>
            <a:ext cx="7852200" cy="504056"/>
          </a:xfrm>
        </p:spPr>
        <p:txBody>
          <a:bodyPr/>
          <a:lstStyle/>
          <a:p>
            <a:r>
              <a:rPr lang="en-US" dirty="0"/>
              <a:t>Function?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55C76071-B879-44C0-8DA9-B32D6E71D87E}"/>
              </a:ext>
            </a:extLst>
          </p:cNvPr>
          <p:cNvSpPr txBox="1">
            <a:spLocks/>
          </p:cNvSpPr>
          <p:nvPr/>
        </p:nvSpPr>
        <p:spPr>
          <a:xfrm>
            <a:off x="846116" y="908720"/>
            <a:ext cx="7620000" cy="52565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</a:pPr>
            <a:r>
              <a:rPr lang="nl-NL" dirty="0"/>
              <a:t>R has default </a:t>
            </a:r>
            <a:r>
              <a:rPr lang="nl-NL" dirty="0" err="1"/>
              <a:t>functions</a:t>
            </a:r>
            <a:r>
              <a:rPr lang="nl-NL" dirty="0"/>
              <a:t> (like </a:t>
            </a:r>
            <a:r>
              <a:rPr lang="nl-NL" dirty="0" err="1"/>
              <a:t>rnorm</a:t>
            </a:r>
            <a:r>
              <a:rPr lang="nl-NL" dirty="0"/>
              <a:t>, </a:t>
            </a:r>
            <a:r>
              <a:rPr lang="nl-NL" dirty="0" err="1"/>
              <a:t>data.frame</a:t>
            </a:r>
            <a:r>
              <a:rPr lang="nl-NL" dirty="0"/>
              <a:t> </a:t>
            </a:r>
            <a:r>
              <a:rPr lang="nl-NL" dirty="0" err="1"/>
              <a:t>etc</a:t>
            </a:r>
            <a:r>
              <a:rPr lang="nl-NL" dirty="0"/>
              <a:t>)</a:t>
            </a:r>
          </a:p>
          <a:p>
            <a:pPr marL="546100" indent="-457200">
              <a:spcBef>
                <a:spcPts val="800"/>
              </a:spcBef>
              <a:buSzPts val="2200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</a:pPr>
            <a:r>
              <a:rPr lang="nl-NL" dirty="0" err="1"/>
              <a:t>Functions</a:t>
            </a:r>
            <a:r>
              <a:rPr lang="nl-NL" dirty="0"/>
              <a:t> are </a:t>
            </a:r>
            <a:r>
              <a:rPr lang="nl-NL" dirty="0" err="1"/>
              <a:t>used</a:t>
            </a:r>
            <a:r>
              <a:rPr lang="nl-NL" dirty="0"/>
              <a:t> to make code </a:t>
            </a:r>
            <a:r>
              <a:rPr lang="nl-NL" dirty="0" err="1"/>
              <a:t>faster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easier</a:t>
            </a:r>
            <a:r>
              <a:rPr lang="nl-NL" dirty="0"/>
              <a:t> to </a:t>
            </a:r>
            <a:r>
              <a:rPr lang="nl-NL" dirty="0" err="1"/>
              <a:t>read</a:t>
            </a:r>
            <a:endParaRPr lang="nl-NL" dirty="0"/>
          </a:p>
          <a:p>
            <a:pPr marL="546100" indent="-457200">
              <a:spcBef>
                <a:spcPts val="800"/>
              </a:spcBef>
              <a:buSzPts val="2200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wrap</a:t>
            </a:r>
            <a:r>
              <a:rPr lang="nl-NL" dirty="0"/>
              <a:t> code in a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write</a:t>
            </a:r>
            <a:r>
              <a:rPr lang="nl-NL" dirty="0"/>
              <a:t> </a:t>
            </a:r>
            <a:r>
              <a:rPr lang="nl-NL" dirty="0" err="1"/>
              <a:t>any</a:t>
            </a:r>
            <a:r>
              <a:rPr lang="nl-NL" dirty="0"/>
              <a:t> variables in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global</a:t>
            </a:r>
            <a:r>
              <a:rPr lang="nl-NL" dirty="0"/>
              <a:t> environment (</a:t>
            </a:r>
            <a:r>
              <a:rPr lang="nl-NL" dirty="0" err="1"/>
              <a:t>less</a:t>
            </a:r>
            <a:r>
              <a:rPr lang="nl-NL" dirty="0"/>
              <a:t> variables)</a:t>
            </a:r>
          </a:p>
          <a:p>
            <a:pPr marL="546100" indent="-457200">
              <a:spcBef>
                <a:spcPts val="800"/>
              </a:spcBef>
              <a:buSzPts val="2200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</a:pPr>
            <a:r>
              <a:rPr lang="nl-NL" dirty="0" err="1"/>
              <a:t>Example</a:t>
            </a:r>
            <a:r>
              <a:rPr lang="nl-NL" dirty="0"/>
              <a:t>: </a:t>
            </a:r>
          </a:p>
          <a:p>
            <a:pPr marL="736600" lvl="2" indent="0">
              <a:spcBef>
                <a:spcPts val="800"/>
              </a:spcBef>
              <a:buSzPts val="2200"/>
              <a:buNone/>
            </a:pPr>
            <a:r>
              <a:rPr lang="nl-NL" i="1" dirty="0" err="1"/>
              <a:t>firstfunction</a:t>
            </a:r>
            <a:r>
              <a:rPr lang="nl-NL" i="1" dirty="0"/>
              <a:t> &lt;- </a:t>
            </a:r>
            <a:r>
              <a:rPr lang="nl-NL" i="1" dirty="0" err="1"/>
              <a:t>function</a:t>
            </a:r>
            <a:r>
              <a:rPr lang="nl-NL" i="1" dirty="0"/>
              <a:t>(</a:t>
            </a:r>
            <a:r>
              <a:rPr lang="nl-NL" i="1" dirty="0" err="1"/>
              <a:t>x,y</a:t>
            </a:r>
            <a:r>
              <a:rPr lang="nl-NL" i="1" dirty="0"/>
              <a:t>){ </a:t>
            </a:r>
          </a:p>
          <a:p>
            <a:pPr marL="736600" lvl="2" indent="0">
              <a:spcBef>
                <a:spcPts val="800"/>
              </a:spcBef>
              <a:buSzPts val="2200"/>
              <a:buNone/>
            </a:pPr>
            <a:r>
              <a:rPr lang="nl-NL" i="1" dirty="0"/>
              <a:t>    x*2 + y*2</a:t>
            </a:r>
          </a:p>
          <a:p>
            <a:pPr marL="736600" lvl="2" indent="0">
              <a:spcBef>
                <a:spcPts val="800"/>
              </a:spcBef>
              <a:buSzPts val="2200"/>
              <a:buNone/>
            </a:pPr>
            <a:r>
              <a:rPr lang="nl-NL" i="1" dirty="0"/>
              <a:t>}</a:t>
            </a:r>
          </a:p>
          <a:p>
            <a:pPr marL="736600" lvl="2" indent="0">
              <a:spcBef>
                <a:spcPts val="800"/>
              </a:spcBef>
              <a:buSzPts val="2200"/>
              <a:buNone/>
            </a:pPr>
            <a:r>
              <a:rPr lang="nl-NL" i="1" dirty="0" err="1"/>
              <a:t>firstfunction</a:t>
            </a:r>
            <a:r>
              <a:rPr lang="nl-NL" i="1" dirty="0"/>
              <a:t>(2,4) = 12</a:t>
            </a:r>
          </a:p>
          <a:p>
            <a:pPr marL="546100" indent="-457200">
              <a:spcBef>
                <a:spcPts val="800"/>
              </a:spcBef>
              <a:buSzPts val="2200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7197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36CB-33CE-4292-9609-3302673F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16632"/>
            <a:ext cx="7852200" cy="504056"/>
          </a:xfrm>
        </p:spPr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55C76071-B879-44C0-8DA9-B32D6E71D87E}"/>
              </a:ext>
            </a:extLst>
          </p:cNvPr>
          <p:cNvSpPr txBox="1">
            <a:spLocks/>
          </p:cNvSpPr>
          <p:nvPr/>
        </p:nvSpPr>
        <p:spPr>
          <a:xfrm>
            <a:off x="784184" y="908720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</a:pPr>
            <a:r>
              <a:rPr lang="nl-NL" dirty="0" err="1"/>
              <a:t>Functions</a:t>
            </a:r>
            <a:r>
              <a:rPr lang="nl-NL" dirty="0"/>
              <a:t> are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ended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a return-</a:t>
            </a:r>
            <a:r>
              <a:rPr lang="nl-NL" dirty="0" err="1"/>
              <a:t>command</a:t>
            </a:r>
            <a:endParaRPr lang="nl-NL" dirty="0"/>
          </a:p>
          <a:p>
            <a:pPr marL="546100" indent="-457200">
              <a:spcBef>
                <a:spcPts val="800"/>
              </a:spcBef>
              <a:buSzPts val="2200"/>
            </a:pPr>
            <a:endParaRPr lang="nl-NL" i="1" dirty="0"/>
          </a:p>
          <a:p>
            <a:pPr marL="546100" indent="-457200">
              <a:spcBef>
                <a:spcPts val="800"/>
              </a:spcBef>
              <a:buSzPts val="2200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run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command</a:t>
            </a:r>
            <a:r>
              <a:rPr lang="nl-NL" dirty="0"/>
              <a:t>,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receive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is put in </a:t>
            </a:r>
            <a:r>
              <a:rPr lang="nl-NL" dirty="0" err="1"/>
              <a:t>the</a:t>
            </a:r>
            <a:r>
              <a:rPr lang="nl-NL" dirty="0"/>
              <a:t> return line</a:t>
            </a:r>
          </a:p>
          <a:p>
            <a:pPr marL="546100" indent="-457200">
              <a:spcBef>
                <a:spcPts val="800"/>
              </a:spcBef>
              <a:buSzPts val="2200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</a:pPr>
            <a:r>
              <a:rPr lang="nl-NL" dirty="0" err="1"/>
              <a:t>Example</a:t>
            </a:r>
            <a:r>
              <a:rPr lang="nl-NL" dirty="0"/>
              <a:t>: </a:t>
            </a:r>
          </a:p>
          <a:p>
            <a:pPr marL="736600" lvl="2" indent="0">
              <a:lnSpc>
                <a:spcPct val="100000"/>
              </a:lnSpc>
              <a:spcBef>
                <a:spcPts val="800"/>
              </a:spcBef>
              <a:buSzPts val="2200"/>
              <a:buNone/>
            </a:pPr>
            <a:r>
              <a:rPr lang="nl-NL" sz="1400" i="1" dirty="0" err="1"/>
              <a:t>Inputfunction</a:t>
            </a:r>
            <a:r>
              <a:rPr lang="nl-NL" sz="1400" i="1" dirty="0"/>
              <a:t> &lt;- </a:t>
            </a:r>
            <a:r>
              <a:rPr lang="nl-NL" sz="1400" i="1" dirty="0" err="1"/>
              <a:t>function</a:t>
            </a:r>
            <a:r>
              <a:rPr lang="nl-NL" sz="1400" i="1" dirty="0"/>
              <a:t>(</a:t>
            </a:r>
            <a:r>
              <a:rPr lang="nl-NL" sz="1400" i="1" dirty="0" err="1"/>
              <a:t>n.sim</a:t>
            </a:r>
            <a:r>
              <a:rPr lang="nl-NL" sz="1400" i="1" dirty="0"/>
              <a:t> = 1000){</a:t>
            </a:r>
          </a:p>
          <a:p>
            <a:pPr marL="736600" lvl="2" indent="0">
              <a:lnSpc>
                <a:spcPct val="100000"/>
              </a:lnSpc>
              <a:spcBef>
                <a:spcPts val="800"/>
              </a:spcBef>
              <a:buSzPts val="2200"/>
              <a:buNone/>
            </a:pPr>
            <a:r>
              <a:rPr lang="nl-NL" sz="1400" i="1" dirty="0" err="1"/>
              <a:t>df.psa</a:t>
            </a:r>
            <a:r>
              <a:rPr lang="nl-NL" sz="1400" i="1" dirty="0"/>
              <a:t> &lt;- </a:t>
            </a:r>
            <a:r>
              <a:rPr lang="nl-NL" sz="1400" i="1" dirty="0" err="1"/>
              <a:t>data.frame</a:t>
            </a:r>
            <a:r>
              <a:rPr lang="nl-NL" sz="1400" i="1" dirty="0"/>
              <a:t>(</a:t>
            </a:r>
          </a:p>
          <a:p>
            <a:pPr marL="736600" lvl="2" indent="0">
              <a:lnSpc>
                <a:spcPct val="100000"/>
              </a:lnSpc>
              <a:spcBef>
                <a:spcPts val="800"/>
              </a:spcBef>
              <a:buSzPts val="2200"/>
              <a:buNone/>
            </a:pPr>
            <a:r>
              <a:rPr lang="nl-NL" sz="1400" i="1" dirty="0"/>
              <a:t>	</a:t>
            </a:r>
            <a:r>
              <a:rPr lang="nl-NL" sz="1400" i="1" dirty="0" err="1"/>
              <a:t>p.HD</a:t>
            </a:r>
            <a:r>
              <a:rPr lang="nl-NL" sz="1400" i="1" dirty="0"/>
              <a:t> = </a:t>
            </a:r>
            <a:r>
              <a:rPr lang="nl-NL" sz="1400" i="1" dirty="0" err="1"/>
              <a:t>rbeta</a:t>
            </a:r>
            <a:r>
              <a:rPr lang="nl-NL" sz="1400" i="1" dirty="0"/>
              <a:t>(</a:t>
            </a:r>
            <a:r>
              <a:rPr lang="nl-NL" sz="1400" i="1" dirty="0" err="1"/>
              <a:t>n.sim</a:t>
            </a:r>
            <a:r>
              <a:rPr lang="nl-NL" sz="1400" i="1" dirty="0"/>
              <a:t>, 20, 980),</a:t>
            </a:r>
          </a:p>
          <a:p>
            <a:pPr marL="736600" lvl="2" indent="0">
              <a:lnSpc>
                <a:spcPct val="100000"/>
              </a:lnSpc>
              <a:spcBef>
                <a:spcPts val="800"/>
              </a:spcBef>
              <a:buSzPts val="2200"/>
              <a:buNone/>
            </a:pPr>
            <a:r>
              <a:rPr lang="nl-NL" sz="1400" i="1" dirty="0"/>
              <a:t>	p.SD = </a:t>
            </a:r>
            <a:r>
              <a:rPr lang="nl-NL" sz="1400" i="1" dirty="0" err="1"/>
              <a:t>rbeta</a:t>
            </a:r>
            <a:r>
              <a:rPr lang="nl-NL" sz="1400" i="1" dirty="0"/>
              <a:t>(</a:t>
            </a:r>
            <a:r>
              <a:rPr lang="nl-NL" sz="1400" i="1" dirty="0" err="1"/>
              <a:t>n.sim</a:t>
            </a:r>
            <a:r>
              <a:rPr lang="nl-NL" sz="1400" i="1" dirty="0"/>
              <a:t>, 100, 900)</a:t>
            </a:r>
          </a:p>
          <a:p>
            <a:pPr marL="736600" lvl="2" indent="0">
              <a:lnSpc>
                <a:spcPct val="100000"/>
              </a:lnSpc>
              <a:spcBef>
                <a:spcPts val="800"/>
              </a:spcBef>
              <a:buSzPts val="2200"/>
              <a:buNone/>
            </a:pPr>
            <a:r>
              <a:rPr lang="nl-NL" sz="1400" i="1" dirty="0"/>
              <a:t>)</a:t>
            </a:r>
          </a:p>
          <a:p>
            <a:pPr marL="736600" lvl="2" indent="0">
              <a:lnSpc>
                <a:spcPct val="100000"/>
              </a:lnSpc>
              <a:spcBef>
                <a:spcPts val="800"/>
              </a:spcBef>
              <a:buSzPts val="2200"/>
              <a:buNone/>
            </a:pPr>
            <a:r>
              <a:rPr lang="nl-NL" sz="1400" i="1" dirty="0"/>
              <a:t>return(</a:t>
            </a:r>
            <a:r>
              <a:rPr lang="nl-NL" sz="1400" i="1" dirty="0" err="1"/>
              <a:t>df.psa</a:t>
            </a:r>
            <a:r>
              <a:rPr lang="nl-NL" sz="1400" i="1" dirty="0"/>
              <a:t>)</a:t>
            </a:r>
          </a:p>
          <a:p>
            <a:pPr marL="736600" lvl="2" indent="0">
              <a:lnSpc>
                <a:spcPct val="100000"/>
              </a:lnSpc>
              <a:spcBef>
                <a:spcPts val="800"/>
              </a:spcBef>
              <a:buSzPts val="2200"/>
              <a:buNone/>
            </a:pPr>
            <a:r>
              <a:rPr lang="nl-NL" sz="1400" i="1" dirty="0"/>
              <a:t>}</a:t>
            </a:r>
          </a:p>
          <a:p>
            <a:pPr marL="736600" lvl="2" indent="0">
              <a:lnSpc>
                <a:spcPct val="100000"/>
              </a:lnSpc>
              <a:spcBef>
                <a:spcPts val="800"/>
              </a:spcBef>
              <a:buSzPts val="2200"/>
              <a:buNone/>
            </a:pPr>
            <a:r>
              <a:rPr lang="nl-NL" sz="1400" i="1" dirty="0" err="1"/>
              <a:t>Inputfunction</a:t>
            </a:r>
            <a:r>
              <a:rPr lang="nl-NL" sz="1400" i="1" dirty="0"/>
              <a:t>(</a:t>
            </a:r>
            <a:r>
              <a:rPr lang="nl-NL" sz="1400" i="1" dirty="0" err="1"/>
              <a:t>n.sim</a:t>
            </a:r>
            <a:r>
              <a:rPr lang="nl-NL" sz="1400" i="1" dirty="0"/>
              <a:t> = 10)</a:t>
            </a:r>
          </a:p>
          <a:p>
            <a:pPr marL="871537" lvl="1" indent="-457200">
              <a:spcBef>
                <a:spcPts val="800"/>
              </a:spcBef>
              <a:buSzPts val="2200"/>
            </a:pPr>
            <a:endParaRPr lang="nl-NL" dirty="0"/>
          </a:p>
          <a:p>
            <a:pPr marL="871537" lvl="1" indent="-457200">
              <a:spcBef>
                <a:spcPts val="800"/>
              </a:spcBef>
              <a:buSzPts val="2200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9010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32" y="643012"/>
            <a:ext cx="7852200" cy="792088"/>
          </a:xfrm>
        </p:spPr>
        <p:txBody>
          <a:bodyPr/>
          <a:lstStyle/>
          <a:p>
            <a:r>
              <a:rPr lang="en-US" dirty="0"/>
              <a:t>7 Step of ‘PSA’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>
                <a:solidFill>
                  <a:schemeClr val="bg1"/>
                </a:solidFill>
              </a:rPr>
              <a:t>Define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healthstates</a:t>
            </a:r>
            <a:r>
              <a:rPr lang="nl-NL" dirty="0">
                <a:solidFill>
                  <a:schemeClr val="bg1"/>
                </a:solidFill>
              </a:rPr>
              <a:t>, </a:t>
            </a:r>
            <a:r>
              <a:rPr lang="nl-NL" dirty="0" err="1">
                <a:solidFill>
                  <a:schemeClr val="bg1"/>
                </a:solidFill>
              </a:rPr>
              <a:t>cycle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length</a:t>
            </a:r>
            <a:r>
              <a:rPr lang="nl-NL" dirty="0">
                <a:solidFill>
                  <a:schemeClr val="bg1"/>
                </a:solidFill>
              </a:rPr>
              <a:t> etc.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>
                <a:solidFill>
                  <a:schemeClr val="bg1"/>
                </a:solidFill>
              </a:rPr>
              <a:t>Initialize</a:t>
            </a:r>
            <a:r>
              <a:rPr lang="nl-NL" dirty="0">
                <a:solidFill>
                  <a:schemeClr val="bg1"/>
                </a:solidFill>
              </a:rPr>
              <a:t> input </a:t>
            </a:r>
            <a:r>
              <a:rPr lang="nl-NL" dirty="0" err="1">
                <a:solidFill>
                  <a:schemeClr val="bg1"/>
                </a:solidFill>
              </a:rPr>
              <a:t>function</a:t>
            </a:r>
            <a:r>
              <a:rPr lang="nl-NL" dirty="0">
                <a:solidFill>
                  <a:schemeClr val="bg1"/>
                </a:solidFill>
              </a:rPr>
              <a:t> 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>
                <a:solidFill>
                  <a:schemeClr val="bg1"/>
                </a:solidFill>
              </a:rPr>
              <a:t>Initialize</a:t>
            </a:r>
            <a:r>
              <a:rPr lang="nl-NL" dirty="0">
                <a:solidFill>
                  <a:schemeClr val="bg1"/>
                </a:solidFill>
              </a:rPr>
              <a:t> model </a:t>
            </a:r>
            <a:r>
              <a:rPr lang="nl-NL" dirty="0" err="1">
                <a:solidFill>
                  <a:schemeClr val="bg1"/>
                </a:solidFill>
              </a:rPr>
              <a:t>function</a:t>
            </a:r>
            <a:r>
              <a:rPr lang="nl-NL" dirty="0">
                <a:solidFill>
                  <a:schemeClr val="bg1"/>
                </a:solidFill>
              </a:rPr>
              <a:t> (</a:t>
            </a:r>
            <a:r>
              <a:rPr lang="nl-NL" dirty="0" err="1">
                <a:solidFill>
                  <a:schemeClr val="bg1"/>
                </a:solidFill>
              </a:rPr>
              <a:t>initialize</a:t>
            </a:r>
            <a:r>
              <a:rPr lang="nl-NL" dirty="0">
                <a:solidFill>
                  <a:schemeClr val="bg1"/>
                </a:solidFill>
              </a:rPr>
              <a:t>, run </a:t>
            </a:r>
            <a:r>
              <a:rPr lang="nl-NL" dirty="0" err="1">
                <a:solidFill>
                  <a:schemeClr val="bg1"/>
                </a:solidFill>
              </a:rPr>
              <a:t>and</a:t>
            </a:r>
            <a:r>
              <a:rPr lang="nl-NL" dirty="0">
                <a:solidFill>
                  <a:schemeClr val="bg1"/>
                </a:solidFill>
              </a:rPr>
              <a:t> output model)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</a:rPr>
              <a:t>Run input </a:t>
            </a:r>
            <a:r>
              <a:rPr lang="nl-NL" dirty="0" err="1">
                <a:solidFill>
                  <a:schemeClr val="bg1"/>
                </a:solidFill>
              </a:rPr>
              <a:t>function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i="1" dirty="0" err="1">
                <a:solidFill>
                  <a:schemeClr val="bg1"/>
                </a:solidFill>
              </a:rPr>
              <a:t>n.sim</a:t>
            </a:r>
            <a:r>
              <a:rPr lang="nl-NL" dirty="0" err="1">
                <a:solidFill>
                  <a:schemeClr val="bg1"/>
                </a:solidFill>
              </a:rPr>
              <a:t>-times</a:t>
            </a:r>
            <a:r>
              <a:rPr lang="nl-NL" dirty="0">
                <a:solidFill>
                  <a:schemeClr val="bg1"/>
                </a:solidFill>
              </a:rPr>
              <a:t> (draws </a:t>
            </a:r>
            <a:r>
              <a:rPr lang="nl-NL" dirty="0" err="1">
                <a:solidFill>
                  <a:schemeClr val="bg1"/>
                </a:solidFill>
              </a:rPr>
              <a:t>from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distributions</a:t>
            </a:r>
            <a:r>
              <a:rPr lang="nl-NL" dirty="0">
                <a:solidFill>
                  <a:schemeClr val="bg1"/>
                </a:solidFill>
              </a:rPr>
              <a:t>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>
                <a:solidFill>
                  <a:schemeClr val="bg1"/>
                </a:solidFill>
              </a:rPr>
              <a:t>Initialize</a:t>
            </a:r>
            <a:r>
              <a:rPr lang="nl-NL" dirty="0">
                <a:solidFill>
                  <a:schemeClr val="bg1"/>
                </a:solidFill>
              </a:rPr>
              <a:t> output matrix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</a:rPr>
              <a:t>Run model </a:t>
            </a:r>
            <a:r>
              <a:rPr lang="nl-NL" dirty="0" err="1">
                <a:solidFill>
                  <a:schemeClr val="bg1"/>
                </a:solidFill>
              </a:rPr>
              <a:t>function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with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result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from</a:t>
            </a:r>
            <a:r>
              <a:rPr lang="nl-NL" dirty="0">
                <a:solidFill>
                  <a:schemeClr val="bg1"/>
                </a:solidFill>
              </a:rPr>
              <a:t> input </a:t>
            </a:r>
            <a:r>
              <a:rPr lang="nl-NL" dirty="0" err="1">
                <a:solidFill>
                  <a:schemeClr val="bg1"/>
                </a:solidFill>
              </a:rPr>
              <a:t>function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and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write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results</a:t>
            </a:r>
            <a:r>
              <a:rPr lang="nl-NL" dirty="0">
                <a:solidFill>
                  <a:schemeClr val="bg1"/>
                </a:solidFill>
              </a:rPr>
              <a:t> in output matrix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</a:rPr>
              <a:t>Profit!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4381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32" y="643012"/>
            <a:ext cx="7852200" cy="792088"/>
          </a:xfrm>
        </p:spPr>
        <p:txBody>
          <a:bodyPr/>
          <a:lstStyle/>
          <a:p>
            <a:r>
              <a:rPr lang="en-US" dirty="0"/>
              <a:t>7 Step of ‘PSA’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healthstates</a:t>
            </a:r>
            <a:r>
              <a:rPr lang="nl-NL" dirty="0"/>
              <a:t>,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length</a:t>
            </a:r>
            <a:r>
              <a:rPr lang="nl-NL" dirty="0"/>
              <a:t> etc.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5CFA80-EFAD-4765-A422-3E4B1FD6D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7" y="2381250"/>
            <a:ext cx="907732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36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32" y="643012"/>
            <a:ext cx="7852200" cy="792088"/>
          </a:xfrm>
        </p:spPr>
        <p:txBody>
          <a:bodyPr/>
          <a:lstStyle/>
          <a:p>
            <a:r>
              <a:rPr lang="en-US" dirty="0"/>
              <a:t>7 Step of ‘PSA’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healthstates</a:t>
            </a:r>
            <a:r>
              <a:rPr lang="nl-NL" dirty="0"/>
              <a:t>,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length</a:t>
            </a:r>
            <a:r>
              <a:rPr lang="nl-NL" dirty="0"/>
              <a:t> etc.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input </a:t>
            </a:r>
            <a:r>
              <a:rPr lang="nl-NL" dirty="0" err="1"/>
              <a:t>function</a:t>
            </a:r>
            <a:r>
              <a:rPr lang="nl-NL" dirty="0"/>
              <a:t> 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C7D98F-AD0C-406A-A8AD-A11088ED3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40" y="2780928"/>
            <a:ext cx="68865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85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32" y="643012"/>
            <a:ext cx="7852200" cy="792088"/>
          </a:xfrm>
        </p:spPr>
        <p:txBody>
          <a:bodyPr/>
          <a:lstStyle/>
          <a:p>
            <a:r>
              <a:rPr lang="en-US" dirty="0"/>
              <a:t>7 Step of ‘PSA’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healthstates</a:t>
            </a:r>
            <a:r>
              <a:rPr lang="nl-NL" dirty="0"/>
              <a:t>,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length</a:t>
            </a:r>
            <a:r>
              <a:rPr lang="nl-NL" dirty="0"/>
              <a:t> etc.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input </a:t>
            </a:r>
            <a:r>
              <a:rPr lang="nl-NL" dirty="0" err="1"/>
              <a:t>function</a:t>
            </a:r>
            <a:r>
              <a:rPr lang="nl-NL" dirty="0"/>
              <a:t> 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model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initialize</a:t>
            </a:r>
            <a:r>
              <a:rPr lang="nl-NL" dirty="0"/>
              <a:t>, run </a:t>
            </a:r>
            <a:r>
              <a:rPr lang="nl-NL" dirty="0" err="1"/>
              <a:t>and</a:t>
            </a:r>
            <a:r>
              <a:rPr lang="nl-NL" dirty="0"/>
              <a:t> output model)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2A140-8216-41DA-A40F-17B7C0B18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305"/>
            <a:ext cx="9144000" cy="632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2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32" y="643012"/>
            <a:ext cx="7852200" cy="792088"/>
          </a:xfrm>
        </p:spPr>
        <p:txBody>
          <a:bodyPr/>
          <a:lstStyle/>
          <a:p>
            <a:r>
              <a:rPr lang="en-US" dirty="0"/>
              <a:t>7 Step of ‘PSA’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healthstates</a:t>
            </a:r>
            <a:r>
              <a:rPr lang="nl-NL" dirty="0"/>
              <a:t>,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length</a:t>
            </a:r>
            <a:r>
              <a:rPr lang="nl-NL" dirty="0"/>
              <a:t> etc.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input </a:t>
            </a:r>
            <a:r>
              <a:rPr lang="nl-NL" dirty="0" err="1"/>
              <a:t>function</a:t>
            </a:r>
            <a:r>
              <a:rPr lang="nl-NL" dirty="0"/>
              <a:t> 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model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initialize</a:t>
            </a:r>
            <a:r>
              <a:rPr lang="nl-NL" dirty="0"/>
              <a:t>, run </a:t>
            </a:r>
            <a:r>
              <a:rPr lang="nl-NL" dirty="0" err="1"/>
              <a:t>and</a:t>
            </a:r>
            <a:r>
              <a:rPr lang="nl-NL" dirty="0"/>
              <a:t> output model)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/>
              <a:t>Run input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i="1" dirty="0" err="1"/>
              <a:t>n.sim</a:t>
            </a:r>
            <a:r>
              <a:rPr lang="nl-NL" dirty="0" err="1"/>
              <a:t>-times</a:t>
            </a:r>
            <a:r>
              <a:rPr lang="nl-NL" dirty="0"/>
              <a:t> (draws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distributions</a:t>
            </a:r>
            <a:r>
              <a:rPr lang="nl-NL" dirty="0"/>
              <a:t>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ACB447-3872-43A8-A403-B429A4C13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752098"/>
            <a:ext cx="25908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26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32" y="643012"/>
            <a:ext cx="7852200" cy="792088"/>
          </a:xfrm>
        </p:spPr>
        <p:txBody>
          <a:bodyPr/>
          <a:lstStyle/>
          <a:p>
            <a:r>
              <a:rPr lang="en-US" dirty="0"/>
              <a:t>7 Step of ‘PSA’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healthstates</a:t>
            </a:r>
            <a:r>
              <a:rPr lang="nl-NL" dirty="0"/>
              <a:t>,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length</a:t>
            </a:r>
            <a:r>
              <a:rPr lang="nl-NL" dirty="0"/>
              <a:t> etc.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input </a:t>
            </a:r>
            <a:r>
              <a:rPr lang="nl-NL" dirty="0" err="1"/>
              <a:t>function</a:t>
            </a:r>
            <a:r>
              <a:rPr lang="nl-NL" dirty="0"/>
              <a:t> 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model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initialize</a:t>
            </a:r>
            <a:r>
              <a:rPr lang="nl-NL" dirty="0"/>
              <a:t>, run </a:t>
            </a:r>
            <a:r>
              <a:rPr lang="nl-NL" dirty="0" err="1"/>
              <a:t>and</a:t>
            </a:r>
            <a:r>
              <a:rPr lang="nl-NL" dirty="0"/>
              <a:t> output model)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/>
              <a:t>Run input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i="1" dirty="0" err="1"/>
              <a:t>n.sim</a:t>
            </a:r>
            <a:r>
              <a:rPr lang="nl-NL" dirty="0" err="1"/>
              <a:t>-times</a:t>
            </a:r>
            <a:r>
              <a:rPr lang="nl-NL" dirty="0"/>
              <a:t> (draws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distributions</a:t>
            </a:r>
            <a:r>
              <a:rPr lang="nl-NL" dirty="0"/>
              <a:t>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output matrix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2EF7D-07F4-4ABE-B977-F44BA7582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4221088"/>
            <a:ext cx="360997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03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32" y="643012"/>
            <a:ext cx="7852200" cy="792088"/>
          </a:xfrm>
        </p:spPr>
        <p:txBody>
          <a:bodyPr/>
          <a:lstStyle/>
          <a:p>
            <a:r>
              <a:rPr lang="en-US" dirty="0"/>
              <a:t>7 Step of ‘PSA’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healthstates</a:t>
            </a:r>
            <a:r>
              <a:rPr lang="nl-NL" dirty="0"/>
              <a:t>,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length</a:t>
            </a:r>
            <a:r>
              <a:rPr lang="nl-NL" dirty="0"/>
              <a:t> etc.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input </a:t>
            </a:r>
            <a:r>
              <a:rPr lang="nl-NL" dirty="0" err="1"/>
              <a:t>function</a:t>
            </a:r>
            <a:r>
              <a:rPr lang="nl-NL" dirty="0"/>
              <a:t> 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model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initialize</a:t>
            </a:r>
            <a:r>
              <a:rPr lang="nl-NL" dirty="0"/>
              <a:t>, run </a:t>
            </a:r>
            <a:r>
              <a:rPr lang="nl-NL" dirty="0" err="1"/>
              <a:t>and</a:t>
            </a:r>
            <a:r>
              <a:rPr lang="nl-NL" dirty="0"/>
              <a:t> output model)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/>
              <a:t>Run input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i="1" dirty="0" err="1"/>
              <a:t>n.sim</a:t>
            </a:r>
            <a:r>
              <a:rPr lang="nl-NL" dirty="0" err="1"/>
              <a:t>-times</a:t>
            </a:r>
            <a:r>
              <a:rPr lang="nl-NL" dirty="0"/>
              <a:t> (draws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distributions</a:t>
            </a:r>
            <a:r>
              <a:rPr lang="nl-NL" dirty="0"/>
              <a:t>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output matrix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/>
              <a:t>Run model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input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write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 in output matrix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9F628-3265-4F47-B5AA-9319D1764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4881488"/>
            <a:ext cx="84201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99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F108-6EAE-4F35-80C1-751B16E7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32" y="643012"/>
            <a:ext cx="7852200" cy="792088"/>
          </a:xfrm>
        </p:spPr>
        <p:txBody>
          <a:bodyPr/>
          <a:lstStyle/>
          <a:p>
            <a:r>
              <a:rPr lang="en-US" dirty="0"/>
              <a:t>7 Step of ‘PSA’ Markov</a:t>
            </a:r>
          </a:p>
        </p:txBody>
      </p:sp>
      <p:sp>
        <p:nvSpPr>
          <p:cNvPr id="3" name="Shape 580">
            <a:extLst>
              <a:ext uri="{FF2B5EF4-FFF2-40B4-BE49-F238E27FC236}">
                <a16:creationId xmlns:a16="http://schemas.microsoft.com/office/drawing/2014/main" id="{E9372EEF-0257-4EC1-B581-4DF23F993E5C}"/>
              </a:ext>
            </a:extLst>
          </p:cNvPr>
          <p:cNvSpPr txBox="1">
            <a:spLocks/>
          </p:cNvSpPr>
          <p:nvPr/>
        </p:nvSpPr>
        <p:spPr>
          <a:xfrm>
            <a:off x="846116" y="1772816"/>
            <a:ext cx="7620000" cy="4555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2226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325438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63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3813" indent="-322263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250" indent="-323850" algn="l" defTabSz="914400" rtl="0" eaLnBrk="1" latinLnBrk="0" hangingPunct="1">
              <a:lnSpc>
                <a:spcPts val="25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healthstates</a:t>
            </a:r>
            <a:r>
              <a:rPr lang="nl-NL" dirty="0"/>
              <a:t>,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length</a:t>
            </a:r>
            <a:r>
              <a:rPr lang="nl-NL" dirty="0"/>
              <a:t> etc.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input </a:t>
            </a:r>
            <a:r>
              <a:rPr lang="nl-NL" dirty="0" err="1"/>
              <a:t>function</a:t>
            </a:r>
            <a:r>
              <a:rPr lang="nl-NL" dirty="0"/>
              <a:t> 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model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initialize</a:t>
            </a:r>
            <a:r>
              <a:rPr lang="nl-NL" dirty="0"/>
              <a:t>, run </a:t>
            </a:r>
            <a:r>
              <a:rPr lang="nl-NL" dirty="0" err="1"/>
              <a:t>and</a:t>
            </a:r>
            <a:r>
              <a:rPr lang="nl-NL" dirty="0"/>
              <a:t> output model)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/>
              <a:t>Run input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i="1" dirty="0" err="1"/>
              <a:t>n.sim</a:t>
            </a:r>
            <a:r>
              <a:rPr lang="nl-NL" dirty="0" err="1"/>
              <a:t>-times</a:t>
            </a:r>
            <a:r>
              <a:rPr lang="nl-NL" dirty="0"/>
              <a:t> (draws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distributions</a:t>
            </a:r>
            <a:r>
              <a:rPr lang="nl-NL" dirty="0"/>
              <a:t>)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 err="1"/>
              <a:t>Initialize</a:t>
            </a:r>
            <a:r>
              <a:rPr lang="nl-NL" dirty="0"/>
              <a:t> output matrix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/>
              <a:t>Run model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input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write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 in output matrix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r>
              <a:rPr lang="nl-NL" dirty="0"/>
              <a:t>Profit!</a:t>
            </a:r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800"/>
              </a:spcBef>
              <a:buSzPts val="2200"/>
              <a:buFont typeface="+mj-lt"/>
              <a:buAutoNum type="arabicPeriod"/>
            </a:pPr>
            <a:endParaRPr lang="nl-NL" dirty="0"/>
          </a:p>
          <a:p>
            <a:pPr marL="546100" indent="-457200">
              <a:spcBef>
                <a:spcPts val="1000"/>
              </a:spcBef>
              <a:buSzPts val="2200"/>
              <a:buFont typeface="+mj-lt"/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7233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551"/>
          <p:cNvSpPr txBox="1">
            <a:spLocks noGrp="1"/>
          </p:cNvSpPr>
          <p:nvPr>
            <p:ph type="title"/>
          </p:nvPr>
        </p:nvSpPr>
        <p:spPr>
          <a:xfrm>
            <a:off x="645900" y="1484784"/>
            <a:ext cx="78522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nl-NL" sz="4800" dirty="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– </a:t>
            </a:r>
            <a:r>
              <a:rPr lang="nl-NL" dirty="0" err="1"/>
              <a:t>Markov</a:t>
            </a:r>
            <a:r>
              <a:rPr lang="nl-NL" dirty="0"/>
              <a:t> Model</a:t>
            </a:r>
            <a:br>
              <a:rPr lang="nl-NL" dirty="0"/>
            </a:br>
            <a:br>
              <a:rPr lang="nl-NL" dirty="0"/>
            </a:br>
            <a:r>
              <a:rPr lang="nl-NL" dirty="0"/>
              <a:t>https://github.com/StanWijn/DMIG</a:t>
            </a:r>
            <a:endParaRPr dirty="0"/>
          </a:p>
        </p:txBody>
      </p:sp>
      <p:sp>
        <p:nvSpPr>
          <p:cNvPr id="552" name="Shape 552"/>
          <p:cNvSpPr txBox="1">
            <a:spLocks noGrp="1"/>
          </p:cNvSpPr>
          <p:nvPr>
            <p:ph type="sldNum" idx="12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24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29F95-F259-40A6-9B2B-632EBA246E2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910" y="3287183"/>
            <a:ext cx="4234180" cy="29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05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0A9F-D1DB-47DD-8489-02DD8A9C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075" y="692696"/>
            <a:ext cx="7951500" cy="763500"/>
          </a:xfrm>
        </p:spPr>
        <p:txBody>
          <a:bodyPr/>
          <a:lstStyle/>
          <a:p>
            <a:r>
              <a:rPr lang="nl-NL" dirty="0" err="1"/>
              <a:t>Literature</a:t>
            </a:r>
            <a:r>
              <a:rPr lang="nl-NL" dirty="0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FB48-3305-4A6C-9011-9AD34572D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Tutorial </a:t>
            </a:r>
            <a:r>
              <a:rPr lang="nl-NL" dirty="0" err="1"/>
              <a:t>Microsimulation</a:t>
            </a:r>
            <a:r>
              <a:rPr lang="nl-NL" dirty="0"/>
              <a:t>: </a:t>
            </a:r>
          </a:p>
          <a:p>
            <a:pPr lvl="1"/>
            <a:r>
              <a:rPr lang="nl-NL" dirty="0">
                <a:hlinkClick r:id="rId2"/>
              </a:rPr>
              <a:t>http://journals.sagepub.com/doi/full/10.1177/0272989X18754513</a:t>
            </a:r>
            <a:endParaRPr lang="nl-NL" dirty="0"/>
          </a:p>
          <a:p>
            <a:endParaRPr lang="nl-NL" dirty="0"/>
          </a:p>
          <a:p>
            <a:r>
              <a:rPr lang="nl-NL" dirty="0"/>
              <a:t>General </a:t>
            </a:r>
            <a:r>
              <a:rPr lang="nl-NL" dirty="0" err="1"/>
              <a:t>overview</a:t>
            </a:r>
            <a:r>
              <a:rPr lang="nl-NL" dirty="0"/>
              <a:t> of R </a:t>
            </a:r>
            <a:r>
              <a:rPr lang="nl-NL" dirty="0" err="1"/>
              <a:t>modelling</a:t>
            </a:r>
            <a:r>
              <a:rPr lang="nl-NL" dirty="0"/>
              <a:t>: </a:t>
            </a:r>
          </a:p>
          <a:p>
            <a:pPr lvl="1"/>
            <a:r>
              <a:rPr lang="nl-NL" dirty="0"/>
              <a:t>http://journals.sagepub.com/doi/abs/10.1177/0272989X16686559?url_ver=Z39.88-2003&amp;rfr_id=ori:rid:crossref.org&amp;rfr_dat=cr_pub%3dpubmed</a:t>
            </a:r>
          </a:p>
        </p:txBody>
      </p:sp>
    </p:spTree>
    <p:extLst>
      <p:ext uri="{BB962C8B-B14F-4D97-AF65-F5344CB8AC3E}">
        <p14:creationId xmlns:p14="http://schemas.microsoft.com/office/powerpoint/2010/main" val="244941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167A-D790-4B9E-9ADA-EA8B1922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54EDB-E531-4422-AEE5-B0BDFA6D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Image result for radboudumc logo">
            <a:extLst>
              <a:ext uri="{FF2B5EF4-FFF2-40B4-BE49-F238E27FC236}">
                <a16:creationId xmlns:a16="http://schemas.microsoft.com/office/drawing/2014/main" id="{65ACCE7B-0D33-4DE2-8305-4043F4F3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68" y="1784412"/>
            <a:ext cx="6948264" cy="3474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75454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4x3">
  <a:themeElements>
    <a:clrScheme name="Radboudumc">
      <a:dk1>
        <a:srgbClr val="000000"/>
      </a:dk1>
      <a:lt1>
        <a:sysClr val="window" lastClr="FFFFFF"/>
      </a:lt1>
      <a:dk2>
        <a:srgbClr val="00AFDC"/>
      </a:dk2>
      <a:lt2>
        <a:srgbClr val="FFFFFF"/>
      </a:lt2>
      <a:accent1>
        <a:srgbClr val="006991"/>
      </a:accent1>
      <a:accent2>
        <a:srgbClr val="7FB4C8"/>
      </a:accent2>
      <a:accent3>
        <a:srgbClr val="00AFDC"/>
      </a:accent3>
      <a:accent4>
        <a:srgbClr val="7FD7ED"/>
      </a:accent4>
      <a:accent5>
        <a:srgbClr val="CCCCCC"/>
      </a:accent5>
      <a:accent6>
        <a:srgbClr val="E6E6E6"/>
      </a:accent6>
      <a:hlink>
        <a:srgbClr val="000000"/>
      </a:hlink>
      <a:folHlink>
        <a:srgbClr val="00AFDC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Presentatie_4x3</Template>
  <TotalTime>3056</TotalTime>
  <Words>961</Words>
  <Application>Microsoft Office PowerPoint</Application>
  <PresentationFormat>On-screen Show (4:3)</PresentationFormat>
  <Paragraphs>181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Presentatie_4x3</vt:lpstr>
      <vt:lpstr>      Workshop:  Decision modelling in R Part 2 </vt:lpstr>
      <vt:lpstr>Today</vt:lpstr>
      <vt:lpstr>Disclaimer</vt:lpstr>
      <vt:lpstr>General tips</vt:lpstr>
      <vt:lpstr>General tips</vt:lpstr>
      <vt:lpstr>PowerPoint Presentation</vt:lpstr>
      <vt:lpstr>PowerPoint Presentation</vt:lpstr>
      <vt:lpstr>Cycle dependancies?</vt:lpstr>
      <vt:lpstr>R Session – Decision Tree   https://github.com/StanWijn/DMIG</vt:lpstr>
      <vt:lpstr>PowerPoint Presentation</vt:lpstr>
      <vt:lpstr>4 Step of ‘default’ Markov</vt:lpstr>
      <vt:lpstr>4 Step of ‘default’ Markov</vt:lpstr>
      <vt:lpstr>4 Step of ‘PSA’ Markov</vt:lpstr>
      <vt:lpstr>Function?</vt:lpstr>
      <vt:lpstr>Functions</vt:lpstr>
      <vt:lpstr>7 Step of ‘PSA’ Markov</vt:lpstr>
      <vt:lpstr>7 Step of ‘PSA’ Markov</vt:lpstr>
      <vt:lpstr>7 Step of ‘PSA’ Markov</vt:lpstr>
      <vt:lpstr>7 Step of ‘PSA’ Markov</vt:lpstr>
      <vt:lpstr>7 Step of ‘PSA’ Markov</vt:lpstr>
      <vt:lpstr>7 Step of ‘PSA’ Markov</vt:lpstr>
      <vt:lpstr>7 Step of ‘PSA’ Markov</vt:lpstr>
      <vt:lpstr>7 Step of ‘PSA’ Markov</vt:lpstr>
      <vt:lpstr>R Session – Markov Model  https://github.com/StanWijn/DMIG</vt:lpstr>
      <vt:lpstr>Literature:</vt:lpstr>
      <vt:lpstr>PowerPoint Presentation</vt:lpstr>
    </vt:vector>
  </TitlesOfParts>
  <Company>UMC St Radboud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Grutters</dc:creator>
  <dc:description>versie 1.0</dc:description>
  <cp:lastModifiedBy>Stan Wijn</cp:lastModifiedBy>
  <cp:revision>243</cp:revision>
  <cp:lastPrinted>2018-02-27T13:14:38Z</cp:lastPrinted>
  <dcterms:created xsi:type="dcterms:W3CDTF">2013-10-16T15:06:57Z</dcterms:created>
  <dcterms:modified xsi:type="dcterms:W3CDTF">2019-03-22T09:14:36Z</dcterms:modified>
  <cp:category>Huisstijl</cp:category>
</cp:coreProperties>
</file>