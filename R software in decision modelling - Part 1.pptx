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383" r:id="rId3"/>
    <p:sldId id="395" r:id="rId4"/>
    <p:sldId id="373" r:id="rId5"/>
    <p:sldId id="364" r:id="rId6"/>
    <p:sldId id="262" r:id="rId7"/>
    <p:sldId id="274" r:id="rId8"/>
    <p:sldId id="387" r:id="rId9"/>
    <p:sldId id="280" r:id="rId10"/>
    <p:sldId id="367" r:id="rId11"/>
    <p:sldId id="285" r:id="rId12"/>
    <p:sldId id="374" r:id="rId13"/>
    <p:sldId id="290" r:id="rId14"/>
    <p:sldId id="384" r:id="rId15"/>
    <p:sldId id="292" r:id="rId16"/>
    <p:sldId id="385" r:id="rId17"/>
    <p:sldId id="296" r:id="rId18"/>
    <p:sldId id="297" r:id="rId19"/>
    <p:sldId id="389" r:id="rId20"/>
    <p:sldId id="394" r:id="rId21"/>
    <p:sldId id="298" r:id="rId22"/>
    <p:sldId id="386" r:id="rId23"/>
    <p:sldId id="291" r:id="rId24"/>
    <p:sldId id="365" r:id="rId25"/>
    <p:sldId id="304" r:id="rId26"/>
    <p:sldId id="305" r:id="rId27"/>
    <p:sldId id="391" r:id="rId28"/>
    <p:sldId id="392" r:id="rId29"/>
    <p:sldId id="375" r:id="rId30"/>
    <p:sldId id="313" r:id="rId31"/>
    <p:sldId id="393" r:id="rId32"/>
    <p:sldId id="388" r:id="rId33"/>
    <p:sldId id="396" r:id="rId34"/>
    <p:sldId id="281" r:id="rId35"/>
    <p:sldId id="322" r:id="rId36"/>
    <p:sldId id="376" r:id="rId37"/>
    <p:sldId id="331" r:id="rId38"/>
  </p:sldIdLst>
  <p:sldSz cx="9144000" cy="6858000" type="screen4x3"/>
  <p:notesSz cx="7315200" cy="96012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tan Wijn" initials="SW" lastIdx="1" clrIdx="0">
    <p:extLst>
      <p:ext uri="{19B8F6BF-5375-455C-9EA6-DF929625EA0E}">
        <p15:presenceInfo xmlns:p15="http://schemas.microsoft.com/office/powerpoint/2012/main" userId="011f624bc35983c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006600"/>
    <a:srgbClr val="339933"/>
    <a:srgbClr val="A5002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808" autoAdjust="0"/>
  </p:normalViewPr>
  <p:slideViewPr>
    <p:cSldViewPr>
      <p:cViewPr varScale="1">
        <p:scale>
          <a:sx n="105" d="100"/>
          <a:sy n="105" d="100"/>
        </p:scale>
        <p:origin x="1638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ABEE1EBA-AC86-4632-8267-60DAA6EE8046}" type="datetimeFigureOut">
              <a:rPr lang="nl-NL" smtClean="0"/>
              <a:pPr/>
              <a:t>8-3-2019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0BEF2B7B-34A8-4724-86CF-428DD182CB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91582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1257300" y="720725"/>
            <a:ext cx="4800600" cy="36004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ea typeface="ＭＳ Ｐゴシック" pitchFamily="34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E8E526B-2B5D-4785-9435-10CBB1799114}" type="slidenum">
              <a:rPr lang="nl-NL"/>
              <a:pPr/>
              <a:t>1</a:t>
            </a:fld>
            <a:endParaRPr lang="nl-NL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Shape 27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Shape 27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000" b="1" dirty="0">
                <a:solidFill>
                  <a:schemeClr val="dk1"/>
                </a:solidFill>
                <a:highlight>
                  <a:srgbClr val="FFFFFF"/>
                </a:highlight>
              </a:rPr>
              <a:t>The </a:t>
            </a:r>
            <a:r>
              <a:rPr lang="nl-NL" sz="1000" b="1" dirty="0" err="1">
                <a:solidFill>
                  <a:schemeClr val="dk1"/>
                </a:solidFill>
                <a:highlight>
                  <a:srgbClr val="FFFFFF"/>
                </a:highlight>
              </a:rPr>
              <a:t>aim</a:t>
            </a:r>
            <a:r>
              <a:rPr lang="nl-NL" sz="1000" b="1" dirty="0">
                <a:solidFill>
                  <a:schemeClr val="dk1"/>
                </a:solidFill>
                <a:highlight>
                  <a:srgbClr val="FFFFFF"/>
                </a:highlight>
              </a:rPr>
              <a:t> of </a:t>
            </a:r>
            <a:r>
              <a:rPr lang="nl-NL" sz="1000" b="1" dirty="0" err="1">
                <a:solidFill>
                  <a:schemeClr val="dk1"/>
                </a:solidFill>
                <a:highlight>
                  <a:srgbClr val="FFFFFF"/>
                </a:highlight>
              </a:rPr>
              <a:t>this</a:t>
            </a:r>
            <a:r>
              <a:rPr lang="nl-NL" sz="1000" b="1" dirty="0">
                <a:solidFill>
                  <a:schemeClr val="dk1"/>
                </a:solidFill>
                <a:highlight>
                  <a:srgbClr val="FFFFFF"/>
                </a:highlight>
              </a:rPr>
              <a:t> review was </a:t>
            </a:r>
            <a:r>
              <a:rPr lang="nl-NL" sz="1000" b="1" dirty="0" err="1">
                <a:solidFill>
                  <a:schemeClr val="dk1"/>
                </a:solidFill>
                <a:highlight>
                  <a:srgbClr val="FFFFFF"/>
                </a:highlight>
              </a:rPr>
              <a:t>to</a:t>
            </a:r>
            <a:r>
              <a:rPr lang="nl-NL" sz="1000" b="1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nl-NL" sz="1000" b="1" dirty="0" err="1">
                <a:solidFill>
                  <a:schemeClr val="dk1"/>
                </a:solidFill>
                <a:highlight>
                  <a:srgbClr val="FFFFFF"/>
                </a:highlight>
              </a:rPr>
              <a:t>inform</a:t>
            </a:r>
            <a:r>
              <a:rPr lang="nl-NL" sz="1000" b="1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nl-NL" sz="1000" b="1" dirty="0" err="1">
                <a:solidFill>
                  <a:schemeClr val="dk1"/>
                </a:solidFill>
                <a:highlight>
                  <a:srgbClr val="FFFFFF"/>
                </a:highlight>
              </a:rPr>
              <a:t>the</a:t>
            </a:r>
            <a:r>
              <a:rPr lang="nl-NL" sz="1000" b="1" dirty="0">
                <a:solidFill>
                  <a:schemeClr val="dk1"/>
                </a:solidFill>
                <a:highlight>
                  <a:srgbClr val="FFFFFF"/>
                </a:highlight>
              </a:rPr>
              <a:t> update of </a:t>
            </a:r>
            <a:r>
              <a:rPr lang="nl-NL" sz="1000" b="1" dirty="0" err="1">
                <a:solidFill>
                  <a:schemeClr val="dk1"/>
                </a:solidFill>
                <a:highlight>
                  <a:srgbClr val="FFFFFF"/>
                </a:highlight>
              </a:rPr>
              <a:t>the</a:t>
            </a:r>
            <a:r>
              <a:rPr lang="nl-NL" sz="1000" b="1" dirty="0">
                <a:solidFill>
                  <a:schemeClr val="dk1"/>
                </a:solidFill>
                <a:highlight>
                  <a:srgbClr val="FFFFFF"/>
                </a:highlight>
              </a:rPr>
              <a:t> NICE Technology </a:t>
            </a:r>
            <a:r>
              <a:rPr lang="nl-NL" sz="1000" b="1" dirty="0" err="1">
                <a:solidFill>
                  <a:schemeClr val="dk1"/>
                </a:solidFill>
                <a:highlight>
                  <a:srgbClr val="FFFFFF"/>
                </a:highlight>
              </a:rPr>
              <a:t>Appraisal</a:t>
            </a:r>
            <a:r>
              <a:rPr lang="nl-NL" sz="1000" b="1" dirty="0">
                <a:solidFill>
                  <a:schemeClr val="dk1"/>
                </a:solidFill>
                <a:highlight>
                  <a:srgbClr val="FFFFFF"/>
                </a:highlight>
              </a:rPr>
              <a:t> software </a:t>
            </a:r>
            <a:r>
              <a:rPr lang="nl-NL" sz="1000" b="1" dirty="0" err="1">
                <a:solidFill>
                  <a:schemeClr val="dk1"/>
                </a:solidFill>
                <a:highlight>
                  <a:srgbClr val="FFFFFF"/>
                </a:highlight>
              </a:rPr>
              <a:t>requirements</a:t>
            </a:r>
            <a:r>
              <a:rPr lang="nl-NL" sz="1000" b="1" dirty="0">
                <a:solidFill>
                  <a:schemeClr val="dk1"/>
                </a:solidFill>
                <a:highlight>
                  <a:srgbClr val="FFFFFF"/>
                </a:highlight>
              </a:rPr>
              <a:t> for </a:t>
            </a:r>
            <a:r>
              <a:rPr lang="nl-NL" sz="1000" b="1" dirty="0" err="1">
                <a:solidFill>
                  <a:schemeClr val="dk1"/>
                </a:solidFill>
                <a:highlight>
                  <a:srgbClr val="FFFFFF"/>
                </a:highlight>
              </a:rPr>
              <a:t>economic</a:t>
            </a:r>
            <a:r>
              <a:rPr lang="nl-NL" sz="1000" b="1" dirty="0">
                <a:solidFill>
                  <a:schemeClr val="dk1"/>
                </a:solidFill>
                <a:highlight>
                  <a:srgbClr val="FFFFFF"/>
                </a:highlight>
              </a:rPr>
              <a:t> model </a:t>
            </a:r>
            <a:r>
              <a:rPr lang="nl-NL" sz="1000" b="1" dirty="0" err="1">
                <a:solidFill>
                  <a:schemeClr val="dk1"/>
                </a:solidFill>
                <a:highlight>
                  <a:srgbClr val="FFFFFF"/>
                </a:highlight>
              </a:rPr>
              <a:t>submissions</a:t>
            </a:r>
            <a:r>
              <a:rPr lang="nl-NL" sz="1000" b="1" dirty="0">
                <a:solidFill>
                  <a:schemeClr val="dk1"/>
                </a:solidFill>
                <a:highlight>
                  <a:srgbClr val="FFFFFF"/>
                </a:highlight>
              </a:rPr>
              <a:t>.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An online survey of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key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stakeholders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submitting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economic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models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for NICE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technology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appraisals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was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conducted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to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assess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the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capacity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to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use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different software packages for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economic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modelling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(development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and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review). The survey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also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asked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stakeholders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to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describe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the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nl-NL" sz="1000" b="1" dirty="0" err="1">
                <a:solidFill>
                  <a:schemeClr val="dk1"/>
                </a:solidFill>
                <a:highlight>
                  <a:srgbClr val="FFFFFF"/>
                </a:highlight>
              </a:rPr>
              <a:t>strengths</a:t>
            </a:r>
            <a:r>
              <a:rPr lang="nl-NL" sz="1000" b="1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nl-NL" sz="1000" b="1" dirty="0" err="1">
                <a:solidFill>
                  <a:schemeClr val="dk1"/>
                </a:solidFill>
                <a:highlight>
                  <a:srgbClr val="FFFFFF"/>
                </a:highlight>
              </a:rPr>
              <a:t>and</a:t>
            </a:r>
            <a:r>
              <a:rPr lang="nl-NL" sz="1000" b="1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nl-NL" sz="1000" b="1" dirty="0" err="1">
                <a:solidFill>
                  <a:schemeClr val="dk1"/>
                </a:solidFill>
                <a:highlight>
                  <a:srgbClr val="FFFFFF"/>
                </a:highlight>
              </a:rPr>
              <a:t>weaknesses</a:t>
            </a:r>
            <a:r>
              <a:rPr lang="nl-NL" sz="1000" b="1" dirty="0">
                <a:solidFill>
                  <a:schemeClr val="dk1"/>
                </a:solidFill>
                <a:highlight>
                  <a:srgbClr val="FFFFFF"/>
                </a:highlight>
              </a:rPr>
              <a:t> of </a:t>
            </a:r>
            <a:r>
              <a:rPr lang="nl-NL" sz="1000" b="1" dirty="0" err="1">
                <a:solidFill>
                  <a:schemeClr val="dk1"/>
                </a:solidFill>
                <a:highlight>
                  <a:srgbClr val="FFFFFF"/>
                </a:highlight>
              </a:rPr>
              <a:t>alternative</a:t>
            </a:r>
            <a:r>
              <a:rPr lang="nl-NL" sz="1000" b="1" dirty="0">
                <a:solidFill>
                  <a:schemeClr val="dk1"/>
                </a:solidFill>
                <a:highlight>
                  <a:srgbClr val="FFFFFF"/>
                </a:highlight>
              </a:rPr>
              <a:t> software packages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. 44 stakeholders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were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invited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to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the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survey,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with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33 (75%)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providing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a response. MS Excel had been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used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by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100% of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respondents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,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with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TreeAge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Pro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the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next most common (57%). </a:t>
            </a:r>
            <a:r>
              <a:rPr lang="nl-NL" sz="1000" b="1" dirty="0">
                <a:solidFill>
                  <a:schemeClr val="dk1"/>
                </a:solidFill>
                <a:highlight>
                  <a:srgbClr val="FFFFFF"/>
                </a:highlight>
              </a:rPr>
              <a:t>The </a:t>
            </a:r>
            <a:r>
              <a:rPr lang="nl-NL" sz="1000" b="1" dirty="0" err="1">
                <a:solidFill>
                  <a:schemeClr val="dk1"/>
                </a:solidFill>
                <a:highlight>
                  <a:srgbClr val="FFFFFF"/>
                </a:highlight>
              </a:rPr>
              <a:t>statistical</a:t>
            </a:r>
            <a:r>
              <a:rPr lang="nl-NL" sz="1000" b="1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nl-NL" sz="1000" b="1" dirty="0" err="1">
                <a:solidFill>
                  <a:schemeClr val="dk1"/>
                </a:solidFill>
                <a:highlight>
                  <a:srgbClr val="FFFFFF"/>
                </a:highlight>
              </a:rPr>
              <a:t>language</a:t>
            </a:r>
            <a:r>
              <a:rPr lang="nl-NL" sz="1000" b="1" dirty="0">
                <a:solidFill>
                  <a:schemeClr val="dk1"/>
                </a:solidFill>
                <a:highlight>
                  <a:srgbClr val="FFFFFF"/>
                </a:highlight>
              </a:rPr>
              <a:t> R had been </a:t>
            </a:r>
            <a:r>
              <a:rPr lang="nl-NL" sz="1000" b="1" dirty="0" err="1">
                <a:solidFill>
                  <a:schemeClr val="dk1"/>
                </a:solidFill>
                <a:highlight>
                  <a:srgbClr val="FFFFFF"/>
                </a:highlight>
              </a:rPr>
              <a:t>used</a:t>
            </a:r>
            <a:r>
              <a:rPr lang="nl-NL" sz="1000" b="1" dirty="0">
                <a:solidFill>
                  <a:schemeClr val="dk1"/>
                </a:solidFill>
                <a:highlight>
                  <a:srgbClr val="FFFFFF"/>
                </a:highlight>
              </a:rPr>
              <a:t> 3 </a:t>
            </a:r>
            <a:r>
              <a:rPr lang="nl-NL" sz="1000" b="1" dirty="0" err="1">
                <a:solidFill>
                  <a:schemeClr val="dk1"/>
                </a:solidFill>
                <a:highlight>
                  <a:srgbClr val="FFFFFF"/>
                </a:highlight>
              </a:rPr>
              <a:t>times</a:t>
            </a:r>
            <a:r>
              <a:rPr lang="nl-NL" sz="1000" b="1" dirty="0">
                <a:solidFill>
                  <a:schemeClr val="dk1"/>
                </a:solidFill>
                <a:highlight>
                  <a:srgbClr val="FFFFFF"/>
                </a:highlight>
              </a:rPr>
              <a:t> in a </a:t>
            </a:r>
            <a:r>
              <a:rPr lang="nl-NL" sz="1000" b="1" dirty="0" err="1">
                <a:solidFill>
                  <a:schemeClr val="dk1"/>
                </a:solidFill>
                <a:highlight>
                  <a:srgbClr val="FFFFFF"/>
                </a:highlight>
              </a:rPr>
              <a:t>submission</a:t>
            </a:r>
            <a:r>
              <a:rPr lang="nl-NL" sz="1000" b="1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nl-NL" sz="1000" b="1" dirty="0" err="1">
                <a:solidFill>
                  <a:schemeClr val="dk1"/>
                </a:solidFill>
                <a:highlight>
                  <a:srgbClr val="FFFFFF"/>
                </a:highlight>
              </a:rPr>
              <a:t>to</a:t>
            </a:r>
            <a:r>
              <a:rPr lang="nl-NL" sz="1000" b="1" dirty="0">
                <a:solidFill>
                  <a:schemeClr val="dk1"/>
                </a:solidFill>
                <a:highlight>
                  <a:srgbClr val="FFFFFF"/>
                </a:highlight>
              </a:rPr>
              <a:t> NICE.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The </a:t>
            </a:r>
            <a:r>
              <a:rPr lang="nl-NL" sz="1000" b="1" dirty="0" err="1">
                <a:solidFill>
                  <a:schemeClr val="dk1"/>
                </a:solidFill>
                <a:highlight>
                  <a:srgbClr val="FFFFFF"/>
                </a:highlight>
              </a:rPr>
              <a:t>main</a:t>
            </a:r>
            <a:r>
              <a:rPr lang="nl-NL" sz="1000" b="1" dirty="0">
                <a:solidFill>
                  <a:schemeClr val="dk1"/>
                </a:solidFill>
                <a:highlight>
                  <a:srgbClr val="FFFFFF"/>
                </a:highlight>
              </a:rPr>
              <a:t> concerns </a:t>
            </a:r>
            <a:r>
              <a:rPr lang="nl-NL" sz="1000" b="1" dirty="0" err="1">
                <a:solidFill>
                  <a:schemeClr val="dk1"/>
                </a:solidFill>
                <a:highlight>
                  <a:srgbClr val="FFFFFF"/>
                </a:highlight>
              </a:rPr>
              <a:t>noted</a:t>
            </a:r>
            <a:r>
              <a:rPr lang="nl-NL" sz="1000" b="1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nl-NL" sz="1000" b="1" dirty="0" err="1">
                <a:solidFill>
                  <a:schemeClr val="dk1"/>
                </a:solidFill>
                <a:highlight>
                  <a:srgbClr val="FFFFFF"/>
                </a:highlight>
              </a:rPr>
              <a:t>were</a:t>
            </a:r>
            <a:r>
              <a:rPr lang="nl-NL" sz="1000" b="1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nl-NL" sz="1000" b="1" dirty="0" err="1">
                <a:solidFill>
                  <a:schemeClr val="dk1"/>
                </a:solidFill>
                <a:highlight>
                  <a:srgbClr val="FFFFFF"/>
                </a:highlight>
              </a:rPr>
              <a:t>the</a:t>
            </a:r>
            <a:r>
              <a:rPr lang="nl-NL" sz="1000" b="1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nl-NL" sz="1000" b="1" dirty="0" err="1">
                <a:solidFill>
                  <a:schemeClr val="dk1"/>
                </a:solidFill>
                <a:highlight>
                  <a:srgbClr val="FFFFFF"/>
                </a:highlight>
              </a:rPr>
              <a:t>ability</a:t>
            </a:r>
            <a:r>
              <a:rPr lang="nl-NL" sz="1000" b="1" dirty="0">
                <a:solidFill>
                  <a:schemeClr val="dk1"/>
                </a:solidFill>
                <a:highlight>
                  <a:srgbClr val="FFFFFF"/>
                </a:highlight>
              </a:rPr>
              <a:t> of MS Excel </a:t>
            </a:r>
            <a:r>
              <a:rPr lang="nl-NL" sz="1000" b="1" dirty="0" err="1">
                <a:solidFill>
                  <a:schemeClr val="dk1"/>
                </a:solidFill>
                <a:highlight>
                  <a:srgbClr val="FFFFFF"/>
                </a:highlight>
              </a:rPr>
              <a:t>and</a:t>
            </a:r>
            <a:r>
              <a:rPr lang="nl-NL" sz="1000" b="1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nl-NL" sz="1000" b="1" dirty="0" err="1">
                <a:solidFill>
                  <a:schemeClr val="dk1"/>
                </a:solidFill>
                <a:highlight>
                  <a:srgbClr val="FFFFFF"/>
                </a:highlight>
              </a:rPr>
              <a:t>TreeAge</a:t>
            </a:r>
            <a:r>
              <a:rPr lang="nl-NL" sz="1000" b="1" dirty="0">
                <a:solidFill>
                  <a:schemeClr val="dk1"/>
                </a:solidFill>
                <a:highlight>
                  <a:srgbClr val="FFFFFF"/>
                </a:highlight>
              </a:rPr>
              <a:t> Pro </a:t>
            </a:r>
            <a:r>
              <a:rPr lang="nl-NL" sz="1000" b="1" dirty="0" err="1">
                <a:solidFill>
                  <a:schemeClr val="dk1"/>
                </a:solidFill>
                <a:highlight>
                  <a:srgbClr val="FFFFFF"/>
                </a:highlight>
              </a:rPr>
              <a:t>to</a:t>
            </a:r>
            <a:r>
              <a:rPr lang="nl-NL" sz="1000" b="1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nl-NL" sz="1000" b="1" dirty="0" err="1">
                <a:solidFill>
                  <a:schemeClr val="dk1"/>
                </a:solidFill>
                <a:highlight>
                  <a:srgbClr val="FFFFFF"/>
                </a:highlight>
              </a:rPr>
              <a:t>undertake</a:t>
            </a:r>
            <a:r>
              <a:rPr lang="nl-NL" sz="1000" b="1" dirty="0">
                <a:solidFill>
                  <a:schemeClr val="dk1"/>
                </a:solidFill>
                <a:highlight>
                  <a:srgbClr val="FFFFFF"/>
                </a:highlight>
              </a:rPr>
              <a:t> more complex </a:t>
            </a:r>
            <a:r>
              <a:rPr lang="nl-NL" sz="1000" b="1" dirty="0" err="1">
                <a:solidFill>
                  <a:schemeClr val="dk1"/>
                </a:solidFill>
                <a:highlight>
                  <a:srgbClr val="FFFFFF"/>
                </a:highlight>
              </a:rPr>
              <a:t>modelling</a:t>
            </a:r>
            <a:r>
              <a:rPr lang="nl-NL" sz="1000" b="1" dirty="0">
                <a:solidFill>
                  <a:schemeClr val="dk1"/>
                </a:solidFill>
                <a:highlight>
                  <a:srgbClr val="FFFFFF"/>
                </a:highlight>
              </a:rPr>
              <a:t>, </a:t>
            </a:r>
            <a:r>
              <a:rPr lang="nl-NL" sz="1000" b="1" dirty="0" err="1">
                <a:solidFill>
                  <a:schemeClr val="dk1"/>
                </a:solidFill>
                <a:highlight>
                  <a:srgbClr val="FFFFFF"/>
                </a:highlight>
              </a:rPr>
              <a:t>including</a:t>
            </a:r>
            <a:r>
              <a:rPr lang="nl-NL" sz="1000" b="1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nl-NL" sz="1000" b="1" dirty="0" err="1">
                <a:solidFill>
                  <a:schemeClr val="dk1"/>
                </a:solidFill>
                <a:highlight>
                  <a:srgbClr val="FFFFFF"/>
                </a:highlight>
              </a:rPr>
              <a:t>patient</a:t>
            </a:r>
            <a:r>
              <a:rPr lang="nl-NL" sz="1000" b="1" dirty="0">
                <a:solidFill>
                  <a:schemeClr val="dk1"/>
                </a:solidFill>
                <a:highlight>
                  <a:srgbClr val="FFFFFF"/>
                </a:highlight>
              </a:rPr>
              <a:t> level </a:t>
            </a:r>
            <a:r>
              <a:rPr lang="nl-NL" sz="1000" b="1" dirty="0" err="1">
                <a:solidFill>
                  <a:schemeClr val="dk1"/>
                </a:solidFill>
                <a:highlight>
                  <a:srgbClr val="FFFFFF"/>
                </a:highlight>
              </a:rPr>
              <a:t>simulations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.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However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,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respondents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noted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that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many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simulation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software packages are</a:t>
            </a:r>
            <a:r>
              <a:rPr lang="nl-NL" sz="1000" b="1" dirty="0">
                <a:solidFill>
                  <a:schemeClr val="dk1"/>
                </a:solidFill>
                <a:highlight>
                  <a:srgbClr val="FFFFFF"/>
                </a:highlight>
              </a:rPr>
              <a:t> commercial </a:t>
            </a:r>
            <a:r>
              <a:rPr lang="nl-NL" sz="1000" b="1" dirty="0" err="1">
                <a:solidFill>
                  <a:schemeClr val="dk1"/>
                </a:solidFill>
                <a:highlight>
                  <a:srgbClr val="FFFFFF"/>
                </a:highlight>
              </a:rPr>
              <a:t>and</a:t>
            </a:r>
            <a:r>
              <a:rPr lang="nl-NL" sz="1000" b="1" dirty="0">
                <a:solidFill>
                  <a:schemeClr val="dk1"/>
                </a:solidFill>
                <a:highlight>
                  <a:srgbClr val="FFFFFF"/>
                </a:highlight>
              </a:rPr>
              <a:t> black box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,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which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may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have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licensing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and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validation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issues for NICE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appraisals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.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There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was no strong consensus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about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whether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NICE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should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formally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accept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models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developed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in software packages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other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than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MS Excel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and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TreeAge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Pro.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Some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respondents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were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concerned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with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the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cost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and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training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implications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, in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particular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for review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groups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,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while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others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strongly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favoured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the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use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of </a:t>
            </a:r>
            <a:r>
              <a:rPr lang="nl-NL" sz="1000" dirty="0" err="1">
                <a:solidFill>
                  <a:schemeClr val="dk1"/>
                </a:solidFill>
                <a:highlight>
                  <a:srgbClr val="FFFFFF"/>
                </a:highlight>
              </a:rPr>
              <a:t>other</a:t>
            </a:r>
            <a:r>
              <a:rPr lang="nl-NL" sz="1000" dirty="0">
                <a:solidFill>
                  <a:schemeClr val="dk1"/>
                </a:solidFill>
                <a:highlight>
                  <a:srgbClr val="FFFFFF"/>
                </a:highlight>
              </a:rPr>
              <a:t> software.</a:t>
            </a: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Shape 38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Shape 3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Shape 42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Shape 42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/>
              <a:t>When want to implement new methods that haven’t already been incorporated in traditional canned softwares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Shape 45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Shape 46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Shape 49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Shape 49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Shape 50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Shape 50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Shape 50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Shape 50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Shape 53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Shape 53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Shape 53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Shape 54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F2B7B-34A8-4724-86CF-428DD182CBEA}" type="slidenum">
              <a:rPr lang="nl-NL" smtClean="0"/>
              <a:pPr/>
              <a:t>19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857716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F2B7B-34A8-4724-86CF-428DD182CBEA}" type="slidenum">
              <a:rPr lang="nl-NL" smtClean="0"/>
              <a:pPr/>
              <a:t>20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497267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Shape 54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Shape 54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F2B7B-34A8-4724-86CF-428DD182CBEA}" type="slidenum">
              <a:rPr lang="nl-NL" smtClean="0"/>
              <a:pPr/>
              <a:t>22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481095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Shape 50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Shape 50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Shape 57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Shape 57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Shape 59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Shape 59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Shape 60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Shape 60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Shape 604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nl-NL"/>
              <a:t>26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Shape 765"/>
          <p:cNvSpPr txBox="1">
            <a:spLocks noGrp="1"/>
          </p:cNvSpPr>
          <p:nvPr>
            <p:ph type="body" idx="1"/>
          </p:nvPr>
        </p:nvSpPr>
        <p:spPr>
          <a:xfrm>
            <a:off x="685800" y="4343401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66" name="Shape 766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684213"/>
            <a:ext cx="4570412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592432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Shape 765"/>
          <p:cNvSpPr txBox="1">
            <a:spLocks noGrp="1"/>
          </p:cNvSpPr>
          <p:nvPr>
            <p:ph type="body" idx="1"/>
          </p:nvPr>
        </p:nvSpPr>
        <p:spPr>
          <a:xfrm>
            <a:off x="685800" y="4343401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6" name="Shape 766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684213"/>
            <a:ext cx="4570412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28866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Shape 85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Shape 85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Shape 54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Shape 54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/>
              <a:t>Part 1 = Showing code 3 state model</a:t>
            </a:r>
            <a:endParaRPr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/>
              <a:t>Part 2 = Exercise build Sick-Sicker model </a:t>
            </a:r>
            <a:endParaRPr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/>
              <a:t>Part 3 = Show answers of Sick-Sicker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6325614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Shape 43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Shape 43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Shape 432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942882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Shape 92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0" name="Shape 93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Rechthoek 7"/>
          <p:cNvSpPr/>
          <p:nvPr userDrawn="1"/>
        </p:nvSpPr>
        <p:spPr>
          <a:xfrm>
            <a:off x="521500" y="594000"/>
            <a:ext cx="8100000" cy="42125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846000" y="1003462"/>
            <a:ext cx="7452000" cy="5334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845540" y="1650209"/>
            <a:ext cx="7452000" cy="533400"/>
          </a:xfrm>
        </p:spPr>
        <p:txBody>
          <a:bodyPr>
            <a:noAutofit/>
          </a:bodyPr>
          <a:lstStyle>
            <a:lvl1pPr marL="0" indent="0" algn="l">
              <a:lnSpc>
                <a:spcPts val="4200"/>
              </a:lnSpc>
              <a:buNone/>
              <a:defRPr sz="4000"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 om het opmaakprofiel van de modelondertitel te bewerken</a:t>
            </a:r>
            <a:endParaRPr lang="nl-NL" dirty="0"/>
          </a:p>
        </p:txBody>
      </p:sp>
      <p:sp>
        <p:nvSpPr>
          <p:cNvPr id="11" name="Rechthoek 10"/>
          <p:cNvSpPr/>
          <p:nvPr userDrawn="1"/>
        </p:nvSpPr>
        <p:spPr>
          <a:xfrm>
            <a:off x="521500" y="5292000"/>
            <a:ext cx="8100000" cy="10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0"/>
          </p:nvPr>
        </p:nvSpPr>
        <p:spPr>
          <a:xfrm>
            <a:off x="846000" y="4078255"/>
            <a:ext cx="5346157" cy="6350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nl-NL"/>
              <a:t>Klik om de modelstijlen te bewerken</a:t>
            </a:r>
          </a:p>
        </p:txBody>
      </p:sp>
      <p:pic>
        <p:nvPicPr>
          <p:cNvPr id="17" name="Afbeelding 1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68000" y="6264000"/>
            <a:ext cx="2426807" cy="30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479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846000" y="1003462"/>
            <a:ext cx="7452000" cy="533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845540" y="1650209"/>
            <a:ext cx="7452000" cy="533400"/>
          </a:xfrm>
        </p:spPr>
        <p:txBody>
          <a:bodyPr>
            <a:noAutofit/>
          </a:bodyPr>
          <a:lstStyle>
            <a:lvl1pPr marL="0" indent="0" algn="l">
              <a:lnSpc>
                <a:spcPts val="4200"/>
              </a:lnSpc>
              <a:buNone/>
              <a:defRPr sz="40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 om het opmaakprofiel van de modelondertitel te bewerken</a:t>
            </a:r>
            <a:endParaRPr lang="nl-NL" dirty="0"/>
          </a:p>
        </p:txBody>
      </p:sp>
      <p:sp>
        <p:nvSpPr>
          <p:cNvPr id="11" name="Rechthoek 10"/>
          <p:cNvSpPr/>
          <p:nvPr userDrawn="1"/>
        </p:nvSpPr>
        <p:spPr>
          <a:xfrm>
            <a:off x="521500" y="5292000"/>
            <a:ext cx="8100000" cy="10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0"/>
          </p:nvPr>
        </p:nvSpPr>
        <p:spPr>
          <a:xfrm>
            <a:off x="846000" y="4078255"/>
            <a:ext cx="5346157" cy="6350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nl-NL"/>
              <a:t>Klik om de modelstijlen te bewerken</a:t>
            </a:r>
          </a:p>
        </p:txBody>
      </p:sp>
      <p:pic>
        <p:nvPicPr>
          <p:cNvPr id="17" name="Afbeelding 1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68000" y="6264000"/>
            <a:ext cx="2426807" cy="302400"/>
          </a:xfrm>
          <a:prstGeom prst="rect">
            <a:avLst/>
          </a:prstGeom>
        </p:spPr>
      </p:pic>
      <p:sp>
        <p:nvSpPr>
          <p:cNvPr id="9" name="Rechthoek 8"/>
          <p:cNvSpPr/>
          <p:nvPr userDrawn="1"/>
        </p:nvSpPr>
        <p:spPr>
          <a:xfrm>
            <a:off x="522000" y="594000"/>
            <a:ext cx="8100000" cy="50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45441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&lt;datum&gt;</a:t>
            </a:r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&lt;Titel van de presentatie&gt;</a:t>
            </a:r>
          </a:p>
        </p:txBody>
      </p:sp>
      <p:sp>
        <p:nvSpPr>
          <p:cNvPr id="7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22000" y="6414409"/>
            <a:ext cx="810000" cy="15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lnSpc>
                <a:spcPts val="1200"/>
              </a:lnSpc>
              <a:defRPr sz="1000">
                <a:solidFill>
                  <a:schemeClr val="accent1"/>
                </a:solidFill>
              </a:defRPr>
            </a:lvl1pPr>
          </a:lstStyle>
          <a:p>
            <a:r>
              <a:rPr lang="nl-NL"/>
              <a:t>Pagina </a:t>
            </a:r>
            <a:fld id="{7FC9B413-936F-403B-BC98-20250EBFF374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781968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&lt;datum&gt;</a:t>
            </a:r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&lt;Titel van de presentatie&gt;</a:t>
            </a:r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nl-NL"/>
              <a:t>Pagina </a:t>
            </a:r>
            <a:fld id="{7FC9B413-936F-403B-BC98-20250EBFF374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6" name="Ondertitel 2"/>
          <p:cNvSpPr>
            <a:spLocks noGrp="1"/>
          </p:cNvSpPr>
          <p:nvPr>
            <p:ph type="subTitle" idx="1"/>
          </p:nvPr>
        </p:nvSpPr>
        <p:spPr>
          <a:xfrm>
            <a:off x="522000" y="1650209"/>
            <a:ext cx="8100000" cy="533400"/>
          </a:xfrm>
        </p:spPr>
        <p:txBody>
          <a:bodyPr>
            <a:noAutofit/>
          </a:bodyPr>
          <a:lstStyle>
            <a:lvl1pPr marL="0" indent="0" algn="l">
              <a:lnSpc>
                <a:spcPts val="4200"/>
              </a:lnSpc>
              <a:buNone/>
              <a:defRPr sz="40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 om het opmaakprofiel van de modelondertitel te bewerken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08550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dia met 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22000" y="1004344"/>
            <a:ext cx="8100000" cy="533400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&lt;datum&gt;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&lt;Titel van de presentatie&gt;</a:t>
            </a:r>
          </a:p>
        </p:txBody>
      </p:sp>
      <p:sp>
        <p:nvSpPr>
          <p:cNvPr id="9" name="Tijdelijke aanduiding voor grafiek 8"/>
          <p:cNvSpPr>
            <a:spLocks noGrp="1"/>
          </p:cNvSpPr>
          <p:nvPr>
            <p:ph type="chart" sz="quarter" idx="13"/>
          </p:nvPr>
        </p:nvSpPr>
        <p:spPr>
          <a:xfrm>
            <a:off x="4647600" y="1652400"/>
            <a:ext cx="3974900" cy="4125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nl-NL"/>
              <a:t>Klik op het pictogram als u een grafiek wilt toevoegen</a:t>
            </a:r>
            <a:endParaRPr lang="nl-NL" dirty="0"/>
          </a:p>
        </p:txBody>
      </p:sp>
      <p:sp>
        <p:nvSpPr>
          <p:cNvPr id="11" name="Tijdelijke aanduiding voor tekst 10"/>
          <p:cNvSpPr>
            <a:spLocks noGrp="1"/>
          </p:cNvSpPr>
          <p:nvPr>
            <p:ph type="body" sz="quarter" idx="14"/>
          </p:nvPr>
        </p:nvSpPr>
        <p:spPr>
          <a:xfrm>
            <a:off x="522288" y="1652001"/>
            <a:ext cx="4039200" cy="4124912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22000" y="6414409"/>
            <a:ext cx="810000" cy="15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lnSpc>
                <a:spcPts val="1200"/>
              </a:lnSpc>
              <a:defRPr sz="1000">
                <a:solidFill>
                  <a:schemeClr val="accent1"/>
                </a:solidFill>
              </a:defRPr>
            </a:lvl1pPr>
          </a:lstStyle>
          <a:p>
            <a:r>
              <a:rPr lang="nl-NL"/>
              <a:t>Pagina </a:t>
            </a:r>
            <a:fld id="{7FC9B413-936F-403B-BC98-20250EBFF374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01451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dia met be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22000" y="1004344"/>
            <a:ext cx="8100000" cy="533400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&lt;datum&gt;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&lt;Titel van de presentatie&gt;</a:t>
            </a:r>
          </a:p>
        </p:txBody>
      </p:sp>
      <p:sp>
        <p:nvSpPr>
          <p:cNvPr id="11" name="Tijdelijke aanduiding voor tekst 10"/>
          <p:cNvSpPr>
            <a:spLocks noGrp="1"/>
          </p:cNvSpPr>
          <p:nvPr>
            <p:ph type="body" sz="quarter" idx="14"/>
          </p:nvPr>
        </p:nvSpPr>
        <p:spPr>
          <a:xfrm>
            <a:off x="522288" y="1652400"/>
            <a:ext cx="4039200" cy="4125600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4" name="Tijdelijke aanduiding voor afbeelding 3"/>
          <p:cNvSpPr>
            <a:spLocks noGrp="1"/>
          </p:cNvSpPr>
          <p:nvPr>
            <p:ph type="pic" sz="quarter" idx="15"/>
          </p:nvPr>
        </p:nvSpPr>
        <p:spPr>
          <a:xfrm>
            <a:off x="4647600" y="1652400"/>
            <a:ext cx="3974900" cy="4125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0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22000" y="6414409"/>
            <a:ext cx="810000" cy="15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lnSpc>
                <a:spcPts val="1200"/>
              </a:lnSpc>
              <a:defRPr sz="1000">
                <a:solidFill>
                  <a:schemeClr val="accent1"/>
                </a:solidFill>
              </a:defRPr>
            </a:lvl1pPr>
          </a:lstStyle>
          <a:p>
            <a:r>
              <a:rPr lang="nl-NL"/>
              <a:t>Pagina </a:t>
            </a:r>
            <a:fld id="{7FC9B413-936F-403B-BC98-20250EBFF374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57219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elddia met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22000" y="1004344"/>
            <a:ext cx="8100000" cy="533400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&lt;datum&gt;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&lt;Titel van de presentatie&gt;</a:t>
            </a:r>
          </a:p>
        </p:txBody>
      </p:sp>
      <p:sp>
        <p:nvSpPr>
          <p:cNvPr id="4" name="Tijdelijke aanduiding voor afbeelding 3"/>
          <p:cNvSpPr>
            <a:spLocks noGrp="1"/>
          </p:cNvSpPr>
          <p:nvPr>
            <p:ph type="pic" sz="quarter" idx="15"/>
          </p:nvPr>
        </p:nvSpPr>
        <p:spPr>
          <a:xfrm>
            <a:off x="521500" y="1652400"/>
            <a:ext cx="8101000" cy="4125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8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22000" y="6414409"/>
            <a:ext cx="810000" cy="15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lnSpc>
                <a:spcPts val="1200"/>
              </a:lnSpc>
              <a:defRPr sz="1000">
                <a:solidFill>
                  <a:schemeClr val="accent1"/>
                </a:solidFill>
              </a:defRPr>
            </a:lvl1pPr>
          </a:lstStyle>
          <a:p>
            <a:r>
              <a:rPr lang="nl-NL"/>
              <a:t>Pagina </a:t>
            </a:r>
            <a:fld id="{7FC9B413-936F-403B-BC98-20250EBFF374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7330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elddia zonde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&lt;datum&gt;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&lt;Titel van de presentatie&gt;</a:t>
            </a:r>
          </a:p>
        </p:txBody>
      </p:sp>
      <p:sp>
        <p:nvSpPr>
          <p:cNvPr id="4" name="Tijdelijke aanduiding voor afbeelding 3"/>
          <p:cNvSpPr>
            <a:spLocks noGrp="1"/>
          </p:cNvSpPr>
          <p:nvPr>
            <p:ph type="pic" sz="quarter" idx="15"/>
          </p:nvPr>
        </p:nvSpPr>
        <p:spPr>
          <a:xfrm>
            <a:off x="521500" y="592931"/>
            <a:ext cx="8101000" cy="5185069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8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22000" y="6414409"/>
            <a:ext cx="810000" cy="15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lnSpc>
                <a:spcPts val="1200"/>
              </a:lnSpc>
              <a:defRPr sz="1000">
                <a:solidFill>
                  <a:schemeClr val="accent1"/>
                </a:solidFill>
              </a:defRPr>
            </a:lvl1pPr>
          </a:lstStyle>
          <a:p>
            <a:r>
              <a:rPr lang="nl-NL"/>
              <a:t>Pagina </a:t>
            </a:r>
            <a:fld id="{7FC9B413-936F-403B-BC98-20250EBFF374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95853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eld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afbeelding 3"/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9144000" cy="6857999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grpSp>
        <p:nvGrpSpPr>
          <p:cNvPr id="25" name="Groep 24"/>
          <p:cNvGrpSpPr/>
          <p:nvPr userDrawn="1"/>
        </p:nvGrpSpPr>
        <p:grpSpPr>
          <a:xfrm>
            <a:off x="5867400" y="6264275"/>
            <a:ext cx="2427288" cy="301626"/>
            <a:chOff x="5867400" y="6264275"/>
            <a:chExt cx="2427288" cy="301626"/>
          </a:xfrm>
        </p:grpSpPr>
        <p:sp>
          <p:nvSpPr>
            <p:cNvPr id="15" name="Freeform 10"/>
            <p:cNvSpPr>
              <a:spLocks noEditPoints="1"/>
            </p:cNvSpPr>
            <p:nvPr userDrawn="1"/>
          </p:nvSpPr>
          <p:spPr bwMode="auto">
            <a:xfrm>
              <a:off x="5867400" y="6264275"/>
              <a:ext cx="258763" cy="295275"/>
            </a:xfrm>
            <a:custGeom>
              <a:avLst/>
              <a:gdLst>
                <a:gd name="T0" fmla="*/ 389 w 407"/>
                <a:gd name="T1" fmla="*/ 424 h 463"/>
                <a:gd name="T2" fmla="*/ 352 w 407"/>
                <a:gd name="T3" fmla="*/ 397 h 463"/>
                <a:gd name="T4" fmla="*/ 248 w 407"/>
                <a:gd name="T5" fmla="*/ 229 h 463"/>
                <a:gd name="T6" fmla="*/ 346 w 407"/>
                <a:gd name="T7" fmla="*/ 108 h 463"/>
                <a:gd name="T8" fmla="*/ 185 w 407"/>
                <a:gd name="T9" fmla="*/ 0 h 463"/>
                <a:gd name="T10" fmla="*/ 8 w 407"/>
                <a:gd name="T11" fmla="*/ 0 h 463"/>
                <a:gd name="T12" fmla="*/ 0 w 407"/>
                <a:gd name="T13" fmla="*/ 11 h 463"/>
                <a:gd name="T14" fmla="*/ 0 w 407"/>
                <a:gd name="T15" fmla="*/ 24 h 463"/>
                <a:gd name="T16" fmla="*/ 17 w 407"/>
                <a:gd name="T17" fmla="*/ 39 h 463"/>
                <a:gd name="T18" fmla="*/ 46 w 407"/>
                <a:gd name="T19" fmla="*/ 47 h 463"/>
                <a:gd name="T20" fmla="*/ 46 w 407"/>
                <a:gd name="T21" fmla="*/ 417 h 463"/>
                <a:gd name="T22" fmla="*/ 17 w 407"/>
                <a:gd name="T23" fmla="*/ 424 h 463"/>
                <a:gd name="T24" fmla="*/ 0 w 407"/>
                <a:gd name="T25" fmla="*/ 440 h 463"/>
                <a:gd name="T26" fmla="*/ 0 w 407"/>
                <a:gd name="T27" fmla="*/ 453 h 463"/>
                <a:gd name="T28" fmla="*/ 8 w 407"/>
                <a:gd name="T29" fmla="*/ 463 h 463"/>
                <a:gd name="T30" fmla="*/ 167 w 407"/>
                <a:gd name="T31" fmla="*/ 463 h 463"/>
                <a:gd name="T32" fmla="*/ 176 w 407"/>
                <a:gd name="T33" fmla="*/ 453 h 463"/>
                <a:gd name="T34" fmla="*/ 176 w 407"/>
                <a:gd name="T35" fmla="*/ 440 h 463"/>
                <a:gd name="T36" fmla="*/ 158 w 407"/>
                <a:gd name="T37" fmla="*/ 424 h 463"/>
                <a:gd name="T38" fmla="*/ 129 w 407"/>
                <a:gd name="T39" fmla="*/ 417 h 463"/>
                <a:gd name="T40" fmla="*/ 129 w 407"/>
                <a:gd name="T41" fmla="*/ 242 h 463"/>
                <a:gd name="T42" fmla="*/ 171 w 407"/>
                <a:gd name="T43" fmla="*/ 242 h 463"/>
                <a:gd name="T44" fmla="*/ 287 w 407"/>
                <a:gd name="T45" fmla="*/ 452 h 463"/>
                <a:gd name="T46" fmla="*/ 309 w 407"/>
                <a:gd name="T47" fmla="*/ 463 h 463"/>
                <a:gd name="T48" fmla="*/ 398 w 407"/>
                <a:gd name="T49" fmla="*/ 463 h 463"/>
                <a:gd name="T50" fmla="*/ 407 w 407"/>
                <a:gd name="T51" fmla="*/ 453 h 463"/>
                <a:gd name="T52" fmla="*/ 407 w 407"/>
                <a:gd name="T53" fmla="*/ 440 h 463"/>
                <a:gd name="T54" fmla="*/ 389 w 407"/>
                <a:gd name="T55" fmla="*/ 424 h 463"/>
                <a:gd name="T56" fmla="*/ 145 w 407"/>
                <a:gd name="T57" fmla="*/ 203 h 463"/>
                <a:gd name="T58" fmla="*/ 130 w 407"/>
                <a:gd name="T59" fmla="*/ 203 h 463"/>
                <a:gd name="T60" fmla="*/ 130 w 407"/>
                <a:gd name="T61" fmla="*/ 43 h 463"/>
                <a:gd name="T62" fmla="*/ 162 w 407"/>
                <a:gd name="T63" fmla="*/ 43 h 463"/>
                <a:gd name="T64" fmla="*/ 257 w 407"/>
                <a:gd name="T65" fmla="*/ 121 h 463"/>
                <a:gd name="T66" fmla="*/ 145 w 407"/>
                <a:gd name="T67" fmla="*/ 203 h 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07" h="463">
                  <a:moveTo>
                    <a:pt x="389" y="424"/>
                  </a:moveTo>
                  <a:cubicBezTo>
                    <a:pt x="371" y="420"/>
                    <a:pt x="367" y="417"/>
                    <a:pt x="352" y="397"/>
                  </a:cubicBezTo>
                  <a:cubicBezTo>
                    <a:pt x="330" y="367"/>
                    <a:pt x="278" y="292"/>
                    <a:pt x="248" y="229"/>
                  </a:cubicBezTo>
                  <a:cubicBezTo>
                    <a:pt x="304" y="209"/>
                    <a:pt x="346" y="170"/>
                    <a:pt x="346" y="108"/>
                  </a:cubicBezTo>
                  <a:cubicBezTo>
                    <a:pt x="346" y="20"/>
                    <a:pt x="261" y="0"/>
                    <a:pt x="18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" y="0"/>
                    <a:pt x="0" y="4"/>
                    <a:pt x="0" y="11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35"/>
                    <a:pt x="4" y="35"/>
                    <a:pt x="17" y="39"/>
                  </a:cubicBezTo>
                  <a:cubicBezTo>
                    <a:pt x="46" y="47"/>
                    <a:pt x="46" y="47"/>
                    <a:pt x="46" y="47"/>
                  </a:cubicBezTo>
                  <a:cubicBezTo>
                    <a:pt x="46" y="417"/>
                    <a:pt x="46" y="417"/>
                    <a:pt x="46" y="417"/>
                  </a:cubicBezTo>
                  <a:cubicBezTo>
                    <a:pt x="17" y="424"/>
                    <a:pt x="17" y="424"/>
                    <a:pt x="17" y="424"/>
                  </a:cubicBezTo>
                  <a:cubicBezTo>
                    <a:pt x="4" y="428"/>
                    <a:pt x="0" y="429"/>
                    <a:pt x="0" y="440"/>
                  </a:cubicBezTo>
                  <a:cubicBezTo>
                    <a:pt x="0" y="453"/>
                    <a:pt x="0" y="453"/>
                    <a:pt x="0" y="453"/>
                  </a:cubicBezTo>
                  <a:cubicBezTo>
                    <a:pt x="0" y="459"/>
                    <a:pt x="1" y="463"/>
                    <a:pt x="8" y="463"/>
                  </a:cubicBezTo>
                  <a:cubicBezTo>
                    <a:pt x="167" y="463"/>
                    <a:pt x="167" y="463"/>
                    <a:pt x="167" y="463"/>
                  </a:cubicBezTo>
                  <a:cubicBezTo>
                    <a:pt x="175" y="463"/>
                    <a:pt x="176" y="459"/>
                    <a:pt x="176" y="453"/>
                  </a:cubicBezTo>
                  <a:cubicBezTo>
                    <a:pt x="176" y="440"/>
                    <a:pt x="176" y="440"/>
                    <a:pt x="176" y="440"/>
                  </a:cubicBezTo>
                  <a:cubicBezTo>
                    <a:pt x="176" y="429"/>
                    <a:pt x="172" y="428"/>
                    <a:pt x="158" y="424"/>
                  </a:cubicBezTo>
                  <a:cubicBezTo>
                    <a:pt x="129" y="417"/>
                    <a:pt x="129" y="417"/>
                    <a:pt x="129" y="417"/>
                  </a:cubicBezTo>
                  <a:cubicBezTo>
                    <a:pt x="129" y="242"/>
                    <a:pt x="129" y="242"/>
                    <a:pt x="129" y="242"/>
                  </a:cubicBezTo>
                  <a:cubicBezTo>
                    <a:pt x="171" y="242"/>
                    <a:pt x="171" y="242"/>
                    <a:pt x="171" y="242"/>
                  </a:cubicBezTo>
                  <a:cubicBezTo>
                    <a:pt x="201" y="311"/>
                    <a:pt x="266" y="424"/>
                    <a:pt x="287" y="452"/>
                  </a:cubicBezTo>
                  <a:cubicBezTo>
                    <a:pt x="295" y="463"/>
                    <a:pt x="298" y="463"/>
                    <a:pt x="309" y="463"/>
                  </a:cubicBezTo>
                  <a:cubicBezTo>
                    <a:pt x="398" y="463"/>
                    <a:pt x="398" y="463"/>
                    <a:pt x="398" y="463"/>
                  </a:cubicBezTo>
                  <a:cubicBezTo>
                    <a:pt x="406" y="463"/>
                    <a:pt x="407" y="459"/>
                    <a:pt x="407" y="453"/>
                  </a:cubicBezTo>
                  <a:cubicBezTo>
                    <a:pt x="407" y="440"/>
                    <a:pt x="407" y="440"/>
                    <a:pt x="407" y="440"/>
                  </a:cubicBezTo>
                  <a:cubicBezTo>
                    <a:pt x="407" y="427"/>
                    <a:pt x="400" y="428"/>
                    <a:pt x="389" y="424"/>
                  </a:cubicBezTo>
                  <a:close/>
                  <a:moveTo>
                    <a:pt x="145" y="203"/>
                  </a:moveTo>
                  <a:cubicBezTo>
                    <a:pt x="130" y="203"/>
                    <a:pt x="130" y="203"/>
                    <a:pt x="130" y="203"/>
                  </a:cubicBezTo>
                  <a:cubicBezTo>
                    <a:pt x="130" y="43"/>
                    <a:pt x="130" y="43"/>
                    <a:pt x="130" y="43"/>
                  </a:cubicBezTo>
                  <a:cubicBezTo>
                    <a:pt x="162" y="43"/>
                    <a:pt x="162" y="43"/>
                    <a:pt x="162" y="43"/>
                  </a:cubicBezTo>
                  <a:cubicBezTo>
                    <a:pt x="222" y="43"/>
                    <a:pt x="257" y="66"/>
                    <a:pt x="257" y="121"/>
                  </a:cubicBezTo>
                  <a:cubicBezTo>
                    <a:pt x="257" y="189"/>
                    <a:pt x="205" y="203"/>
                    <a:pt x="145" y="20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16" name="Freeform 11"/>
            <p:cNvSpPr>
              <a:spLocks noEditPoints="1"/>
            </p:cNvSpPr>
            <p:nvPr userDrawn="1"/>
          </p:nvSpPr>
          <p:spPr bwMode="auto">
            <a:xfrm>
              <a:off x="6350000" y="6264275"/>
              <a:ext cx="220663" cy="301625"/>
            </a:xfrm>
            <a:custGeom>
              <a:avLst/>
              <a:gdLst>
                <a:gd name="T0" fmla="*/ 331 w 348"/>
                <a:gd name="T1" fmla="*/ 428 h 473"/>
                <a:gd name="T2" fmla="*/ 299 w 348"/>
                <a:gd name="T3" fmla="*/ 418 h 473"/>
                <a:gd name="T4" fmla="*/ 299 w 348"/>
                <a:gd name="T5" fmla="*/ 16 h 473"/>
                <a:gd name="T6" fmla="*/ 284 w 348"/>
                <a:gd name="T7" fmla="*/ 0 h 473"/>
                <a:gd name="T8" fmla="*/ 186 w 348"/>
                <a:gd name="T9" fmla="*/ 0 h 473"/>
                <a:gd name="T10" fmla="*/ 178 w 348"/>
                <a:gd name="T11" fmla="*/ 11 h 473"/>
                <a:gd name="T12" fmla="*/ 178 w 348"/>
                <a:gd name="T13" fmla="*/ 19 h 473"/>
                <a:gd name="T14" fmla="*/ 196 w 348"/>
                <a:gd name="T15" fmla="*/ 36 h 473"/>
                <a:gd name="T16" fmla="*/ 227 w 348"/>
                <a:gd name="T17" fmla="*/ 45 h 473"/>
                <a:gd name="T18" fmla="*/ 227 w 348"/>
                <a:gd name="T19" fmla="*/ 158 h 473"/>
                <a:gd name="T20" fmla="*/ 153 w 348"/>
                <a:gd name="T21" fmla="*/ 133 h 473"/>
                <a:gd name="T22" fmla="*/ 0 w 348"/>
                <a:gd name="T23" fmla="*/ 313 h 473"/>
                <a:gd name="T24" fmla="*/ 123 w 348"/>
                <a:gd name="T25" fmla="*/ 473 h 473"/>
                <a:gd name="T26" fmla="*/ 227 w 348"/>
                <a:gd name="T27" fmla="*/ 420 h 473"/>
                <a:gd name="T28" fmla="*/ 227 w 348"/>
                <a:gd name="T29" fmla="*/ 447 h 473"/>
                <a:gd name="T30" fmla="*/ 242 w 348"/>
                <a:gd name="T31" fmla="*/ 463 h 473"/>
                <a:gd name="T32" fmla="*/ 340 w 348"/>
                <a:gd name="T33" fmla="*/ 463 h 473"/>
                <a:gd name="T34" fmla="*/ 348 w 348"/>
                <a:gd name="T35" fmla="*/ 453 h 473"/>
                <a:gd name="T36" fmla="*/ 348 w 348"/>
                <a:gd name="T37" fmla="*/ 444 h 473"/>
                <a:gd name="T38" fmla="*/ 331 w 348"/>
                <a:gd name="T39" fmla="*/ 428 h 473"/>
                <a:gd name="T40" fmla="*/ 227 w 348"/>
                <a:gd name="T41" fmla="*/ 379 h 473"/>
                <a:gd name="T42" fmla="*/ 153 w 348"/>
                <a:gd name="T43" fmla="*/ 418 h 473"/>
                <a:gd name="T44" fmla="*/ 77 w 348"/>
                <a:gd name="T45" fmla="*/ 299 h 473"/>
                <a:gd name="T46" fmla="*/ 158 w 348"/>
                <a:gd name="T47" fmla="*/ 179 h 473"/>
                <a:gd name="T48" fmla="*/ 227 w 348"/>
                <a:gd name="T49" fmla="*/ 299 h 473"/>
                <a:gd name="T50" fmla="*/ 227 w 348"/>
                <a:gd name="T51" fmla="*/ 379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48" h="473">
                  <a:moveTo>
                    <a:pt x="331" y="428"/>
                  </a:moveTo>
                  <a:cubicBezTo>
                    <a:pt x="299" y="418"/>
                    <a:pt x="299" y="418"/>
                    <a:pt x="299" y="418"/>
                  </a:cubicBezTo>
                  <a:cubicBezTo>
                    <a:pt x="299" y="16"/>
                    <a:pt x="299" y="16"/>
                    <a:pt x="299" y="16"/>
                  </a:cubicBezTo>
                  <a:cubicBezTo>
                    <a:pt x="299" y="6"/>
                    <a:pt x="296" y="0"/>
                    <a:pt x="284" y="0"/>
                  </a:cubicBezTo>
                  <a:cubicBezTo>
                    <a:pt x="186" y="0"/>
                    <a:pt x="186" y="0"/>
                    <a:pt x="186" y="0"/>
                  </a:cubicBezTo>
                  <a:cubicBezTo>
                    <a:pt x="179" y="0"/>
                    <a:pt x="178" y="4"/>
                    <a:pt x="178" y="11"/>
                  </a:cubicBezTo>
                  <a:cubicBezTo>
                    <a:pt x="178" y="19"/>
                    <a:pt x="178" y="19"/>
                    <a:pt x="178" y="19"/>
                  </a:cubicBezTo>
                  <a:cubicBezTo>
                    <a:pt x="178" y="31"/>
                    <a:pt x="182" y="32"/>
                    <a:pt x="196" y="36"/>
                  </a:cubicBezTo>
                  <a:cubicBezTo>
                    <a:pt x="227" y="45"/>
                    <a:pt x="227" y="45"/>
                    <a:pt x="227" y="45"/>
                  </a:cubicBezTo>
                  <a:cubicBezTo>
                    <a:pt x="227" y="158"/>
                    <a:pt x="227" y="158"/>
                    <a:pt x="227" y="158"/>
                  </a:cubicBezTo>
                  <a:cubicBezTo>
                    <a:pt x="215" y="148"/>
                    <a:pt x="190" y="133"/>
                    <a:pt x="153" y="133"/>
                  </a:cubicBezTo>
                  <a:cubicBezTo>
                    <a:pt x="81" y="133"/>
                    <a:pt x="0" y="185"/>
                    <a:pt x="0" y="313"/>
                  </a:cubicBezTo>
                  <a:cubicBezTo>
                    <a:pt x="0" y="425"/>
                    <a:pt x="62" y="473"/>
                    <a:pt x="123" y="473"/>
                  </a:cubicBezTo>
                  <a:cubicBezTo>
                    <a:pt x="162" y="473"/>
                    <a:pt x="195" y="453"/>
                    <a:pt x="227" y="420"/>
                  </a:cubicBezTo>
                  <a:cubicBezTo>
                    <a:pt x="227" y="447"/>
                    <a:pt x="227" y="447"/>
                    <a:pt x="227" y="447"/>
                  </a:cubicBezTo>
                  <a:cubicBezTo>
                    <a:pt x="227" y="457"/>
                    <a:pt x="230" y="463"/>
                    <a:pt x="242" y="463"/>
                  </a:cubicBezTo>
                  <a:cubicBezTo>
                    <a:pt x="340" y="463"/>
                    <a:pt x="340" y="463"/>
                    <a:pt x="340" y="463"/>
                  </a:cubicBezTo>
                  <a:cubicBezTo>
                    <a:pt x="347" y="463"/>
                    <a:pt x="348" y="459"/>
                    <a:pt x="348" y="453"/>
                  </a:cubicBezTo>
                  <a:cubicBezTo>
                    <a:pt x="348" y="444"/>
                    <a:pt x="348" y="444"/>
                    <a:pt x="348" y="444"/>
                  </a:cubicBezTo>
                  <a:cubicBezTo>
                    <a:pt x="348" y="432"/>
                    <a:pt x="344" y="432"/>
                    <a:pt x="331" y="428"/>
                  </a:cubicBezTo>
                  <a:close/>
                  <a:moveTo>
                    <a:pt x="227" y="379"/>
                  </a:moveTo>
                  <a:cubicBezTo>
                    <a:pt x="205" y="401"/>
                    <a:pt x="181" y="418"/>
                    <a:pt x="153" y="418"/>
                  </a:cubicBezTo>
                  <a:cubicBezTo>
                    <a:pt x="100" y="418"/>
                    <a:pt x="77" y="362"/>
                    <a:pt x="77" y="299"/>
                  </a:cubicBezTo>
                  <a:cubicBezTo>
                    <a:pt x="77" y="225"/>
                    <a:pt x="109" y="179"/>
                    <a:pt x="158" y="179"/>
                  </a:cubicBezTo>
                  <a:cubicBezTo>
                    <a:pt x="209" y="179"/>
                    <a:pt x="227" y="229"/>
                    <a:pt x="227" y="299"/>
                  </a:cubicBezTo>
                  <a:lnTo>
                    <a:pt x="227" y="3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17" name="Freeform 12"/>
            <p:cNvSpPr>
              <a:spLocks/>
            </p:cNvSpPr>
            <p:nvPr userDrawn="1"/>
          </p:nvSpPr>
          <p:spPr bwMode="auto">
            <a:xfrm>
              <a:off x="7032625" y="6354763"/>
              <a:ext cx="234950" cy="211138"/>
            </a:xfrm>
            <a:custGeom>
              <a:avLst/>
              <a:gdLst>
                <a:gd name="T0" fmla="*/ 323 w 372"/>
                <a:gd name="T1" fmla="*/ 15 h 330"/>
                <a:gd name="T2" fmla="*/ 308 w 372"/>
                <a:gd name="T3" fmla="*/ 0 h 330"/>
                <a:gd name="T4" fmla="*/ 210 w 372"/>
                <a:gd name="T5" fmla="*/ 0 h 330"/>
                <a:gd name="T6" fmla="*/ 202 w 372"/>
                <a:gd name="T7" fmla="*/ 10 h 330"/>
                <a:gd name="T8" fmla="*/ 202 w 372"/>
                <a:gd name="T9" fmla="*/ 19 h 330"/>
                <a:gd name="T10" fmla="*/ 219 w 372"/>
                <a:gd name="T11" fmla="*/ 35 h 330"/>
                <a:gd name="T12" fmla="*/ 251 w 372"/>
                <a:gd name="T13" fmla="*/ 44 h 330"/>
                <a:gd name="T14" fmla="*/ 251 w 372"/>
                <a:gd name="T15" fmla="*/ 236 h 330"/>
                <a:gd name="T16" fmla="*/ 176 w 372"/>
                <a:gd name="T17" fmla="*/ 275 h 330"/>
                <a:gd name="T18" fmla="*/ 121 w 372"/>
                <a:gd name="T19" fmla="*/ 169 h 330"/>
                <a:gd name="T20" fmla="*/ 121 w 372"/>
                <a:gd name="T21" fmla="*/ 15 h 330"/>
                <a:gd name="T22" fmla="*/ 106 w 372"/>
                <a:gd name="T23" fmla="*/ 0 h 330"/>
                <a:gd name="T24" fmla="*/ 8 w 372"/>
                <a:gd name="T25" fmla="*/ 0 h 330"/>
                <a:gd name="T26" fmla="*/ 0 w 372"/>
                <a:gd name="T27" fmla="*/ 10 h 330"/>
                <a:gd name="T28" fmla="*/ 0 w 372"/>
                <a:gd name="T29" fmla="*/ 19 h 330"/>
                <a:gd name="T30" fmla="*/ 18 w 372"/>
                <a:gd name="T31" fmla="*/ 35 h 330"/>
                <a:gd name="T32" fmla="*/ 49 w 372"/>
                <a:gd name="T33" fmla="*/ 44 h 330"/>
                <a:gd name="T34" fmla="*/ 49 w 372"/>
                <a:gd name="T35" fmla="*/ 207 h 330"/>
                <a:gd name="T36" fmla="*/ 145 w 372"/>
                <a:gd name="T37" fmla="*/ 330 h 330"/>
                <a:gd name="T38" fmla="*/ 251 w 372"/>
                <a:gd name="T39" fmla="*/ 277 h 330"/>
                <a:gd name="T40" fmla="*/ 251 w 372"/>
                <a:gd name="T41" fmla="*/ 304 h 330"/>
                <a:gd name="T42" fmla="*/ 266 w 372"/>
                <a:gd name="T43" fmla="*/ 320 h 330"/>
                <a:gd name="T44" fmla="*/ 364 w 372"/>
                <a:gd name="T45" fmla="*/ 320 h 330"/>
                <a:gd name="T46" fmla="*/ 372 w 372"/>
                <a:gd name="T47" fmla="*/ 310 h 330"/>
                <a:gd name="T48" fmla="*/ 372 w 372"/>
                <a:gd name="T49" fmla="*/ 301 h 330"/>
                <a:gd name="T50" fmla="*/ 354 w 372"/>
                <a:gd name="T51" fmla="*/ 285 h 330"/>
                <a:gd name="T52" fmla="*/ 323 w 372"/>
                <a:gd name="T53" fmla="*/ 275 h 330"/>
                <a:gd name="T54" fmla="*/ 323 w 372"/>
                <a:gd name="T55" fmla="*/ 15 h 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72" h="330">
                  <a:moveTo>
                    <a:pt x="323" y="15"/>
                  </a:moveTo>
                  <a:cubicBezTo>
                    <a:pt x="323" y="6"/>
                    <a:pt x="320" y="0"/>
                    <a:pt x="308" y="0"/>
                  </a:cubicBezTo>
                  <a:cubicBezTo>
                    <a:pt x="210" y="0"/>
                    <a:pt x="210" y="0"/>
                    <a:pt x="210" y="0"/>
                  </a:cubicBezTo>
                  <a:cubicBezTo>
                    <a:pt x="202" y="0"/>
                    <a:pt x="202" y="4"/>
                    <a:pt x="202" y="10"/>
                  </a:cubicBezTo>
                  <a:cubicBezTo>
                    <a:pt x="202" y="19"/>
                    <a:pt x="202" y="19"/>
                    <a:pt x="202" y="19"/>
                  </a:cubicBezTo>
                  <a:cubicBezTo>
                    <a:pt x="202" y="31"/>
                    <a:pt x="206" y="31"/>
                    <a:pt x="219" y="35"/>
                  </a:cubicBezTo>
                  <a:cubicBezTo>
                    <a:pt x="251" y="44"/>
                    <a:pt x="251" y="44"/>
                    <a:pt x="251" y="44"/>
                  </a:cubicBezTo>
                  <a:cubicBezTo>
                    <a:pt x="251" y="236"/>
                    <a:pt x="251" y="236"/>
                    <a:pt x="251" y="236"/>
                  </a:cubicBezTo>
                  <a:cubicBezTo>
                    <a:pt x="224" y="264"/>
                    <a:pt x="204" y="275"/>
                    <a:pt x="176" y="275"/>
                  </a:cubicBezTo>
                  <a:cubicBezTo>
                    <a:pt x="125" y="275"/>
                    <a:pt x="121" y="236"/>
                    <a:pt x="121" y="169"/>
                  </a:cubicBezTo>
                  <a:cubicBezTo>
                    <a:pt x="121" y="15"/>
                    <a:pt x="121" y="15"/>
                    <a:pt x="121" y="15"/>
                  </a:cubicBezTo>
                  <a:cubicBezTo>
                    <a:pt x="121" y="6"/>
                    <a:pt x="118" y="0"/>
                    <a:pt x="106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" y="0"/>
                    <a:pt x="0" y="4"/>
                    <a:pt x="0" y="10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31"/>
                    <a:pt x="4" y="31"/>
                    <a:pt x="18" y="35"/>
                  </a:cubicBezTo>
                  <a:cubicBezTo>
                    <a:pt x="49" y="44"/>
                    <a:pt x="49" y="44"/>
                    <a:pt x="49" y="44"/>
                  </a:cubicBezTo>
                  <a:cubicBezTo>
                    <a:pt x="49" y="207"/>
                    <a:pt x="49" y="207"/>
                    <a:pt x="49" y="207"/>
                  </a:cubicBezTo>
                  <a:cubicBezTo>
                    <a:pt x="49" y="309"/>
                    <a:pt x="96" y="330"/>
                    <a:pt x="145" y="330"/>
                  </a:cubicBezTo>
                  <a:cubicBezTo>
                    <a:pt x="188" y="330"/>
                    <a:pt x="220" y="312"/>
                    <a:pt x="251" y="277"/>
                  </a:cubicBezTo>
                  <a:cubicBezTo>
                    <a:pt x="251" y="304"/>
                    <a:pt x="251" y="304"/>
                    <a:pt x="251" y="304"/>
                  </a:cubicBezTo>
                  <a:cubicBezTo>
                    <a:pt x="251" y="314"/>
                    <a:pt x="254" y="320"/>
                    <a:pt x="266" y="320"/>
                  </a:cubicBezTo>
                  <a:cubicBezTo>
                    <a:pt x="364" y="320"/>
                    <a:pt x="364" y="320"/>
                    <a:pt x="364" y="320"/>
                  </a:cubicBezTo>
                  <a:cubicBezTo>
                    <a:pt x="371" y="320"/>
                    <a:pt x="372" y="316"/>
                    <a:pt x="372" y="310"/>
                  </a:cubicBezTo>
                  <a:cubicBezTo>
                    <a:pt x="372" y="301"/>
                    <a:pt x="372" y="301"/>
                    <a:pt x="372" y="301"/>
                  </a:cubicBezTo>
                  <a:cubicBezTo>
                    <a:pt x="372" y="289"/>
                    <a:pt x="368" y="289"/>
                    <a:pt x="354" y="285"/>
                  </a:cubicBezTo>
                  <a:cubicBezTo>
                    <a:pt x="323" y="275"/>
                    <a:pt x="323" y="275"/>
                    <a:pt x="323" y="275"/>
                  </a:cubicBezTo>
                  <a:lnTo>
                    <a:pt x="323" y="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18" name="Freeform 13"/>
            <p:cNvSpPr>
              <a:spLocks noEditPoints="1"/>
            </p:cNvSpPr>
            <p:nvPr userDrawn="1"/>
          </p:nvSpPr>
          <p:spPr bwMode="auto">
            <a:xfrm>
              <a:off x="6140450" y="6348413"/>
              <a:ext cx="195263" cy="217488"/>
            </a:xfrm>
            <a:custGeom>
              <a:avLst/>
              <a:gdLst>
                <a:gd name="T0" fmla="*/ 289 w 307"/>
                <a:gd name="T1" fmla="*/ 295 h 340"/>
                <a:gd name="T2" fmla="*/ 258 w 307"/>
                <a:gd name="T3" fmla="*/ 285 h 340"/>
                <a:gd name="T4" fmla="*/ 258 w 307"/>
                <a:gd name="T5" fmla="*/ 106 h 340"/>
                <a:gd name="T6" fmla="*/ 130 w 307"/>
                <a:gd name="T7" fmla="*/ 0 h 340"/>
                <a:gd name="T8" fmla="*/ 45 w 307"/>
                <a:gd name="T9" fmla="*/ 12 h 340"/>
                <a:gd name="T10" fmla="*/ 22 w 307"/>
                <a:gd name="T11" fmla="*/ 39 h 340"/>
                <a:gd name="T12" fmla="*/ 18 w 307"/>
                <a:gd name="T13" fmla="*/ 74 h 340"/>
                <a:gd name="T14" fmla="*/ 24 w 307"/>
                <a:gd name="T15" fmla="*/ 84 h 340"/>
                <a:gd name="T16" fmla="*/ 43 w 307"/>
                <a:gd name="T17" fmla="*/ 76 h 340"/>
                <a:gd name="T18" fmla="*/ 125 w 307"/>
                <a:gd name="T19" fmla="*/ 54 h 340"/>
                <a:gd name="T20" fmla="*/ 185 w 307"/>
                <a:gd name="T21" fmla="*/ 118 h 340"/>
                <a:gd name="T22" fmla="*/ 185 w 307"/>
                <a:gd name="T23" fmla="*/ 151 h 340"/>
                <a:gd name="T24" fmla="*/ 63 w 307"/>
                <a:gd name="T25" fmla="*/ 176 h 340"/>
                <a:gd name="T26" fmla="*/ 0 w 307"/>
                <a:gd name="T27" fmla="*/ 250 h 340"/>
                <a:gd name="T28" fmla="*/ 83 w 307"/>
                <a:gd name="T29" fmla="*/ 340 h 340"/>
                <a:gd name="T30" fmla="*/ 185 w 307"/>
                <a:gd name="T31" fmla="*/ 290 h 340"/>
                <a:gd name="T32" fmla="*/ 185 w 307"/>
                <a:gd name="T33" fmla="*/ 314 h 340"/>
                <a:gd name="T34" fmla="*/ 200 w 307"/>
                <a:gd name="T35" fmla="*/ 330 h 340"/>
                <a:gd name="T36" fmla="*/ 298 w 307"/>
                <a:gd name="T37" fmla="*/ 330 h 340"/>
                <a:gd name="T38" fmla="*/ 307 w 307"/>
                <a:gd name="T39" fmla="*/ 320 h 340"/>
                <a:gd name="T40" fmla="*/ 307 w 307"/>
                <a:gd name="T41" fmla="*/ 311 h 340"/>
                <a:gd name="T42" fmla="*/ 289 w 307"/>
                <a:gd name="T43" fmla="*/ 295 h 340"/>
                <a:gd name="T44" fmla="*/ 185 w 307"/>
                <a:gd name="T45" fmla="*/ 254 h 340"/>
                <a:gd name="T46" fmla="*/ 116 w 307"/>
                <a:gd name="T47" fmla="*/ 285 h 340"/>
                <a:gd name="T48" fmla="*/ 78 w 307"/>
                <a:gd name="T49" fmla="*/ 244 h 340"/>
                <a:gd name="T50" fmla="*/ 114 w 307"/>
                <a:gd name="T51" fmla="*/ 201 h 340"/>
                <a:gd name="T52" fmla="*/ 185 w 307"/>
                <a:gd name="T53" fmla="*/ 184 h 340"/>
                <a:gd name="T54" fmla="*/ 185 w 307"/>
                <a:gd name="T55" fmla="*/ 254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07" h="340">
                  <a:moveTo>
                    <a:pt x="289" y="295"/>
                  </a:moveTo>
                  <a:cubicBezTo>
                    <a:pt x="258" y="285"/>
                    <a:pt x="258" y="285"/>
                    <a:pt x="258" y="285"/>
                  </a:cubicBezTo>
                  <a:cubicBezTo>
                    <a:pt x="258" y="106"/>
                    <a:pt x="258" y="106"/>
                    <a:pt x="258" y="106"/>
                  </a:cubicBezTo>
                  <a:cubicBezTo>
                    <a:pt x="258" y="27"/>
                    <a:pt x="202" y="0"/>
                    <a:pt x="130" y="0"/>
                  </a:cubicBezTo>
                  <a:cubicBezTo>
                    <a:pt x="87" y="0"/>
                    <a:pt x="52" y="10"/>
                    <a:pt x="45" y="12"/>
                  </a:cubicBezTo>
                  <a:cubicBezTo>
                    <a:pt x="27" y="17"/>
                    <a:pt x="24" y="21"/>
                    <a:pt x="22" y="39"/>
                  </a:cubicBezTo>
                  <a:cubicBezTo>
                    <a:pt x="18" y="74"/>
                    <a:pt x="18" y="74"/>
                    <a:pt x="18" y="74"/>
                  </a:cubicBezTo>
                  <a:cubicBezTo>
                    <a:pt x="18" y="81"/>
                    <a:pt x="20" y="84"/>
                    <a:pt x="24" y="84"/>
                  </a:cubicBezTo>
                  <a:cubicBezTo>
                    <a:pt x="30" y="84"/>
                    <a:pt x="38" y="79"/>
                    <a:pt x="43" y="76"/>
                  </a:cubicBezTo>
                  <a:cubicBezTo>
                    <a:pt x="65" y="64"/>
                    <a:pt x="98" y="54"/>
                    <a:pt x="125" y="54"/>
                  </a:cubicBezTo>
                  <a:cubicBezTo>
                    <a:pt x="182" y="54"/>
                    <a:pt x="185" y="92"/>
                    <a:pt x="185" y="118"/>
                  </a:cubicBezTo>
                  <a:cubicBezTo>
                    <a:pt x="185" y="151"/>
                    <a:pt x="185" y="151"/>
                    <a:pt x="185" y="151"/>
                  </a:cubicBezTo>
                  <a:cubicBezTo>
                    <a:pt x="63" y="176"/>
                    <a:pt x="63" y="176"/>
                    <a:pt x="63" y="176"/>
                  </a:cubicBezTo>
                  <a:cubicBezTo>
                    <a:pt x="22" y="184"/>
                    <a:pt x="0" y="203"/>
                    <a:pt x="0" y="250"/>
                  </a:cubicBezTo>
                  <a:cubicBezTo>
                    <a:pt x="0" y="302"/>
                    <a:pt x="27" y="340"/>
                    <a:pt x="83" y="340"/>
                  </a:cubicBezTo>
                  <a:cubicBezTo>
                    <a:pt x="119" y="340"/>
                    <a:pt x="145" y="328"/>
                    <a:pt x="185" y="290"/>
                  </a:cubicBezTo>
                  <a:cubicBezTo>
                    <a:pt x="185" y="314"/>
                    <a:pt x="185" y="314"/>
                    <a:pt x="185" y="314"/>
                  </a:cubicBezTo>
                  <a:cubicBezTo>
                    <a:pt x="185" y="324"/>
                    <a:pt x="188" y="330"/>
                    <a:pt x="200" y="330"/>
                  </a:cubicBezTo>
                  <a:cubicBezTo>
                    <a:pt x="298" y="330"/>
                    <a:pt x="298" y="330"/>
                    <a:pt x="298" y="330"/>
                  </a:cubicBezTo>
                  <a:cubicBezTo>
                    <a:pt x="305" y="330"/>
                    <a:pt x="307" y="326"/>
                    <a:pt x="307" y="320"/>
                  </a:cubicBezTo>
                  <a:cubicBezTo>
                    <a:pt x="307" y="311"/>
                    <a:pt x="307" y="311"/>
                    <a:pt x="307" y="311"/>
                  </a:cubicBezTo>
                  <a:cubicBezTo>
                    <a:pt x="307" y="299"/>
                    <a:pt x="303" y="299"/>
                    <a:pt x="289" y="295"/>
                  </a:cubicBezTo>
                  <a:close/>
                  <a:moveTo>
                    <a:pt x="185" y="254"/>
                  </a:moveTo>
                  <a:cubicBezTo>
                    <a:pt x="160" y="276"/>
                    <a:pt x="135" y="285"/>
                    <a:pt x="116" y="285"/>
                  </a:cubicBezTo>
                  <a:cubicBezTo>
                    <a:pt x="99" y="285"/>
                    <a:pt x="78" y="278"/>
                    <a:pt x="78" y="244"/>
                  </a:cubicBezTo>
                  <a:cubicBezTo>
                    <a:pt x="78" y="211"/>
                    <a:pt x="97" y="205"/>
                    <a:pt x="114" y="201"/>
                  </a:cubicBezTo>
                  <a:cubicBezTo>
                    <a:pt x="185" y="184"/>
                    <a:pt x="185" y="184"/>
                    <a:pt x="185" y="184"/>
                  </a:cubicBezTo>
                  <a:cubicBezTo>
                    <a:pt x="185" y="254"/>
                    <a:pt x="185" y="254"/>
                    <a:pt x="185" y="25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19" name="Freeform 14"/>
            <p:cNvSpPr>
              <a:spLocks noEditPoints="1"/>
            </p:cNvSpPr>
            <p:nvPr userDrawn="1"/>
          </p:nvSpPr>
          <p:spPr bwMode="auto">
            <a:xfrm>
              <a:off x="6565900" y="6264275"/>
              <a:ext cx="222250" cy="301625"/>
            </a:xfrm>
            <a:custGeom>
              <a:avLst/>
              <a:gdLst>
                <a:gd name="T0" fmla="*/ 226 w 349"/>
                <a:gd name="T1" fmla="*/ 133 h 473"/>
                <a:gd name="T2" fmla="*/ 122 w 349"/>
                <a:gd name="T3" fmla="*/ 185 h 473"/>
                <a:gd name="T4" fmla="*/ 122 w 349"/>
                <a:gd name="T5" fmla="*/ 16 h 473"/>
                <a:gd name="T6" fmla="*/ 107 w 349"/>
                <a:gd name="T7" fmla="*/ 0 h 473"/>
                <a:gd name="T8" fmla="*/ 9 w 349"/>
                <a:gd name="T9" fmla="*/ 0 h 473"/>
                <a:gd name="T10" fmla="*/ 0 w 349"/>
                <a:gd name="T11" fmla="*/ 11 h 473"/>
                <a:gd name="T12" fmla="*/ 0 w 349"/>
                <a:gd name="T13" fmla="*/ 19 h 473"/>
                <a:gd name="T14" fmla="*/ 18 w 349"/>
                <a:gd name="T15" fmla="*/ 36 h 473"/>
                <a:gd name="T16" fmla="*/ 49 w 349"/>
                <a:gd name="T17" fmla="*/ 45 h 473"/>
                <a:gd name="T18" fmla="*/ 49 w 349"/>
                <a:gd name="T19" fmla="*/ 422 h 473"/>
                <a:gd name="T20" fmla="*/ 62 w 349"/>
                <a:gd name="T21" fmla="*/ 445 h 473"/>
                <a:gd name="T22" fmla="*/ 182 w 349"/>
                <a:gd name="T23" fmla="*/ 473 h 473"/>
                <a:gd name="T24" fmla="*/ 349 w 349"/>
                <a:gd name="T25" fmla="*/ 291 h 473"/>
                <a:gd name="T26" fmla="*/ 226 w 349"/>
                <a:gd name="T27" fmla="*/ 133 h 473"/>
                <a:gd name="T28" fmla="*/ 181 w 349"/>
                <a:gd name="T29" fmla="*/ 430 h 473"/>
                <a:gd name="T30" fmla="*/ 122 w 349"/>
                <a:gd name="T31" fmla="*/ 337 h 473"/>
                <a:gd name="T32" fmla="*/ 122 w 349"/>
                <a:gd name="T33" fmla="*/ 227 h 473"/>
                <a:gd name="T34" fmla="*/ 196 w 349"/>
                <a:gd name="T35" fmla="*/ 188 h 473"/>
                <a:gd name="T36" fmla="*/ 271 w 349"/>
                <a:gd name="T37" fmla="*/ 305 h 473"/>
                <a:gd name="T38" fmla="*/ 181 w 349"/>
                <a:gd name="T39" fmla="*/ 430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49" h="473">
                  <a:moveTo>
                    <a:pt x="226" y="133"/>
                  </a:moveTo>
                  <a:cubicBezTo>
                    <a:pt x="188" y="133"/>
                    <a:pt x="154" y="153"/>
                    <a:pt x="122" y="185"/>
                  </a:cubicBezTo>
                  <a:cubicBezTo>
                    <a:pt x="122" y="16"/>
                    <a:pt x="122" y="16"/>
                    <a:pt x="122" y="16"/>
                  </a:cubicBezTo>
                  <a:cubicBezTo>
                    <a:pt x="122" y="6"/>
                    <a:pt x="119" y="0"/>
                    <a:pt x="107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" y="0"/>
                    <a:pt x="0" y="4"/>
                    <a:pt x="0" y="11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31"/>
                    <a:pt x="4" y="32"/>
                    <a:pt x="18" y="36"/>
                  </a:cubicBezTo>
                  <a:cubicBezTo>
                    <a:pt x="49" y="45"/>
                    <a:pt x="49" y="45"/>
                    <a:pt x="49" y="45"/>
                  </a:cubicBezTo>
                  <a:cubicBezTo>
                    <a:pt x="49" y="422"/>
                    <a:pt x="49" y="422"/>
                    <a:pt x="49" y="422"/>
                  </a:cubicBezTo>
                  <a:cubicBezTo>
                    <a:pt x="49" y="431"/>
                    <a:pt x="50" y="438"/>
                    <a:pt x="62" y="445"/>
                  </a:cubicBezTo>
                  <a:cubicBezTo>
                    <a:pt x="83" y="458"/>
                    <a:pt x="135" y="473"/>
                    <a:pt x="182" y="473"/>
                  </a:cubicBezTo>
                  <a:cubicBezTo>
                    <a:pt x="287" y="473"/>
                    <a:pt x="349" y="399"/>
                    <a:pt x="349" y="291"/>
                  </a:cubicBezTo>
                  <a:cubicBezTo>
                    <a:pt x="349" y="182"/>
                    <a:pt x="287" y="133"/>
                    <a:pt x="226" y="133"/>
                  </a:cubicBezTo>
                  <a:close/>
                  <a:moveTo>
                    <a:pt x="181" y="430"/>
                  </a:moveTo>
                  <a:cubicBezTo>
                    <a:pt x="131" y="430"/>
                    <a:pt x="122" y="385"/>
                    <a:pt x="122" y="337"/>
                  </a:cubicBezTo>
                  <a:cubicBezTo>
                    <a:pt x="122" y="227"/>
                    <a:pt x="122" y="227"/>
                    <a:pt x="122" y="227"/>
                  </a:cubicBezTo>
                  <a:cubicBezTo>
                    <a:pt x="143" y="205"/>
                    <a:pt x="168" y="188"/>
                    <a:pt x="196" y="188"/>
                  </a:cubicBezTo>
                  <a:cubicBezTo>
                    <a:pt x="249" y="188"/>
                    <a:pt x="271" y="244"/>
                    <a:pt x="271" y="305"/>
                  </a:cubicBezTo>
                  <a:cubicBezTo>
                    <a:pt x="271" y="390"/>
                    <a:pt x="229" y="430"/>
                    <a:pt x="181" y="4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20" name="Freeform 15"/>
            <p:cNvSpPr>
              <a:spLocks noEditPoints="1"/>
            </p:cNvSpPr>
            <p:nvPr userDrawn="1"/>
          </p:nvSpPr>
          <p:spPr bwMode="auto">
            <a:xfrm>
              <a:off x="7283450" y="6264275"/>
              <a:ext cx="222250" cy="301625"/>
            </a:xfrm>
            <a:custGeom>
              <a:avLst/>
              <a:gdLst>
                <a:gd name="T0" fmla="*/ 331 w 349"/>
                <a:gd name="T1" fmla="*/ 428 h 473"/>
                <a:gd name="T2" fmla="*/ 300 w 349"/>
                <a:gd name="T3" fmla="*/ 418 h 473"/>
                <a:gd name="T4" fmla="*/ 300 w 349"/>
                <a:gd name="T5" fmla="*/ 16 h 473"/>
                <a:gd name="T6" fmla="*/ 285 w 349"/>
                <a:gd name="T7" fmla="*/ 0 h 473"/>
                <a:gd name="T8" fmla="*/ 187 w 349"/>
                <a:gd name="T9" fmla="*/ 0 h 473"/>
                <a:gd name="T10" fmla="*/ 178 w 349"/>
                <a:gd name="T11" fmla="*/ 11 h 473"/>
                <a:gd name="T12" fmla="*/ 178 w 349"/>
                <a:gd name="T13" fmla="*/ 19 h 473"/>
                <a:gd name="T14" fmla="*/ 196 w 349"/>
                <a:gd name="T15" fmla="*/ 36 h 473"/>
                <a:gd name="T16" fmla="*/ 227 w 349"/>
                <a:gd name="T17" fmla="*/ 45 h 473"/>
                <a:gd name="T18" fmla="*/ 227 w 349"/>
                <a:gd name="T19" fmla="*/ 158 h 473"/>
                <a:gd name="T20" fmla="*/ 153 w 349"/>
                <a:gd name="T21" fmla="*/ 133 h 473"/>
                <a:gd name="T22" fmla="*/ 0 w 349"/>
                <a:gd name="T23" fmla="*/ 313 h 473"/>
                <a:gd name="T24" fmla="*/ 123 w 349"/>
                <a:gd name="T25" fmla="*/ 473 h 473"/>
                <a:gd name="T26" fmla="*/ 227 w 349"/>
                <a:gd name="T27" fmla="*/ 420 h 473"/>
                <a:gd name="T28" fmla="*/ 227 w 349"/>
                <a:gd name="T29" fmla="*/ 447 h 473"/>
                <a:gd name="T30" fmla="*/ 242 w 349"/>
                <a:gd name="T31" fmla="*/ 463 h 473"/>
                <a:gd name="T32" fmla="*/ 340 w 349"/>
                <a:gd name="T33" fmla="*/ 463 h 473"/>
                <a:gd name="T34" fmla="*/ 349 w 349"/>
                <a:gd name="T35" fmla="*/ 453 h 473"/>
                <a:gd name="T36" fmla="*/ 349 w 349"/>
                <a:gd name="T37" fmla="*/ 444 h 473"/>
                <a:gd name="T38" fmla="*/ 331 w 349"/>
                <a:gd name="T39" fmla="*/ 428 h 473"/>
                <a:gd name="T40" fmla="*/ 227 w 349"/>
                <a:gd name="T41" fmla="*/ 379 h 473"/>
                <a:gd name="T42" fmla="*/ 153 w 349"/>
                <a:gd name="T43" fmla="*/ 418 h 473"/>
                <a:gd name="T44" fmla="*/ 78 w 349"/>
                <a:gd name="T45" fmla="*/ 299 h 473"/>
                <a:gd name="T46" fmla="*/ 158 w 349"/>
                <a:gd name="T47" fmla="*/ 179 h 473"/>
                <a:gd name="T48" fmla="*/ 227 w 349"/>
                <a:gd name="T49" fmla="*/ 299 h 473"/>
                <a:gd name="T50" fmla="*/ 227 w 349"/>
                <a:gd name="T51" fmla="*/ 379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49" h="473">
                  <a:moveTo>
                    <a:pt x="331" y="428"/>
                  </a:moveTo>
                  <a:cubicBezTo>
                    <a:pt x="300" y="418"/>
                    <a:pt x="300" y="418"/>
                    <a:pt x="300" y="418"/>
                  </a:cubicBezTo>
                  <a:cubicBezTo>
                    <a:pt x="300" y="16"/>
                    <a:pt x="300" y="16"/>
                    <a:pt x="300" y="16"/>
                  </a:cubicBezTo>
                  <a:cubicBezTo>
                    <a:pt x="300" y="6"/>
                    <a:pt x="297" y="0"/>
                    <a:pt x="285" y="0"/>
                  </a:cubicBezTo>
                  <a:cubicBezTo>
                    <a:pt x="187" y="0"/>
                    <a:pt x="187" y="0"/>
                    <a:pt x="187" y="0"/>
                  </a:cubicBezTo>
                  <a:cubicBezTo>
                    <a:pt x="179" y="0"/>
                    <a:pt x="178" y="4"/>
                    <a:pt x="178" y="11"/>
                  </a:cubicBezTo>
                  <a:cubicBezTo>
                    <a:pt x="178" y="19"/>
                    <a:pt x="178" y="19"/>
                    <a:pt x="178" y="19"/>
                  </a:cubicBezTo>
                  <a:cubicBezTo>
                    <a:pt x="178" y="31"/>
                    <a:pt x="182" y="32"/>
                    <a:pt x="196" y="36"/>
                  </a:cubicBezTo>
                  <a:cubicBezTo>
                    <a:pt x="227" y="45"/>
                    <a:pt x="227" y="45"/>
                    <a:pt x="227" y="45"/>
                  </a:cubicBezTo>
                  <a:cubicBezTo>
                    <a:pt x="227" y="158"/>
                    <a:pt x="227" y="158"/>
                    <a:pt x="227" y="158"/>
                  </a:cubicBezTo>
                  <a:cubicBezTo>
                    <a:pt x="216" y="148"/>
                    <a:pt x="191" y="133"/>
                    <a:pt x="153" y="133"/>
                  </a:cubicBezTo>
                  <a:cubicBezTo>
                    <a:pt x="82" y="133"/>
                    <a:pt x="0" y="185"/>
                    <a:pt x="0" y="313"/>
                  </a:cubicBezTo>
                  <a:cubicBezTo>
                    <a:pt x="0" y="425"/>
                    <a:pt x="62" y="473"/>
                    <a:pt x="123" y="473"/>
                  </a:cubicBezTo>
                  <a:cubicBezTo>
                    <a:pt x="162" y="473"/>
                    <a:pt x="195" y="453"/>
                    <a:pt x="227" y="420"/>
                  </a:cubicBezTo>
                  <a:cubicBezTo>
                    <a:pt x="227" y="447"/>
                    <a:pt x="227" y="447"/>
                    <a:pt x="227" y="447"/>
                  </a:cubicBezTo>
                  <a:cubicBezTo>
                    <a:pt x="227" y="457"/>
                    <a:pt x="230" y="463"/>
                    <a:pt x="242" y="463"/>
                  </a:cubicBezTo>
                  <a:cubicBezTo>
                    <a:pt x="340" y="463"/>
                    <a:pt x="340" y="463"/>
                    <a:pt x="340" y="463"/>
                  </a:cubicBezTo>
                  <a:cubicBezTo>
                    <a:pt x="347" y="463"/>
                    <a:pt x="349" y="459"/>
                    <a:pt x="349" y="453"/>
                  </a:cubicBezTo>
                  <a:cubicBezTo>
                    <a:pt x="349" y="444"/>
                    <a:pt x="349" y="444"/>
                    <a:pt x="349" y="444"/>
                  </a:cubicBezTo>
                  <a:cubicBezTo>
                    <a:pt x="349" y="432"/>
                    <a:pt x="345" y="432"/>
                    <a:pt x="331" y="428"/>
                  </a:cubicBezTo>
                  <a:close/>
                  <a:moveTo>
                    <a:pt x="227" y="379"/>
                  </a:moveTo>
                  <a:cubicBezTo>
                    <a:pt x="206" y="401"/>
                    <a:pt x="182" y="418"/>
                    <a:pt x="153" y="418"/>
                  </a:cubicBezTo>
                  <a:cubicBezTo>
                    <a:pt x="100" y="418"/>
                    <a:pt x="78" y="362"/>
                    <a:pt x="78" y="299"/>
                  </a:cubicBezTo>
                  <a:cubicBezTo>
                    <a:pt x="78" y="225"/>
                    <a:pt x="110" y="179"/>
                    <a:pt x="158" y="179"/>
                  </a:cubicBezTo>
                  <a:cubicBezTo>
                    <a:pt x="209" y="179"/>
                    <a:pt x="227" y="229"/>
                    <a:pt x="227" y="299"/>
                  </a:cubicBezTo>
                  <a:lnTo>
                    <a:pt x="227" y="3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21" name="Freeform 16"/>
            <p:cNvSpPr>
              <a:spLocks noEditPoints="1"/>
            </p:cNvSpPr>
            <p:nvPr userDrawn="1"/>
          </p:nvSpPr>
          <p:spPr bwMode="auto">
            <a:xfrm>
              <a:off x="6816725" y="6348413"/>
              <a:ext cx="204788" cy="217488"/>
            </a:xfrm>
            <a:custGeom>
              <a:avLst/>
              <a:gdLst>
                <a:gd name="T0" fmla="*/ 168 w 322"/>
                <a:gd name="T1" fmla="*/ 0 h 340"/>
                <a:gd name="T2" fmla="*/ 0 w 322"/>
                <a:gd name="T3" fmla="*/ 178 h 340"/>
                <a:gd name="T4" fmla="*/ 154 w 322"/>
                <a:gd name="T5" fmla="*/ 340 h 340"/>
                <a:gd name="T6" fmla="*/ 322 w 322"/>
                <a:gd name="T7" fmla="*/ 162 h 340"/>
                <a:gd name="T8" fmla="*/ 168 w 322"/>
                <a:gd name="T9" fmla="*/ 0 h 340"/>
                <a:gd name="T10" fmla="*/ 162 w 322"/>
                <a:gd name="T11" fmla="*/ 294 h 340"/>
                <a:gd name="T12" fmla="*/ 76 w 322"/>
                <a:gd name="T13" fmla="*/ 170 h 340"/>
                <a:gd name="T14" fmla="*/ 162 w 322"/>
                <a:gd name="T15" fmla="*/ 46 h 340"/>
                <a:gd name="T16" fmla="*/ 248 w 322"/>
                <a:gd name="T17" fmla="*/ 170 h 340"/>
                <a:gd name="T18" fmla="*/ 162 w 322"/>
                <a:gd name="T19" fmla="*/ 294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2" h="340">
                  <a:moveTo>
                    <a:pt x="168" y="0"/>
                  </a:moveTo>
                  <a:cubicBezTo>
                    <a:pt x="56" y="0"/>
                    <a:pt x="0" y="86"/>
                    <a:pt x="0" y="178"/>
                  </a:cubicBezTo>
                  <a:cubicBezTo>
                    <a:pt x="0" y="264"/>
                    <a:pt x="48" y="340"/>
                    <a:pt x="154" y="340"/>
                  </a:cubicBezTo>
                  <a:cubicBezTo>
                    <a:pt x="266" y="340"/>
                    <a:pt x="322" y="254"/>
                    <a:pt x="322" y="162"/>
                  </a:cubicBezTo>
                  <a:cubicBezTo>
                    <a:pt x="322" y="76"/>
                    <a:pt x="273" y="0"/>
                    <a:pt x="168" y="0"/>
                  </a:cubicBezTo>
                  <a:close/>
                  <a:moveTo>
                    <a:pt x="162" y="294"/>
                  </a:moveTo>
                  <a:cubicBezTo>
                    <a:pt x="108" y="294"/>
                    <a:pt x="76" y="241"/>
                    <a:pt x="76" y="170"/>
                  </a:cubicBezTo>
                  <a:cubicBezTo>
                    <a:pt x="76" y="100"/>
                    <a:pt x="107" y="46"/>
                    <a:pt x="162" y="46"/>
                  </a:cubicBezTo>
                  <a:cubicBezTo>
                    <a:pt x="215" y="46"/>
                    <a:pt x="248" y="98"/>
                    <a:pt x="248" y="170"/>
                  </a:cubicBezTo>
                  <a:cubicBezTo>
                    <a:pt x="248" y="240"/>
                    <a:pt x="216" y="294"/>
                    <a:pt x="162" y="29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8139113" y="6348413"/>
              <a:ext cx="155575" cy="217488"/>
            </a:xfrm>
            <a:custGeom>
              <a:avLst/>
              <a:gdLst>
                <a:gd name="T0" fmla="*/ 247 w 247"/>
                <a:gd name="T1" fmla="*/ 22 h 340"/>
                <a:gd name="T2" fmla="*/ 238 w 247"/>
                <a:gd name="T3" fmla="*/ 11 h 340"/>
                <a:gd name="T4" fmla="*/ 165 w 247"/>
                <a:gd name="T5" fmla="*/ 0 h 340"/>
                <a:gd name="T6" fmla="*/ 0 w 247"/>
                <a:gd name="T7" fmla="*/ 170 h 340"/>
                <a:gd name="T8" fmla="*/ 165 w 247"/>
                <a:gd name="T9" fmla="*/ 340 h 340"/>
                <a:gd name="T10" fmla="*/ 238 w 247"/>
                <a:gd name="T11" fmla="*/ 329 h 340"/>
                <a:gd name="T12" fmla="*/ 247 w 247"/>
                <a:gd name="T13" fmla="*/ 318 h 340"/>
                <a:gd name="T14" fmla="*/ 247 w 247"/>
                <a:gd name="T15" fmla="*/ 269 h 340"/>
                <a:gd name="T16" fmla="*/ 243 w 247"/>
                <a:gd name="T17" fmla="*/ 262 h 340"/>
                <a:gd name="T18" fmla="*/ 231 w 247"/>
                <a:gd name="T19" fmla="*/ 266 h 340"/>
                <a:gd name="T20" fmla="*/ 169 w 247"/>
                <a:gd name="T21" fmla="*/ 281 h 340"/>
                <a:gd name="T22" fmla="*/ 71 w 247"/>
                <a:gd name="T23" fmla="*/ 170 h 340"/>
                <a:gd name="T24" fmla="*/ 169 w 247"/>
                <a:gd name="T25" fmla="*/ 59 h 340"/>
                <a:gd name="T26" fmla="*/ 231 w 247"/>
                <a:gd name="T27" fmla="*/ 74 h 340"/>
                <a:gd name="T28" fmla="*/ 243 w 247"/>
                <a:gd name="T29" fmla="*/ 78 h 340"/>
                <a:gd name="T30" fmla="*/ 247 w 247"/>
                <a:gd name="T31" fmla="*/ 71 h 340"/>
                <a:gd name="T32" fmla="*/ 247 w 247"/>
                <a:gd name="T33" fmla="*/ 22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7" h="340">
                  <a:moveTo>
                    <a:pt x="247" y="22"/>
                  </a:moveTo>
                  <a:cubicBezTo>
                    <a:pt x="247" y="14"/>
                    <a:pt x="245" y="14"/>
                    <a:pt x="238" y="11"/>
                  </a:cubicBezTo>
                  <a:cubicBezTo>
                    <a:pt x="222" y="5"/>
                    <a:pt x="194" y="0"/>
                    <a:pt x="165" y="0"/>
                  </a:cubicBezTo>
                  <a:cubicBezTo>
                    <a:pt x="34" y="0"/>
                    <a:pt x="0" y="92"/>
                    <a:pt x="0" y="170"/>
                  </a:cubicBezTo>
                  <a:cubicBezTo>
                    <a:pt x="0" y="249"/>
                    <a:pt x="33" y="340"/>
                    <a:pt x="165" y="340"/>
                  </a:cubicBezTo>
                  <a:cubicBezTo>
                    <a:pt x="194" y="340"/>
                    <a:pt x="222" y="335"/>
                    <a:pt x="238" y="329"/>
                  </a:cubicBezTo>
                  <a:cubicBezTo>
                    <a:pt x="245" y="326"/>
                    <a:pt x="247" y="326"/>
                    <a:pt x="247" y="318"/>
                  </a:cubicBezTo>
                  <a:cubicBezTo>
                    <a:pt x="247" y="269"/>
                    <a:pt x="247" y="269"/>
                    <a:pt x="247" y="269"/>
                  </a:cubicBezTo>
                  <a:cubicBezTo>
                    <a:pt x="247" y="264"/>
                    <a:pt x="246" y="262"/>
                    <a:pt x="243" y="262"/>
                  </a:cubicBezTo>
                  <a:cubicBezTo>
                    <a:pt x="241" y="262"/>
                    <a:pt x="237" y="264"/>
                    <a:pt x="231" y="266"/>
                  </a:cubicBezTo>
                  <a:cubicBezTo>
                    <a:pt x="221" y="271"/>
                    <a:pt x="199" y="281"/>
                    <a:pt x="169" y="281"/>
                  </a:cubicBezTo>
                  <a:cubicBezTo>
                    <a:pt x="108" y="281"/>
                    <a:pt x="71" y="244"/>
                    <a:pt x="71" y="170"/>
                  </a:cubicBezTo>
                  <a:cubicBezTo>
                    <a:pt x="71" y="95"/>
                    <a:pt x="108" y="59"/>
                    <a:pt x="169" y="59"/>
                  </a:cubicBezTo>
                  <a:cubicBezTo>
                    <a:pt x="199" y="59"/>
                    <a:pt x="221" y="69"/>
                    <a:pt x="231" y="74"/>
                  </a:cubicBezTo>
                  <a:cubicBezTo>
                    <a:pt x="237" y="76"/>
                    <a:pt x="241" y="78"/>
                    <a:pt x="243" y="78"/>
                  </a:cubicBezTo>
                  <a:cubicBezTo>
                    <a:pt x="246" y="78"/>
                    <a:pt x="247" y="76"/>
                    <a:pt x="247" y="71"/>
                  </a:cubicBezTo>
                  <a:lnTo>
                    <a:pt x="247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7542213" y="6354763"/>
              <a:ext cx="200025" cy="211138"/>
            </a:xfrm>
            <a:custGeom>
              <a:avLst/>
              <a:gdLst>
                <a:gd name="T0" fmla="*/ 9 w 317"/>
                <a:gd name="T1" fmla="*/ 0 h 330"/>
                <a:gd name="T2" fmla="*/ 0 w 317"/>
                <a:gd name="T3" fmla="*/ 10 h 330"/>
                <a:gd name="T4" fmla="*/ 0 w 317"/>
                <a:gd name="T5" fmla="*/ 19 h 330"/>
                <a:gd name="T6" fmla="*/ 18 w 317"/>
                <a:gd name="T7" fmla="*/ 35 h 330"/>
                <a:gd name="T8" fmla="*/ 49 w 317"/>
                <a:gd name="T9" fmla="*/ 44 h 330"/>
                <a:gd name="T10" fmla="*/ 49 w 317"/>
                <a:gd name="T11" fmla="*/ 193 h 330"/>
                <a:gd name="T12" fmla="*/ 152 w 317"/>
                <a:gd name="T13" fmla="*/ 330 h 330"/>
                <a:gd name="T14" fmla="*/ 247 w 317"/>
                <a:gd name="T15" fmla="*/ 280 h 330"/>
                <a:gd name="T16" fmla="*/ 249 w 317"/>
                <a:gd name="T17" fmla="*/ 280 h 330"/>
                <a:gd name="T18" fmla="*/ 249 w 317"/>
                <a:gd name="T19" fmla="*/ 312 h 330"/>
                <a:gd name="T20" fmla="*/ 257 w 317"/>
                <a:gd name="T21" fmla="*/ 320 h 330"/>
                <a:gd name="T22" fmla="*/ 309 w 317"/>
                <a:gd name="T23" fmla="*/ 320 h 330"/>
                <a:gd name="T24" fmla="*/ 317 w 317"/>
                <a:gd name="T25" fmla="*/ 312 h 330"/>
                <a:gd name="T26" fmla="*/ 317 w 317"/>
                <a:gd name="T27" fmla="*/ 8 h 330"/>
                <a:gd name="T28" fmla="*/ 309 w 317"/>
                <a:gd name="T29" fmla="*/ 0 h 330"/>
                <a:gd name="T30" fmla="*/ 255 w 317"/>
                <a:gd name="T31" fmla="*/ 0 h 330"/>
                <a:gd name="T32" fmla="*/ 247 w 317"/>
                <a:gd name="T33" fmla="*/ 8 h 330"/>
                <a:gd name="T34" fmla="*/ 247 w 317"/>
                <a:gd name="T35" fmla="*/ 226 h 330"/>
                <a:gd name="T36" fmla="*/ 173 w 317"/>
                <a:gd name="T37" fmla="*/ 268 h 330"/>
                <a:gd name="T38" fmla="*/ 119 w 317"/>
                <a:gd name="T39" fmla="*/ 173 h 330"/>
                <a:gd name="T40" fmla="*/ 119 w 317"/>
                <a:gd name="T41" fmla="*/ 8 h 330"/>
                <a:gd name="T42" fmla="*/ 111 w 317"/>
                <a:gd name="T43" fmla="*/ 0 h 330"/>
                <a:gd name="T44" fmla="*/ 9 w 317"/>
                <a:gd name="T45" fmla="*/ 0 h 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7" h="330">
                  <a:moveTo>
                    <a:pt x="9" y="0"/>
                  </a:moveTo>
                  <a:cubicBezTo>
                    <a:pt x="1" y="0"/>
                    <a:pt x="0" y="4"/>
                    <a:pt x="0" y="10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31"/>
                    <a:pt x="4" y="31"/>
                    <a:pt x="18" y="35"/>
                  </a:cubicBezTo>
                  <a:cubicBezTo>
                    <a:pt x="49" y="44"/>
                    <a:pt x="49" y="44"/>
                    <a:pt x="49" y="44"/>
                  </a:cubicBezTo>
                  <a:cubicBezTo>
                    <a:pt x="49" y="193"/>
                    <a:pt x="49" y="193"/>
                    <a:pt x="49" y="193"/>
                  </a:cubicBezTo>
                  <a:cubicBezTo>
                    <a:pt x="49" y="306"/>
                    <a:pt x="99" y="330"/>
                    <a:pt x="152" y="330"/>
                  </a:cubicBezTo>
                  <a:cubicBezTo>
                    <a:pt x="194" y="330"/>
                    <a:pt x="221" y="314"/>
                    <a:pt x="247" y="280"/>
                  </a:cubicBezTo>
                  <a:cubicBezTo>
                    <a:pt x="249" y="280"/>
                    <a:pt x="249" y="280"/>
                    <a:pt x="249" y="280"/>
                  </a:cubicBezTo>
                  <a:cubicBezTo>
                    <a:pt x="249" y="312"/>
                    <a:pt x="249" y="312"/>
                    <a:pt x="249" y="312"/>
                  </a:cubicBezTo>
                  <a:cubicBezTo>
                    <a:pt x="249" y="318"/>
                    <a:pt x="251" y="320"/>
                    <a:pt x="257" y="320"/>
                  </a:cubicBezTo>
                  <a:cubicBezTo>
                    <a:pt x="309" y="320"/>
                    <a:pt x="309" y="320"/>
                    <a:pt x="309" y="320"/>
                  </a:cubicBezTo>
                  <a:cubicBezTo>
                    <a:pt x="315" y="320"/>
                    <a:pt x="317" y="318"/>
                    <a:pt x="317" y="312"/>
                  </a:cubicBezTo>
                  <a:cubicBezTo>
                    <a:pt x="317" y="8"/>
                    <a:pt x="317" y="8"/>
                    <a:pt x="317" y="8"/>
                  </a:cubicBezTo>
                  <a:cubicBezTo>
                    <a:pt x="317" y="2"/>
                    <a:pt x="315" y="0"/>
                    <a:pt x="309" y="0"/>
                  </a:cubicBezTo>
                  <a:cubicBezTo>
                    <a:pt x="255" y="0"/>
                    <a:pt x="255" y="0"/>
                    <a:pt x="255" y="0"/>
                  </a:cubicBezTo>
                  <a:cubicBezTo>
                    <a:pt x="249" y="0"/>
                    <a:pt x="247" y="2"/>
                    <a:pt x="247" y="8"/>
                  </a:cubicBezTo>
                  <a:cubicBezTo>
                    <a:pt x="247" y="226"/>
                    <a:pt x="247" y="226"/>
                    <a:pt x="247" y="226"/>
                  </a:cubicBezTo>
                  <a:cubicBezTo>
                    <a:pt x="227" y="255"/>
                    <a:pt x="202" y="268"/>
                    <a:pt x="173" y="268"/>
                  </a:cubicBezTo>
                  <a:cubicBezTo>
                    <a:pt x="122" y="268"/>
                    <a:pt x="119" y="231"/>
                    <a:pt x="119" y="173"/>
                  </a:cubicBezTo>
                  <a:cubicBezTo>
                    <a:pt x="119" y="8"/>
                    <a:pt x="119" y="8"/>
                    <a:pt x="119" y="8"/>
                  </a:cubicBezTo>
                  <a:cubicBezTo>
                    <a:pt x="119" y="2"/>
                    <a:pt x="116" y="0"/>
                    <a:pt x="111" y="0"/>
                  </a:cubicBezTo>
                  <a:lnTo>
                    <a:pt x="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7799388" y="6348413"/>
              <a:ext cx="295275" cy="211138"/>
            </a:xfrm>
            <a:custGeom>
              <a:avLst/>
              <a:gdLst>
                <a:gd name="T0" fmla="*/ 0 w 467"/>
                <a:gd name="T1" fmla="*/ 322 h 330"/>
                <a:gd name="T2" fmla="*/ 8 w 467"/>
                <a:gd name="T3" fmla="*/ 330 h 330"/>
                <a:gd name="T4" fmla="*/ 62 w 467"/>
                <a:gd name="T5" fmla="*/ 330 h 330"/>
                <a:gd name="T6" fmla="*/ 70 w 467"/>
                <a:gd name="T7" fmla="*/ 322 h 330"/>
                <a:gd name="T8" fmla="*/ 70 w 467"/>
                <a:gd name="T9" fmla="*/ 104 h 330"/>
                <a:gd name="T10" fmla="*/ 145 w 467"/>
                <a:gd name="T11" fmla="*/ 62 h 330"/>
                <a:gd name="T12" fmla="*/ 198 w 467"/>
                <a:gd name="T13" fmla="*/ 157 h 330"/>
                <a:gd name="T14" fmla="*/ 198 w 467"/>
                <a:gd name="T15" fmla="*/ 322 h 330"/>
                <a:gd name="T16" fmla="*/ 206 w 467"/>
                <a:gd name="T17" fmla="*/ 330 h 330"/>
                <a:gd name="T18" fmla="*/ 261 w 467"/>
                <a:gd name="T19" fmla="*/ 330 h 330"/>
                <a:gd name="T20" fmla="*/ 268 w 467"/>
                <a:gd name="T21" fmla="*/ 322 h 330"/>
                <a:gd name="T22" fmla="*/ 268 w 467"/>
                <a:gd name="T23" fmla="*/ 104 h 330"/>
                <a:gd name="T24" fmla="*/ 343 w 467"/>
                <a:gd name="T25" fmla="*/ 62 h 330"/>
                <a:gd name="T26" fmla="*/ 397 w 467"/>
                <a:gd name="T27" fmla="*/ 157 h 330"/>
                <a:gd name="T28" fmla="*/ 397 w 467"/>
                <a:gd name="T29" fmla="*/ 322 h 330"/>
                <a:gd name="T30" fmla="*/ 405 w 467"/>
                <a:gd name="T31" fmla="*/ 330 h 330"/>
                <a:gd name="T32" fmla="*/ 459 w 467"/>
                <a:gd name="T33" fmla="*/ 330 h 330"/>
                <a:gd name="T34" fmla="*/ 467 w 467"/>
                <a:gd name="T35" fmla="*/ 322 h 330"/>
                <a:gd name="T36" fmla="*/ 467 w 467"/>
                <a:gd name="T37" fmla="*/ 137 h 330"/>
                <a:gd name="T38" fmla="*/ 363 w 467"/>
                <a:gd name="T39" fmla="*/ 0 h 330"/>
                <a:gd name="T40" fmla="*/ 253 w 467"/>
                <a:gd name="T41" fmla="*/ 54 h 330"/>
                <a:gd name="T42" fmla="*/ 165 w 467"/>
                <a:gd name="T43" fmla="*/ 0 h 330"/>
                <a:gd name="T44" fmla="*/ 70 w 467"/>
                <a:gd name="T45" fmla="*/ 50 h 330"/>
                <a:gd name="T46" fmla="*/ 68 w 467"/>
                <a:gd name="T47" fmla="*/ 50 h 330"/>
                <a:gd name="T48" fmla="*/ 68 w 467"/>
                <a:gd name="T49" fmla="*/ 18 h 330"/>
                <a:gd name="T50" fmla="*/ 60 w 467"/>
                <a:gd name="T51" fmla="*/ 10 h 330"/>
                <a:gd name="T52" fmla="*/ 8 w 467"/>
                <a:gd name="T53" fmla="*/ 10 h 330"/>
                <a:gd name="T54" fmla="*/ 0 w 467"/>
                <a:gd name="T55" fmla="*/ 18 h 330"/>
                <a:gd name="T56" fmla="*/ 0 w 467"/>
                <a:gd name="T57" fmla="*/ 322 h 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67" h="330">
                  <a:moveTo>
                    <a:pt x="0" y="322"/>
                  </a:moveTo>
                  <a:cubicBezTo>
                    <a:pt x="0" y="328"/>
                    <a:pt x="2" y="330"/>
                    <a:pt x="8" y="330"/>
                  </a:cubicBezTo>
                  <a:cubicBezTo>
                    <a:pt x="62" y="330"/>
                    <a:pt x="62" y="330"/>
                    <a:pt x="62" y="330"/>
                  </a:cubicBezTo>
                  <a:cubicBezTo>
                    <a:pt x="68" y="330"/>
                    <a:pt x="70" y="328"/>
                    <a:pt x="70" y="322"/>
                  </a:cubicBezTo>
                  <a:cubicBezTo>
                    <a:pt x="70" y="104"/>
                    <a:pt x="70" y="104"/>
                    <a:pt x="70" y="104"/>
                  </a:cubicBezTo>
                  <a:cubicBezTo>
                    <a:pt x="91" y="75"/>
                    <a:pt x="115" y="62"/>
                    <a:pt x="145" y="62"/>
                  </a:cubicBezTo>
                  <a:cubicBezTo>
                    <a:pt x="196" y="62"/>
                    <a:pt x="198" y="99"/>
                    <a:pt x="198" y="157"/>
                  </a:cubicBezTo>
                  <a:cubicBezTo>
                    <a:pt x="198" y="322"/>
                    <a:pt x="198" y="322"/>
                    <a:pt x="198" y="322"/>
                  </a:cubicBezTo>
                  <a:cubicBezTo>
                    <a:pt x="198" y="328"/>
                    <a:pt x="200" y="330"/>
                    <a:pt x="206" y="330"/>
                  </a:cubicBezTo>
                  <a:cubicBezTo>
                    <a:pt x="261" y="330"/>
                    <a:pt x="261" y="330"/>
                    <a:pt x="261" y="330"/>
                  </a:cubicBezTo>
                  <a:cubicBezTo>
                    <a:pt x="267" y="330"/>
                    <a:pt x="268" y="328"/>
                    <a:pt x="268" y="322"/>
                  </a:cubicBezTo>
                  <a:cubicBezTo>
                    <a:pt x="268" y="104"/>
                    <a:pt x="268" y="104"/>
                    <a:pt x="268" y="104"/>
                  </a:cubicBezTo>
                  <a:cubicBezTo>
                    <a:pt x="289" y="75"/>
                    <a:pt x="313" y="62"/>
                    <a:pt x="343" y="62"/>
                  </a:cubicBezTo>
                  <a:cubicBezTo>
                    <a:pt x="394" y="62"/>
                    <a:pt x="397" y="99"/>
                    <a:pt x="397" y="157"/>
                  </a:cubicBezTo>
                  <a:cubicBezTo>
                    <a:pt x="397" y="322"/>
                    <a:pt x="397" y="322"/>
                    <a:pt x="397" y="322"/>
                  </a:cubicBezTo>
                  <a:cubicBezTo>
                    <a:pt x="397" y="328"/>
                    <a:pt x="399" y="330"/>
                    <a:pt x="405" y="330"/>
                  </a:cubicBezTo>
                  <a:cubicBezTo>
                    <a:pt x="459" y="330"/>
                    <a:pt x="459" y="330"/>
                    <a:pt x="459" y="330"/>
                  </a:cubicBezTo>
                  <a:cubicBezTo>
                    <a:pt x="465" y="330"/>
                    <a:pt x="467" y="328"/>
                    <a:pt x="467" y="322"/>
                  </a:cubicBezTo>
                  <a:cubicBezTo>
                    <a:pt x="467" y="137"/>
                    <a:pt x="467" y="137"/>
                    <a:pt x="467" y="137"/>
                  </a:cubicBezTo>
                  <a:cubicBezTo>
                    <a:pt x="467" y="23"/>
                    <a:pt x="417" y="0"/>
                    <a:pt x="363" y="0"/>
                  </a:cubicBezTo>
                  <a:cubicBezTo>
                    <a:pt x="316" y="0"/>
                    <a:pt x="283" y="18"/>
                    <a:pt x="253" y="54"/>
                  </a:cubicBezTo>
                  <a:cubicBezTo>
                    <a:pt x="235" y="12"/>
                    <a:pt x="201" y="0"/>
                    <a:pt x="165" y="0"/>
                  </a:cubicBezTo>
                  <a:cubicBezTo>
                    <a:pt x="124" y="0"/>
                    <a:pt x="97" y="16"/>
                    <a:pt x="70" y="50"/>
                  </a:cubicBezTo>
                  <a:cubicBezTo>
                    <a:pt x="68" y="50"/>
                    <a:pt x="68" y="50"/>
                    <a:pt x="68" y="50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12"/>
                    <a:pt x="65" y="10"/>
                    <a:pt x="60" y="10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2" y="10"/>
                    <a:pt x="0" y="12"/>
                    <a:pt x="0" y="18"/>
                  </a:cubicBezTo>
                  <a:lnTo>
                    <a:pt x="0" y="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</p:grpSp>
    </p:spTree>
    <p:extLst>
      <p:ext uri="{BB962C8B-B14F-4D97-AF65-F5344CB8AC3E}">
        <p14:creationId xmlns:p14="http://schemas.microsoft.com/office/powerpoint/2010/main" val="1830333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sluitende 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359480" y="6183340"/>
            <a:ext cx="8263020" cy="499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8" name="Afbeelding 7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50000" y="5940000"/>
            <a:ext cx="648000" cy="929244"/>
          </a:xfrm>
          <a:prstGeom prst="rect">
            <a:avLst/>
          </a:prstGeom>
        </p:spPr>
      </p:pic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41553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1 1">
  <p:cSld name="Section title and description 1 1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 txBox="1">
            <a:spLocks noGrp="1"/>
          </p:cNvSpPr>
          <p:nvPr>
            <p:ph type="sldNum" idx="12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377633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>
            <a:spLocks noGrp="1"/>
          </p:cNvSpPr>
          <p:nvPr>
            <p:ph type="title"/>
          </p:nvPr>
        </p:nvSpPr>
        <p:spPr>
          <a:xfrm>
            <a:off x="880725" y="593375"/>
            <a:ext cx="7951500" cy="76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Shape 133"/>
          <p:cNvSpPr txBox="1">
            <a:spLocks noGrp="1"/>
          </p:cNvSpPr>
          <p:nvPr>
            <p:ph type="body" idx="1"/>
          </p:nvPr>
        </p:nvSpPr>
        <p:spPr>
          <a:xfrm>
            <a:off x="728075" y="1536625"/>
            <a:ext cx="8104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68300" rtl="0">
              <a:spcBef>
                <a:spcPts val="440"/>
              </a:spcBef>
              <a:spcAft>
                <a:spcPts val="0"/>
              </a:spcAft>
              <a:buSzPts val="2200"/>
              <a:buChar char="•"/>
              <a:defRPr/>
            </a:lvl1pPr>
            <a:lvl2pPr marL="914400" lvl="1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2pPr>
            <a:lvl3pPr marL="1371600" lvl="2" indent="-342900" rtl="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30200" rtl="0">
              <a:spcBef>
                <a:spcPts val="32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17500" rtl="0">
              <a:spcBef>
                <a:spcPts val="28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rtl="0">
              <a:spcBef>
                <a:spcPts val="28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rtl="0">
              <a:spcBef>
                <a:spcPts val="28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rtl="0">
              <a:spcBef>
                <a:spcPts val="28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rtl="0">
              <a:spcBef>
                <a:spcPts val="28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4" name="Shape 134"/>
          <p:cNvSpPr txBox="1">
            <a:spLocks noGrp="1"/>
          </p:cNvSpPr>
          <p:nvPr>
            <p:ph type="sldNum" idx="12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  <p:pic>
        <p:nvPicPr>
          <p:cNvPr id="135" name="Shape 1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91949" y="223367"/>
            <a:ext cx="841799" cy="736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086577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HEADER_1">
  <p:cSld name="SECTION_HEADER_1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 txBox="1">
            <a:spLocks noGrp="1"/>
          </p:cNvSpPr>
          <p:nvPr>
            <p:ph type="title"/>
          </p:nvPr>
        </p:nvSpPr>
        <p:spPr>
          <a:xfrm>
            <a:off x="671250" y="2855000"/>
            <a:ext cx="7852200" cy="11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8" name="Shape 138"/>
          <p:cNvSpPr txBox="1">
            <a:spLocks noGrp="1"/>
          </p:cNvSpPr>
          <p:nvPr>
            <p:ph type="sldNum" idx="12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45989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22000" y="1004344"/>
            <a:ext cx="8100000" cy="5334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22000" y="1814635"/>
            <a:ext cx="8100000" cy="412536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nl-NL" dirty="0"/>
              <a:t>Klik om de modelstijlen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94000" y="6414409"/>
            <a:ext cx="1080000" cy="15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lnSpc>
                <a:spcPts val="1200"/>
              </a:lnSpc>
              <a:defRPr sz="1000">
                <a:solidFill>
                  <a:schemeClr val="accent1"/>
                </a:solidFill>
              </a:defRPr>
            </a:lvl1pPr>
          </a:lstStyle>
          <a:p>
            <a:r>
              <a:rPr lang="nl-NL"/>
              <a:t>&lt;datum&gt;</a:t>
            </a:r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2790000" y="6414409"/>
            <a:ext cx="3960000" cy="15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lnSpc>
                <a:spcPts val="1200"/>
              </a:lnSpc>
              <a:defRPr sz="1000">
                <a:solidFill>
                  <a:schemeClr val="accent1"/>
                </a:solidFill>
              </a:defRPr>
            </a:lvl1pPr>
          </a:lstStyle>
          <a:p>
            <a:r>
              <a:rPr lang="nl-NL"/>
              <a:t>&lt;Titel van de presentatie&gt;</a:t>
            </a:r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22000" y="6414409"/>
            <a:ext cx="810000" cy="15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lnSpc>
                <a:spcPts val="1200"/>
              </a:lnSpc>
              <a:defRPr sz="1000">
                <a:solidFill>
                  <a:schemeClr val="accent1"/>
                </a:solidFill>
              </a:defRPr>
            </a:lvl1pPr>
          </a:lstStyle>
          <a:p>
            <a:r>
              <a:rPr lang="nl-NL"/>
              <a:t>Pagina </a:t>
            </a:r>
            <a:fld id="{7FC9B413-936F-403B-BC98-20250EBFF374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7" name="Rechthoek 6"/>
          <p:cNvSpPr/>
          <p:nvPr/>
        </p:nvSpPr>
        <p:spPr>
          <a:xfrm>
            <a:off x="522000" y="594000"/>
            <a:ext cx="8100000" cy="50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Rechthoek 17"/>
          <p:cNvSpPr/>
          <p:nvPr/>
        </p:nvSpPr>
        <p:spPr>
          <a:xfrm>
            <a:off x="522000" y="6264000"/>
            <a:ext cx="8100000" cy="10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9" name="Afbeelding 18"/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00000" y="6415200"/>
            <a:ext cx="1104790" cy="13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012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50" r:id="rId3"/>
    <p:sldLayoutId id="2147483660" r:id="rId4"/>
    <p:sldLayoutId id="2147483652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7" r:id="rId11"/>
    <p:sldLayoutId id="2147483668" r:id="rId12"/>
    <p:sldLayoutId id="2147483669" r:id="rId13"/>
  </p:sldLayoutIdLst>
  <p:hf sldNum="0" hdr="0" ftr="0" dt="0"/>
  <p:txStyles>
    <p:titleStyle>
      <a:lvl1pPr algn="l" defTabSz="914400" rtl="0" eaLnBrk="1" latinLnBrk="0" hangingPunct="1">
        <a:lnSpc>
          <a:spcPts val="4200"/>
        </a:lnSpc>
        <a:spcBef>
          <a:spcPct val="0"/>
        </a:spcBef>
        <a:buNone/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2263" indent="-322263" algn="l" defTabSz="914400" rtl="0" eaLnBrk="1" latinLnBrk="0" hangingPunct="1">
        <a:lnSpc>
          <a:spcPts val="2500"/>
        </a:lnSpc>
        <a:spcBef>
          <a:spcPts val="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47700" indent="-325438" algn="l" defTabSz="914400" rtl="0" eaLnBrk="1" latinLnBrk="0" hangingPunct="1">
        <a:lnSpc>
          <a:spcPts val="2500"/>
        </a:lnSpc>
        <a:spcBef>
          <a:spcPts val="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69963" indent="-323850" algn="l" defTabSz="914400" rtl="0" eaLnBrk="1" latinLnBrk="0" hangingPunct="1">
        <a:lnSpc>
          <a:spcPts val="2500"/>
        </a:lnSpc>
        <a:spcBef>
          <a:spcPts val="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93813" indent="-322263" algn="l" defTabSz="914400" rtl="0" eaLnBrk="1" latinLnBrk="0" hangingPunct="1">
        <a:lnSpc>
          <a:spcPts val="2500"/>
        </a:lnSpc>
        <a:spcBef>
          <a:spcPts val="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19250" indent="-323850" algn="l" defTabSz="914400" rtl="0" eaLnBrk="1" latinLnBrk="0" hangingPunct="1">
        <a:lnSpc>
          <a:spcPts val="2500"/>
        </a:lnSpc>
        <a:spcBef>
          <a:spcPts val="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www.ncbi.nlm.nih.gov/pubmed/28481489" TargetMode="Externa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://journals.sagepub.com/doi/full/10.1177/0272989X18754513" TargetMode="Externa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ctrTitle"/>
          </p:nvPr>
        </p:nvSpPr>
        <p:spPr>
          <a:xfrm>
            <a:off x="611560" y="519336"/>
            <a:ext cx="8064896" cy="173360"/>
          </a:xfrm>
        </p:spPr>
        <p:txBody>
          <a:bodyPr/>
          <a:lstStyle/>
          <a:p>
            <a:pPr algn="ctr"/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Workshop: </a:t>
            </a:r>
            <a:br>
              <a:rPr lang="en-US" dirty="0"/>
            </a:br>
            <a:r>
              <a:rPr lang="en-US" dirty="0"/>
              <a:t>Decision modelling in R</a:t>
            </a:r>
            <a:br>
              <a:rPr lang="en-US" dirty="0"/>
            </a:br>
            <a:endParaRPr lang="en-US" dirty="0"/>
          </a:p>
        </p:txBody>
      </p:sp>
      <p:sp>
        <p:nvSpPr>
          <p:cNvPr id="5" name="Tekstvak 4"/>
          <p:cNvSpPr txBox="1"/>
          <p:nvPr/>
        </p:nvSpPr>
        <p:spPr>
          <a:xfrm>
            <a:off x="616225" y="4397042"/>
            <a:ext cx="8060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chemeClr val="bg1"/>
                </a:solidFill>
              </a:rPr>
              <a:t>Stan Wijn MSc						08-03-2019</a:t>
            </a:r>
          </a:p>
        </p:txBody>
      </p:sp>
      <p:pic>
        <p:nvPicPr>
          <p:cNvPr id="2" name="Picture 2" descr="Image result for R studio">
            <a:extLst>
              <a:ext uri="{FF2B5EF4-FFF2-40B4-BE49-F238E27FC236}">
                <a16:creationId xmlns:a16="http://schemas.microsoft.com/office/drawing/2014/main" id="{498EBE96-7854-4B5D-AD8A-6F4049C9CA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36" r="9569"/>
          <a:stretch/>
        </p:blipFill>
        <p:spPr bwMode="auto">
          <a:xfrm>
            <a:off x="1475655" y="2708920"/>
            <a:ext cx="2127028" cy="1318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B3A3D25-B2C9-4D56-9424-FAEFC50CE9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2080" y="2708920"/>
            <a:ext cx="2127028" cy="1318466"/>
          </a:xfrm>
          <a:prstGeom prst="rect">
            <a:avLst/>
          </a:prstGeom>
        </p:spPr>
      </p:pic>
      <p:sp>
        <p:nvSpPr>
          <p:cNvPr id="6" name="Plus Sign 5">
            <a:extLst>
              <a:ext uri="{FF2B5EF4-FFF2-40B4-BE49-F238E27FC236}">
                <a16:creationId xmlns:a16="http://schemas.microsoft.com/office/drawing/2014/main" id="{81530492-6619-4260-A192-155BD38E0348}"/>
              </a:ext>
            </a:extLst>
          </p:cNvPr>
          <p:cNvSpPr/>
          <p:nvPr/>
        </p:nvSpPr>
        <p:spPr>
          <a:xfrm>
            <a:off x="4213271" y="3116125"/>
            <a:ext cx="504056" cy="504056"/>
          </a:xfrm>
          <a:prstGeom prst="mathPlu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E0AA5F-7EEB-49E9-B598-3B8E87F330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 err="1"/>
              <a:t>Today</a:t>
            </a:r>
            <a:endParaRPr lang="nl-NL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DD0BF11-6D48-4CB5-B126-7FECD20F70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6000" y="2132856"/>
            <a:ext cx="5346157" cy="2580399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800" dirty="0"/>
              <a:t>Why build a decision model in R?</a:t>
            </a:r>
          </a:p>
          <a:p>
            <a:pPr marL="457200" indent="-457200">
              <a:buFont typeface="+mj-lt"/>
              <a:buAutoNum type="arabicPeriod"/>
            </a:pPr>
            <a:endParaRPr lang="en-US" sz="2800" dirty="0"/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Exercise 1: Decision tree </a:t>
            </a:r>
          </a:p>
          <a:p>
            <a:pPr marL="457200" indent="-457200">
              <a:buFont typeface="+mj-lt"/>
              <a:buAutoNum type="arabicPeriod"/>
            </a:pPr>
            <a:endParaRPr lang="en-US" sz="2800" dirty="0"/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Exercise 2: Markov model</a:t>
            </a:r>
          </a:p>
        </p:txBody>
      </p:sp>
    </p:spTree>
    <p:extLst>
      <p:ext uri="{BB962C8B-B14F-4D97-AF65-F5344CB8AC3E}">
        <p14:creationId xmlns:p14="http://schemas.microsoft.com/office/powerpoint/2010/main" val="4256734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7D081-136E-4E20-BEBA-4BA1631F6B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8550" y="782731"/>
            <a:ext cx="7452000" cy="533400"/>
          </a:xfrm>
        </p:spPr>
        <p:txBody>
          <a:bodyPr/>
          <a:lstStyle/>
          <a:p>
            <a:r>
              <a:rPr lang="en-US" dirty="0"/>
              <a:t>Disclaimer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0C9231-26F3-4BA7-BA1C-A80CC6F36E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8550" y="1628800"/>
            <a:ext cx="7686900" cy="2436383"/>
          </a:xfrm>
        </p:spPr>
        <p:txBody>
          <a:bodyPr/>
          <a:lstStyle/>
          <a:p>
            <a:r>
              <a:rPr lang="en-US" sz="1800" dirty="0">
                <a:solidFill>
                  <a:schemeClr val="tx1"/>
                </a:solidFill>
              </a:rPr>
              <a:t>All information is based on the workshop hosted by the DARTH workgroup and my own experience. </a:t>
            </a:r>
          </a:p>
          <a:p>
            <a:endParaRPr lang="en-US" sz="1800" dirty="0">
              <a:solidFill>
                <a:schemeClr val="tx1"/>
              </a:solidFill>
            </a:endParaRPr>
          </a:p>
          <a:p>
            <a:r>
              <a:rPr lang="en-US" sz="1800" dirty="0">
                <a:solidFill>
                  <a:schemeClr val="tx1"/>
                </a:solidFill>
              </a:rPr>
              <a:t>If you use the pre-written code in your article, please cite there publication: </a:t>
            </a:r>
          </a:p>
          <a:p>
            <a:endParaRPr lang="en-US" sz="1800" dirty="0">
              <a:solidFill>
                <a:schemeClr val="tx1"/>
              </a:solidFill>
            </a:endParaRPr>
          </a:p>
          <a:p>
            <a:r>
              <a:rPr lang="en-US" sz="1800" dirty="0">
                <a:solidFill>
                  <a:schemeClr val="tx1"/>
                </a:solidFill>
              </a:rPr>
              <a:t>Jalal H, et al. An Overview of R in Health Decision Sciences. Med. </a:t>
            </a:r>
            <a:r>
              <a:rPr lang="en-US" sz="1800" dirty="0" err="1">
                <a:solidFill>
                  <a:schemeClr val="tx1"/>
                </a:solidFill>
              </a:rPr>
              <a:t>Decis</a:t>
            </a:r>
            <a:r>
              <a:rPr lang="en-US" sz="1800" dirty="0">
                <a:solidFill>
                  <a:schemeClr val="tx1"/>
                </a:solidFill>
              </a:rPr>
              <a:t>. Making. 2017; 37(3): 735-746. </a:t>
            </a:r>
          </a:p>
          <a:p>
            <a:endParaRPr lang="en-US" sz="1800" dirty="0">
              <a:solidFill>
                <a:schemeClr val="tx1"/>
              </a:solidFill>
            </a:endParaRPr>
          </a:p>
          <a:p>
            <a:r>
              <a:rPr lang="en-US" sz="1800" dirty="0">
                <a:solidFill>
                  <a:schemeClr val="tx1"/>
                </a:solidFill>
              </a:rPr>
              <a:t> Krijkamp EM, et al. Microsimulation modeling for health decision sciences using R: a tutorial. Med. </a:t>
            </a:r>
            <a:r>
              <a:rPr lang="en-US" sz="1800" dirty="0" err="1">
                <a:solidFill>
                  <a:schemeClr val="tx1"/>
                </a:solidFill>
              </a:rPr>
              <a:t>Decis</a:t>
            </a:r>
            <a:r>
              <a:rPr lang="en-US" sz="1800" dirty="0">
                <a:solidFill>
                  <a:schemeClr val="tx1"/>
                </a:solidFill>
              </a:rPr>
              <a:t>. Making. 2018; (in press).</a:t>
            </a:r>
          </a:p>
          <a:p>
            <a:r>
              <a:rPr lang="en-US" dirty="0"/>
              <a:t> </a:t>
            </a:r>
          </a:p>
        </p:txBody>
      </p:sp>
      <p:pic>
        <p:nvPicPr>
          <p:cNvPr id="1026" name="Picture 2" descr="Image result for disclaimer">
            <a:extLst>
              <a:ext uri="{FF2B5EF4-FFF2-40B4-BE49-F238E27FC236}">
                <a16:creationId xmlns:a16="http://schemas.microsoft.com/office/drawing/2014/main" id="{01F7E3D0-72E8-47AA-A47F-7777AC082B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1348" y="151346"/>
            <a:ext cx="2076652" cy="1385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002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1065A-7611-44F5-9F0E-536F81054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596" y="3068960"/>
            <a:ext cx="7272808" cy="533400"/>
          </a:xfrm>
        </p:spPr>
        <p:txBody>
          <a:bodyPr/>
          <a:lstStyle/>
          <a:p>
            <a:r>
              <a:rPr lang="nl-NL" dirty="0"/>
              <a:t>1. </a:t>
            </a:r>
            <a:r>
              <a:rPr lang="nl-NL" dirty="0" err="1"/>
              <a:t>Why</a:t>
            </a:r>
            <a:r>
              <a:rPr lang="nl-NL" dirty="0"/>
              <a:t> </a:t>
            </a:r>
            <a:r>
              <a:rPr lang="nl-NL" dirty="0" err="1"/>
              <a:t>build</a:t>
            </a:r>
            <a:r>
              <a:rPr lang="nl-NL" dirty="0"/>
              <a:t> a </a:t>
            </a:r>
            <a:r>
              <a:rPr lang="nl-NL" dirty="0" err="1"/>
              <a:t>decision</a:t>
            </a:r>
            <a:r>
              <a:rPr lang="nl-NL" dirty="0"/>
              <a:t> model </a:t>
            </a:r>
            <a:r>
              <a:rPr lang="en-US" dirty="0"/>
              <a:t>in R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91820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3CDA4-7037-4B4F-AB05-498F6D13F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Current</a:t>
            </a:r>
            <a:r>
              <a:rPr lang="nl-NL" dirty="0"/>
              <a:t> </a:t>
            </a:r>
            <a:r>
              <a:rPr lang="nl-NL" dirty="0" err="1"/>
              <a:t>decision</a:t>
            </a:r>
            <a:r>
              <a:rPr lang="nl-NL" dirty="0"/>
              <a:t> </a:t>
            </a:r>
            <a:r>
              <a:rPr lang="nl-NL" dirty="0" err="1"/>
              <a:t>modeling</a:t>
            </a:r>
            <a:r>
              <a:rPr lang="nl-NL" dirty="0"/>
              <a:t> software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888BDAE-5ACC-4EA2-BDF0-6C40F7249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000" y="1772816"/>
            <a:ext cx="8100000" cy="4125365"/>
          </a:xfrm>
        </p:spPr>
        <p:txBody>
          <a:bodyPr/>
          <a:lstStyle/>
          <a:p>
            <a:pPr marL="457200" lvl="0" indent="-355600">
              <a:spcBef>
                <a:spcPts val="440"/>
              </a:spcBef>
              <a:buSzPts val="2000"/>
            </a:pPr>
            <a:r>
              <a:rPr lang="nl-NL" dirty="0" err="1"/>
              <a:t>Specialized</a:t>
            </a:r>
            <a:r>
              <a:rPr lang="nl-NL" dirty="0"/>
              <a:t> </a:t>
            </a:r>
            <a:r>
              <a:rPr lang="nl-NL" dirty="0" err="1"/>
              <a:t>decision</a:t>
            </a:r>
            <a:r>
              <a:rPr lang="nl-NL" dirty="0"/>
              <a:t> </a:t>
            </a:r>
            <a:r>
              <a:rPr lang="nl-NL" dirty="0" err="1"/>
              <a:t>modeling</a:t>
            </a:r>
            <a:r>
              <a:rPr lang="nl-NL" dirty="0"/>
              <a:t> software</a:t>
            </a:r>
          </a:p>
          <a:p>
            <a:pPr marL="914400" lvl="1" indent="-330200">
              <a:buSzPts val="1600"/>
            </a:pPr>
            <a:r>
              <a:rPr lang="nl-NL" sz="1600" dirty="0" err="1"/>
              <a:t>TreeAge</a:t>
            </a:r>
            <a:r>
              <a:rPr lang="nl-NL" sz="1600" dirty="0"/>
              <a:t>, Data, Crystal8, Arena etc.</a:t>
            </a:r>
          </a:p>
          <a:p>
            <a:pPr marL="457200" lvl="0" indent="0">
              <a:spcBef>
                <a:spcPts val="440"/>
              </a:spcBef>
              <a:buNone/>
            </a:pPr>
            <a:endParaRPr lang="nl-NL" sz="1200" dirty="0"/>
          </a:p>
          <a:p>
            <a:pPr marL="457200" lvl="0" indent="-355600">
              <a:spcBef>
                <a:spcPts val="440"/>
              </a:spcBef>
              <a:buSzPts val="2000"/>
            </a:pPr>
            <a:r>
              <a:rPr lang="nl-NL" dirty="0"/>
              <a:t>Spreadsheet software</a:t>
            </a:r>
          </a:p>
          <a:p>
            <a:pPr marL="914400" lvl="1" indent="-330200">
              <a:buSzPts val="1600"/>
            </a:pPr>
            <a:r>
              <a:rPr lang="nl-NL" sz="1600" dirty="0"/>
              <a:t>Microsoft Excel, Open/Libre Office</a:t>
            </a:r>
          </a:p>
          <a:p>
            <a:pPr marL="457200" lvl="0" indent="0">
              <a:spcBef>
                <a:spcPts val="440"/>
              </a:spcBef>
              <a:buNone/>
            </a:pPr>
            <a:endParaRPr lang="nl-NL" sz="1100" dirty="0"/>
          </a:p>
          <a:p>
            <a:pPr marL="457200" lvl="0" indent="-355600">
              <a:spcBef>
                <a:spcPts val="440"/>
              </a:spcBef>
              <a:buSzPts val="2000"/>
            </a:pPr>
            <a:r>
              <a:rPr lang="nl-NL" dirty="0"/>
              <a:t>Statistical/ Computer </a:t>
            </a:r>
            <a:r>
              <a:rPr lang="nl-NL" dirty="0" err="1"/>
              <a:t>programing</a:t>
            </a:r>
            <a:r>
              <a:rPr lang="nl-NL" dirty="0"/>
              <a:t> software</a:t>
            </a:r>
          </a:p>
          <a:p>
            <a:pPr marL="914400" lvl="1" indent="-330200">
              <a:buSzPts val="1600"/>
            </a:pPr>
            <a:r>
              <a:rPr lang="nl-NL" sz="1600" dirty="0" err="1"/>
              <a:t>Matlab</a:t>
            </a:r>
            <a:r>
              <a:rPr lang="nl-NL" sz="1600" dirty="0"/>
              <a:t>, R, C++, Python, </a:t>
            </a:r>
            <a:r>
              <a:rPr lang="nl-NL" sz="1600" dirty="0" err="1"/>
              <a:t>WinBUGS</a:t>
            </a:r>
            <a:r>
              <a:rPr lang="nl-NL" sz="1600" dirty="0"/>
              <a:t>, </a:t>
            </a:r>
            <a:r>
              <a:rPr lang="nl-NL" sz="1600" dirty="0" err="1"/>
              <a:t>etc</a:t>
            </a:r>
            <a:endParaRPr lang="nl-NL" sz="1600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09569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Shape 280"/>
          <p:cNvPicPr preferRelativeResize="0"/>
          <p:nvPr/>
        </p:nvPicPr>
        <p:blipFill rotWithShape="1">
          <a:blip r:embed="rId3">
            <a:alphaModFix/>
          </a:blip>
          <a:srcRect l="1303" r="2856" b="10015"/>
          <a:stretch/>
        </p:blipFill>
        <p:spPr>
          <a:xfrm>
            <a:off x="183800" y="2534332"/>
            <a:ext cx="8776400" cy="421664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BCE43E9-82CB-4099-BC34-8C2C523F4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281" name="Shape 281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nl-NL" smtClean="0"/>
              <a:pPr lvl="0"/>
              <a:t>6</a:t>
            </a:fld>
            <a:endParaRPr lang="nl-NL"/>
          </a:p>
        </p:txBody>
      </p:sp>
      <p:pic>
        <p:nvPicPr>
          <p:cNvPr id="282" name="Shape 282"/>
          <p:cNvPicPr preferRelativeResize="0"/>
          <p:nvPr/>
        </p:nvPicPr>
        <p:blipFill rotWithShape="1">
          <a:blip r:embed="rId4">
            <a:alphaModFix/>
          </a:blip>
          <a:srcRect b="38168"/>
          <a:stretch/>
        </p:blipFill>
        <p:spPr>
          <a:xfrm>
            <a:off x="505232" y="73483"/>
            <a:ext cx="3757588" cy="1520494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Shape 283"/>
          <p:cNvSpPr txBox="1"/>
          <p:nvPr/>
        </p:nvSpPr>
        <p:spPr>
          <a:xfrm>
            <a:off x="-180528" y="833730"/>
            <a:ext cx="5701754" cy="220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200" u="sng" dirty="0">
                <a:solidFill>
                  <a:schemeClr val="lt2"/>
                </a:solidFill>
                <a:hlinkClick r:id="rId5"/>
              </a:rPr>
              <a:t>https://www.ncbi.nlm.nih.gov/pubmed/28481489</a:t>
            </a:r>
            <a:r>
              <a:rPr lang="nl-NL" sz="1200" dirty="0">
                <a:solidFill>
                  <a:schemeClr val="lt2"/>
                </a:solidFill>
              </a:rPr>
              <a:t> - 2018</a:t>
            </a:r>
            <a:endParaRPr sz="1200" dirty="0">
              <a:solidFill>
                <a:schemeClr val="lt2"/>
              </a:solidFill>
            </a:endParaRPr>
          </a:p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l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114FA8-693B-4032-AE08-3D0E0ABFFC57}"/>
              </a:ext>
            </a:extLst>
          </p:cNvPr>
          <p:cNvSpPr txBox="1"/>
          <p:nvPr/>
        </p:nvSpPr>
        <p:spPr>
          <a:xfrm>
            <a:off x="4427984" y="255381"/>
            <a:ext cx="4388200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NL" b="1" u="sng" dirty="0"/>
              <a:t>Survey</a:t>
            </a:r>
            <a:r>
              <a:rPr lang="nl-NL" dirty="0"/>
              <a:t>:</a:t>
            </a:r>
          </a:p>
          <a:p>
            <a:r>
              <a:rPr lang="nl-NL" dirty="0"/>
              <a:t>Main concerns: </a:t>
            </a:r>
          </a:p>
          <a:p>
            <a:r>
              <a:rPr lang="nl-NL" dirty="0"/>
              <a:t>-More complex </a:t>
            </a:r>
            <a:r>
              <a:rPr lang="nl-NL" dirty="0" err="1"/>
              <a:t>modelling</a:t>
            </a:r>
            <a:r>
              <a:rPr lang="nl-NL" dirty="0"/>
              <a:t>, </a:t>
            </a:r>
            <a:r>
              <a:rPr lang="nl-NL" dirty="0" err="1"/>
              <a:t>including</a:t>
            </a:r>
            <a:r>
              <a:rPr lang="nl-NL" dirty="0"/>
              <a:t> </a:t>
            </a:r>
            <a:r>
              <a:rPr lang="nl-NL" dirty="0" err="1"/>
              <a:t>patient</a:t>
            </a:r>
            <a:r>
              <a:rPr lang="nl-NL" dirty="0"/>
              <a:t> level </a:t>
            </a:r>
            <a:r>
              <a:rPr lang="nl-NL" dirty="0" err="1"/>
              <a:t>simulations</a:t>
            </a:r>
            <a:endParaRPr lang="nl-NL" dirty="0"/>
          </a:p>
          <a:p>
            <a:r>
              <a:rPr lang="nl-NL" dirty="0"/>
              <a:t>-Commercial </a:t>
            </a:r>
            <a:r>
              <a:rPr lang="nl-NL" dirty="0" err="1"/>
              <a:t>and</a:t>
            </a:r>
            <a:r>
              <a:rPr lang="nl-NL" dirty="0"/>
              <a:t> black box</a:t>
            </a:r>
          </a:p>
          <a:p>
            <a:r>
              <a:rPr lang="nl-NL" dirty="0"/>
              <a:t>-NICE: </a:t>
            </a:r>
            <a:r>
              <a:rPr lang="nl-NL" dirty="0" err="1"/>
              <a:t>licensing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validation</a:t>
            </a:r>
            <a:r>
              <a:rPr lang="nl-NL" dirty="0"/>
              <a:t> issues in </a:t>
            </a:r>
            <a:r>
              <a:rPr lang="nl-NL" dirty="0" err="1"/>
              <a:t>appraisals</a:t>
            </a:r>
            <a:r>
              <a:rPr lang="nl-NL" dirty="0"/>
              <a:t>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Shape 3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8575" y="1229966"/>
            <a:ext cx="9144000" cy="430465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0E7559A-CEE7-49DF-B303-8BCB2D0AD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It is </a:t>
            </a:r>
            <a:r>
              <a:rPr lang="nl-NL" dirty="0" err="1"/>
              <a:t>fast</a:t>
            </a:r>
            <a:r>
              <a:rPr lang="nl-NL" dirty="0"/>
              <a:t>!</a:t>
            </a:r>
          </a:p>
        </p:txBody>
      </p:sp>
      <p:sp>
        <p:nvSpPr>
          <p:cNvPr id="387" name="Shape 38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7</a:t>
            </a:fld>
            <a:endParaRPr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6AD2CC6-68B7-4382-94B2-77D513C614BB}"/>
              </a:ext>
            </a:extLst>
          </p:cNvPr>
          <p:cNvSpPr/>
          <p:nvPr/>
        </p:nvSpPr>
        <p:spPr>
          <a:xfrm>
            <a:off x="3788487" y="2420888"/>
            <a:ext cx="5355513" cy="360040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EE2D162-0E43-4009-9E3D-6834F2549936}"/>
              </a:ext>
            </a:extLst>
          </p:cNvPr>
          <p:cNvSpPr/>
          <p:nvPr/>
        </p:nvSpPr>
        <p:spPr>
          <a:xfrm>
            <a:off x="107504" y="4725144"/>
            <a:ext cx="4854681" cy="775644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6F0DEF-B3DF-4926-9FEA-8F99980782AC}"/>
              </a:ext>
            </a:extLst>
          </p:cNvPr>
          <p:cNvSpPr txBox="1"/>
          <p:nvPr/>
        </p:nvSpPr>
        <p:spPr>
          <a:xfrm>
            <a:off x="1691680" y="5818901"/>
            <a:ext cx="6930320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Individual model Tim: 100.000 simulations in 9.8 seconds!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63C3A-99A3-4A4A-B545-4523B04E1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3DE460-9F72-4199-AE2F-1E788D882B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674717-3010-444D-A6C9-447A0B098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" y="519112"/>
            <a:ext cx="8629650" cy="581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200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Shape 426"/>
          <p:cNvSpPr txBox="1">
            <a:spLocks noGrp="1"/>
          </p:cNvSpPr>
          <p:nvPr>
            <p:ph type="title"/>
          </p:nvPr>
        </p:nvSpPr>
        <p:spPr>
          <a:xfrm>
            <a:off x="494968" y="476672"/>
            <a:ext cx="8064896" cy="114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 err="1"/>
              <a:t>When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build</a:t>
            </a:r>
            <a:r>
              <a:rPr lang="nl-NL" dirty="0"/>
              <a:t> a </a:t>
            </a:r>
            <a:r>
              <a:rPr lang="nl-NL" dirty="0" err="1"/>
              <a:t>decision</a:t>
            </a:r>
            <a:r>
              <a:rPr lang="nl-NL" dirty="0"/>
              <a:t> model in R</a:t>
            </a:r>
            <a:endParaRPr dirty="0"/>
          </a:p>
        </p:txBody>
      </p:sp>
      <p:sp>
        <p:nvSpPr>
          <p:cNvPr id="427" name="Shape 427"/>
          <p:cNvSpPr txBox="1">
            <a:spLocks noGrp="1"/>
          </p:cNvSpPr>
          <p:nvPr>
            <p:ph type="body" idx="1"/>
          </p:nvPr>
        </p:nvSpPr>
        <p:spPr>
          <a:xfrm>
            <a:off x="762000" y="1484784"/>
            <a:ext cx="7620000" cy="48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rtl="0">
              <a:spcBef>
                <a:spcPts val="440"/>
              </a:spcBef>
              <a:spcAft>
                <a:spcPts val="0"/>
              </a:spcAft>
              <a:buSzPts val="2000"/>
              <a:buChar char="•"/>
            </a:pPr>
            <a:r>
              <a:rPr lang="nl-NL" sz="2000" dirty="0"/>
              <a:t>A model </a:t>
            </a:r>
            <a:r>
              <a:rPr lang="nl-NL" sz="2000" dirty="0" err="1"/>
              <a:t>that</a:t>
            </a:r>
            <a:r>
              <a:rPr lang="nl-NL" sz="2000" dirty="0"/>
              <a:t> is </a:t>
            </a:r>
            <a:r>
              <a:rPr lang="nl-NL" sz="2000" b="1" dirty="0" err="1"/>
              <a:t>too</a:t>
            </a:r>
            <a:r>
              <a:rPr lang="nl-NL" sz="2000" b="1" dirty="0"/>
              <a:t> complex</a:t>
            </a:r>
            <a:r>
              <a:rPr lang="nl-NL" sz="2000" dirty="0"/>
              <a:t> </a:t>
            </a:r>
            <a:r>
              <a:rPr lang="nl-NL" sz="2000" dirty="0" err="1"/>
              <a:t>to</a:t>
            </a:r>
            <a:r>
              <a:rPr lang="nl-NL" sz="2000" dirty="0"/>
              <a:t> </a:t>
            </a:r>
            <a:r>
              <a:rPr lang="nl-NL" sz="2000" dirty="0" err="1"/>
              <a:t>be</a:t>
            </a:r>
            <a:r>
              <a:rPr lang="nl-NL" sz="2000" dirty="0"/>
              <a:t> </a:t>
            </a:r>
            <a:r>
              <a:rPr lang="nl-NL" sz="2000" dirty="0" err="1"/>
              <a:t>designed</a:t>
            </a:r>
            <a:r>
              <a:rPr lang="nl-NL" sz="2000" dirty="0"/>
              <a:t> </a:t>
            </a:r>
            <a:r>
              <a:rPr lang="nl-NL" sz="2000" dirty="0" err="1"/>
              <a:t>easily</a:t>
            </a:r>
            <a:r>
              <a:rPr lang="nl-NL" sz="2000" dirty="0"/>
              <a:t> in </a:t>
            </a:r>
            <a:r>
              <a:rPr lang="nl-NL" sz="2000" dirty="0" err="1"/>
              <a:t>TreeAge</a:t>
            </a:r>
            <a:r>
              <a:rPr lang="nl-NL" sz="2000" dirty="0"/>
              <a:t> or Excel.</a:t>
            </a:r>
            <a:endParaRPr sz="2000" dirty="0"/>
          </a:p>
          <a:p>
            <a:pPr marL="342900" lvl="0" indent="-88900" rtl="0">
              <a:spcBef>
                <a:spcPts val="440"/>
              </a:spcBef>
              <a:spcAft>
                <a:spcPts val="0"/>
              </a:spcAft>
              <a:buNone/>
            </a:pPr>
            <a:endParaRPr sz="600" dirty="0"/>
          </a:p>
          <a:p>
            <a:pPr marL="457200" lvl="0" indent="-355600" rtl="0">
              <a:spcBef>
                <a:spcPts val="440"/>
              </a:spcBef>
              <a:spcAft>
                <a:spcPts val="0"/>
              </a:spcAft>
              <a:buSzPts val="2000"/>
              <a:buChar char="•"/>
            </a:pPr>
            <a:r>
              <a:rPr lang="nl-NL" sz="2000" dirty="0" err="1"/>
              <a:t>You</a:t>
            </a:r>
            <a:r>
              <a:rPr lang="nl-NL" sz="2000" dirty="0"/>
              <a:t> care </a:t>
            </a:r>
            <a:r>
              <a:rPr lang="nl-NL" sz="2000" dirty="0" err="1"/>
              <a:t>about</a:t>
            </a:r>
            <a:r>
              <a:rPr lang="nl-NL" sz="2000" dirty="0"/>
              <a:t> </a:t>
            </a:r>
            <a:r>
              <a:rPr lang="nl-NL" sz="2000" b="1" dirty="0" err="1"/>
              <a:t>execution</a:t>
            </a:r>
            <a:r>
              <a:rPr lang="nl-NL" sz="2000" b="1" dirty="0"/>
              <a:t> time</a:t>
            </a:r>
            <a:r>
              <a:rPr lang="nl-NL" sz="2000" dirty="0"/>
              <a:t> </a:t>
            </a:r>
            <a:r>
              <a:rPr lang="nl-NL" sz="2000" dirty="0" err="1"/>
              <a:t>and</a:t>
            </a:r>
            <a:r>
              <a:rPr lang="nl-NL" sz="2000" dirty="0"/>
              <a:t> </a:t>
            </a:r>
            <a:r>
              <a:rPr lang="nl-NL" sz="2000" dirty="0" err="1"/>
              <a:t>computational</a:t>
            </a:r>
            <a:r>
              <a:rPr lang="nl-NL" sz="2000" dirty="0"/>
              <a:t> </a:t>
            </a:r>
            <a:r>
              <a:rPr lang="nl-NL" sz="2000" b="1" dirty="0"/>
              <a:t>efficiency</a:t>
            </a:r>
            <a:r>
              <a:rPr lang="nl-NL" sz="2000" dirty="0"/>
              <a:t>.</a:t>
            </a:r>
          </a:p>
          <a:p>
            <a:pPr marL="457200" lvl="0" indent="-355600" rtl="0">
              <a:spcBef>
                <a:spcPts val="440"/>
              </a:spcBef>
              <a:spcAft>
                <a:spcPts val="0"/>
              </a:spcAft>
              <a:buSzPts val="2000"/>
              <a:buChar char="•"/>
            </a:pPr>
            <a:endParaRPr lang="nl-NL" dirty="0"/>
          </a:p>
          <a:p>
            <a:pPr marL="457200" lvl="0" indent="-355600" rtl="0">
              <a:spcBef>
                <a:spcPts val="440"/>
              </a:spcBef>
              <a:spcAft>
                <a:spcPts val="0"/>
              </a:spcAft>
              <a:buSzPts val="2000"/>
              <a:buChar char="•"/>
            </a:pPr>
            <a:r>
              <a:rPr lang="nl-NL" dirty="0"/>
              <a:t>Want to </a:t>
            </a:r>
            <a:r>
              <a:rPr lang="nl-NL" b="1" dirty="0" err="1"/>
              <a:t>create</a:t>
            </a:r>
            <a:r>
              <a:rPr lang="nl-NL" b="1" dirty="0"/>
              <a:t> a web-</a:t>
            </a:r>
            <a:r>
              <a:rPr lang="nl-NL" b="1" dirty="0" err="1"/>
              <a:t>based</a:t>
            </a:r>
            <a:r>
              <a:rPr lang="nl-NL" b="1" dirty="0"/>
              <a:t> tool </a:t>
            </a:r>
            <a:r>
              <a:rPr lang="nl-NL" dirty="0"/>
              <a:t>for </a:t>
            </a:r>
            <a:r>
              <a:rPr lang="nl-NL" dirty="0" err="1"/>
              <a:t>the</a:t>
            </a:r>
            <a:r>
              <a:rPr lang="nl-NL" dirty="0"/>
              <a:t> end-user to </a:t>
            </a:r>
            <a:r>
              <a:rPr lang="nl-NL" dirty="0" err="1"/>
              <a:t>improve</a:t>
            </a:r>
            <a:r>
              <a:rPr lang="nl-NL" dirty="0"/>
              <a:t> </a:t>
            </a:r>
            <a:r>
              <a:rPr lang="nl-NL" dirty="0" err="1"/>
              <a:t>interpretation</a:t>
            </a:r>
            <a:r>
              <a:rPr lang="nl-NL" dirty="0"/>
              <a:t> of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results</a:t>
            </a:r>
            <a:endParaRPr sz="2000" dirty="0"/>
          </a:p>
          <a:p>
            <a:pPr marL="342900" lvl="0" indent="-88900" rtl="0">
              <a:spcBef>
                <a:spcPts val="440"/>
              </a:spcBef>
              <a:spcAft>
                <a:spcPts val="0"/>
              </a:spcAft>
              <a:buNone/>
            </a:pPr>
            <a:endParaRPr sz="600" dirty="0"/>
          </a:p>
          <a:p>
            <a:pPr marL="457200" lvl="0" indent="-355600" rtl="0">
              <a:spcBef>
                <a:spcPts val="440"/>
              </a:spcBef>
              <a:spcAft>
                <a:spcPts val="0"/>
              </a:spcAft>
              <a:buSzPts val="2000"/>
              <a:buChar char="•"/>
            </a:pPr>
            <a:r>
              <a:rPr lang="nl-NL" sz="2000" dirty="0" err="1"/>
              <a:t>You</a:t>
            </a:r>
            <a:r>
              <a:rPr lang="nl-NL" sz="2000" dirty="0"/>
              <a:t> want </a:t>
            </a:r>
            <a:r>
              <a:rPr lang="nl-NL" sz="2000" dirty="0" err="1"/>
              <a:t>to</a:t>
            </a:r>
            <a:r>
              <a:rPr lang="nl-NL" sz="2000" dirty="0"/>
              <a:t> </a:t>
            </a:r>
            <a:r>
              <a:rPr lang="nl-NL" sz="2000" b="1" dirty="0" err="1"/>
              <a:t>embed</a:t>
            </a:r>
            <a:r>
              <a:rPr lang="nl-NL" sz="2000" b="1" dirty="0"/>
              <a:t> </a:t>
            </a:r>
            <a:r>
              <a:rPr lang="nl-NL" sz="2000" b="1" dirty="0" err="1"/>
              <a:t>statistical</a:t>
            </a:r>
            <a:r>
              <a:rPr lang="nl-NL" sz="2000" b="1" dirty="0"/>
              <a:t> </a:t>
            </a:r>
            <a:r>
              <a:rPr lang="nl-NL" sz="2000" b="1" dirty="0" err="1"/>
              <a:t>models</a:t>
            </a:r>
            <a:r>
              <a:rPr lang="nl-NL" sz="2000" dirty="0"/>
              <a:t> </a:t>
            </a:r>
            <a:r>
              <a:rPr lang="nl-NL" sz="2000" dirty="0" err="1"/>
              <a:t>and</a:t>
            </a:r>
            <a:r>
              <a:rPr lang="nl-NL" sz="2000" dirty="0"/>
              <a:t> </a:t>
            </a:r>
            <a:r>
              <a:rPr lang="nl-NL" sz="2000" dirty="0" err="1"/>
              <a:t>the</a:t>
            </a:r>
            <a:r>
              <a:rPr lang="nl-NL" sz="2000" dirty="0"/>
              <a:t> </a:t>
            </a:r>
            <a:r>
              <a:rPr lang="nl-NL" sz="2000" dirty="0" err="1"/>
              <a:t>associated</a:t>
            </a:r>
            <a:r>
              <a:rPr lang="nl-NL" sz="2000" dirty="0"/>
              <a:t> </a:t>
            </a:r>
            <a:r>
              <a:rPr lang="nl-NL" sz="2000" b="1" dirty="0" err="1"/>
              <a:t>uncertainty</a:t>
            </a:r>
            <a:r>
              <a:rPr lang="nl-NL" sz="2000" dirty="0"/>
              <a:t>.</a:t>
            </a:r>
            <a:endParaRPr sz="2000" dirty="0"/>
          </a:p>
          <a:p>
            <a:pPr marL="342900" lvl="0" indent="-88900" rtl="0">
              <a:spcBef>
                <a:spcPts val="440"/>
              </a:spcBef>
              <a:spcAft>
                <a:spcPts val="0"/>
              </a:spcAft>
              <a:buNone/>
            </a:pPr>
            <a:endParaRPr sz="600" dirty="0"/>
          </a:p>
          <a:p>
            <a:pPr marL="457200" lvl="0" indent="-355600" rtl="0">
              <a:spcBef>
                <a:spcPts val="440"/>
              </a:spcBef>
              <a:spcAft>
                <a:spcPts val="0"/>
              </a:spcAft>
              <a:buSzPts val="2000"/>
              <a:buChar char="•"/>
            </a:pPr>
            <a:r>
              <a:rPr lang="nl-NL" sz="2000" dirty="0" err="1"/>
              <a:t>You</a:t>
            </a:r>
            <a:r>
              <a:rPr lang="nl-NL" sz="2000" dirty="0"/>
              <a:t> want </a:t>
            </a:r>
            <a:r>
              <a:rPr lang="nl-NL" sz="2000" dirty="0" err="1"/>
              <a:t>to</a:t>
            </a:r>
            <a:r>
              <a:rPr lang="nl-NL" sz="2000" dirty="0"/>
              <a:t> have a </a:t>
            </a:r>
            <a:r>
              <a:rPr lang="nl-NL" sz="2000" b="1" dirty="0" err="1"/>
              <a:t>transparent</a:t>
            </a:r>
            <a:r>
              <a:rPr lang="nl-NL" sz="2000" b="1" dirty="0"/>
              <a:t> </a:t>
            </a:r>
            <a:r>
              <a:rPr lang="nl-NL" sz="2000" b="1" dirty="0" err="1"/>
              <a:t>decision</a:t>
            </a:r>
            <a:r>
              <a:rPr lang="nl-NL" sz="2000" b="1" dirty="0"/>
              <a:t> model</a:t>
            </a:r>
            <a:r>
              <a:rPr lang="nl-NL" sz="2000" dirty="0"/>
              <a:t> </a:t>
            </a:r>
            <a:r>
              <a:rPr lang="nl-NL" sz="2000" dirty="0" err="1"/>
              <a:t>with</a:t>
            </a:r>
            <a:r>
              <a:rPr lang="nl-NL" sz="2000" dirty="0"/>
              <a:t> open access </a:t>
            </a:r>
            <a:r>
              <a:rPr lang="nl-NL" sz="2000" dirty="0" err="1"/>
              <a:t>to</a:t>
            </a:r>
            <a:r>
              <a:rPr lang="nl-NL" sz="2000" dirty="0"/>
              <a:t> </a:t>
            </a:r>
            <a:r>
              <a:rPr lang="nl-NL" sz="2000" dirty="0" err="1"/>
              <a:t>any</a:t>
            </a:r>
            <a:r>
              <a:rPr lang="nl-NL" sz="2000" dirty="0"/>
              <a:t> user.</a:t>
            </a:r>
            <a:endParaRPr sz="2000" dirty="0"/>
          </a:p>
          <a:p>
            <a:pPr marL="342900" lvl="0" indent="-88900" rtl="0">
              <a:spcBef>
                <a:spcPts val="440"/>
              </a:spcBef>
              <a:spcAft>
                <a:spcPts val="0"/>
              </a:spcAft>
              <a:buNone/>
            </a:pPr>
            <a:endParaRPr sz="2000" dirty="0"/>
          </a:p>
          <a:p>
            <a:pPr marL="342900" lvl="0" indent="-88900" rtl="0">
              <a:spcBef>
                <a:spcPts val="440"/>
              </a:spcBef>
              <a:spcAft>
                <a:spcPts val="0"/>
              </a:spcAft>
              <a:buNone/>
            </a:pPr>
            <a:endParaRPr sz="2000" dirty="0"/>
          </a:p>
        </p:txBody>
      </p:sp>
      <p:sp>
        <p:nvSpPr>
          <p:cNvPr id="428" name="Shape 428"/>
          <p:cNvSpPr txBox="1">
            <a:spLocks noGrp="1"/>
          </p:cNvSpPr>
          <p:nvPr>
            <p:ph type="sldNum" idx="12"/>
          </p:nvPr>
        </p:nvSpPr>
        <p:spPr>
          <a:xfrm>
            <a:off x="8559864" y="6453336"/>
            <a:ext cx="5487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nl-NL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25460-D430-4624-BF2D-A2019FB8D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9832" y="2780928"/>
            <a:ext cx="2897872" cy="533400"/>
          </a:xfrm>
        </p:spPr>
        <p:txBody>
          <a:bodyPr/>
          <a:lstStyle/>
          <a:p>
            <a:pPr algn="ctr"/>
            <a:r>
              <a:rPr lang="nl-NL" dirty="0"/>
              <a:t>How?</a:t>
            </a:r>
          </a:p>
        </p:txBody>
      </p:sp>
    </p:spTree>
    <p:extLst>
      <p:ext uri="{BB962C8B-B14F-4D97-AF65-F5344CB8AC3E}">
        <p14:creationId xmlns:p14="http://schemas.microsoft.com/office/powerpoint/2010/main" val="149922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Shape 462"/>
          <p:cNvSpPr txBox="1">
            <a:spLocks noGrp="1"/>
          </p:cNvSpPr>
          <p:nvPr>
            <p:ph type="title"/>
          </p:nvPr>
        </p:nvSpPr>
        <p:spPr>
          <a:xfrm>
            <a:off x="683575" y="762000"/>
            <a:ext cx="7620000" cy="114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 err="1"/>
              <a:t>Conceptualizing</a:t>
            </a:r>
            <a:r>
              <a:rPr lang="nl-NL" dirty="0"/>
              <a:t> a </a:t>
            </a:r>
            <a:r>
              <a:rPr lang="nl-NL" dirty="0" err="1"/>
              <a:t>decision</a:t>
            </a:r>
            <a:r>
              <a:rPr lang="nl-NL" dirty="0"/>
              <a:t> model in R</a:t>
            </a:r>
            <a:endParaRPr dirty="0"/>
          </a:p>
        </p:txBody>
      </p:sp>
      <p:sp>
        <p:nvSpPr>
          <p:cNvPr id="463" name="Shape 463"/>
          <p:cNvSpPr txBox="1">
            <a:spLocks noGrp="1"/>
          </p:cNvSpPr>
          <p:nvPr>
            <p:ph type="body" idx="1"/>
          </p:nvPr>
        </p:nvSpPr>
        <p:spPr>
          <a:xfrm>
            <a:off x="840425" y="1905000"/>
            <a:ext cx="7620000" cy="453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88900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nl-NL" sz="2000" b="1" dirty="0">
                <a:solidFill>
                  <a:srgbClr val="888888"/>
                </a:solidFill>
              </a:rPr>
              <a:t>INPUT</a:t>
            </a:r>
            <a:r>
              <a:rPr lang="nl-NL" sz="2000" dirty="0"/>
              <a:t>: Load input data relevant </a:t>
            </a:r>
            <a:r>
              <a:rPr lang="nl-NL" sz="2000" dirty="0" err="1"/>
              <a:t>to</a:t>
            </a:r>
            <a:r>
              <a:rPr lang="nl-NL" sz="2000" dirty="0"/>
              <a:t> </a:t>
            </a:r>
            <a:r>
              <a:rPr lang="nl-NL" sz="2000" dirty="0" err="1"/>
              <a:t>the</a:t>
            </a:r>
            <a:r>
              <a:rPr lang="nl-NL" sz="2000" dirty="0"/>
              <a:t> </a:t>
            </a:r>
            <a:r>
              <a:rPr lang="nl-NL" sz="2000" dirty="0" err="1"/>
              <a:t>decision</a:t>
            </a:r>
            <a:r>
              <a:rPr lang="nl-NL" sz="2000" dirty="0"/>
              <a:t> model</a:t>
            </a:r>
            <a:endParaRPr sz="2000" dirty="0"/>
          </a:p>
          <a:p>
            <a:pPr marL="342900" lvl="0" indent="-88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nl-NL" sz="2000" b="1" dirty="0">
                <a:solidFill>
                  <a:srgbClr val="888888"/>
                </a:solidFill>
              </a:rPr>
              <a:t>INITIALIZATION</a:t>
            </a:r>
            <a:r>
              <a:rPr lang="nl-NL" sz="2000" dirty="0"/>
              <a:t>: </a:t>
            </a:r>
            <a:r>
              <a:rPr lang="nl-NL" sz="2000" dirty="0" err="1"/>
              <a:t>Declare</a:t>
            </a:r>
            <a:r>
              <a:rPr lang="nl-NL" sz="2000" dirty="0"/>
              <a:t> </a:t>
            </a:r>
            <a:r>
              <a:rPr lang="nl-NL" sz="2000" dirty="0" err="1"/>
              <a:t>and</a:t>
            </a:r>
            <a:r>
              <a:rPr lang="nl-NL" sz="2000" dirty="0"/>
              <a:t> </a:t>
            </a:r>
            <a:r>
              <a:rPr lang="nl-NL" sz="2000" dirty="0" err="1"/>
              <a:t>initialize</a:t>
            </a:r>
            <a:r>
              <a:rPr lang="nl-NL" sz="2000" dirty="0"/>
              <a:t> </a:t>
            </a:r>
            <a:r>
              <a:rPr lang="nl-NL" sz="2000" dirty="0" err="1"/>
              <a:t>all</a:t>
            </a:r>
            <a:r>
              <a:rPr lang="nl-NL" sz="2000" dirty="0"/>
              <a:t> variables </a:t>
            </a:r>
            <a:r>
              <a:rPr lang="nl-NL" sz="2000" dirty="0" err="1"/>
              <a:t>that</a:t>
            </a:r>
            <a:r>
              <a:rPr lang="nl-NL" sz="2000" dirty="0"/>
              <a:t> </a:t>
            </a:r>
            <a:r>
              <a:rPr lang="nl-NL" sz="2000" dirty="0" err="1"/>
              <a:t>will</a:t>
            </a:r>
            <a:r>
              <a:rPr lang="nl-NL" sz="2000" dirty="0"/>
              <a:t> </a:t>
            </a:r>
            <a:r>
              <a:rPr lang="nl-NL" sz="2000" dirty="0" err="1"/>
              <a:t>be</a:t>
            </a:r>
            <a:r>
              <a:rPr lang="nl-NL" sz="2000" dirty="0"/>
              <a:t> </a:t>
            </a:r>
            <a:r>
              <a:rPr lang="nl-NL" sz="2000" dirty="0" err="1"/>
              <a:t>used</a:t>
            </a:r>
            <a:r>
              <a:rPr lang="nl-NL" sz="2000" dirty="0"/>
              <a:t> </a:t>
            </a:r>
            <a:r>
              <a:rPr lang="nl-NL" sz="2000" dirty="0" err="1"/>
              <a:t>to</a:t>
            </a:r>
            <a:r>
              <a:rPr lang="nl-NL" sz="2000" dirty="0"/>
              <a:t> store information in </a:t>
            </a:r>
            <a:r>
              <a:rPr lang="nl-NL" sz="2000" dirty="0" err="1"/>
              <a:t>the</a:t>
            </a:r>
            <a:r>
              <a:rPr lang="nl-NL" sz="2000" dirty="0"/>
              <a:t> </a:t>
            </a:r>
            <a:r>
              <a:rPr lang="nl-NL" sz="2000" dirty="0" err="1"/>
              <a:t>decision</a:t>
            </a:r>
            <a:r>
              <a:rPr lang="nl-NL" sz="2000" dirty="0"/>
              <a:t> model. The </a:t>
            </a:r>
            <a:r>
              <a:rPr lang="nl-NL" sz="2000" dirty="0" err="1"/>
              <a:t>dimensions</a:t>
            </a:r>
            <a:r>
              <a:rPr lang="nl-NL" sz="2000" dirty="0"/>
              <a:t> of </a:t>
            </a:r>
            <a:r>
              <a:rPr lang="nl-NL" sz="2000" dirty="0" err="1"/>
              <a:t>the</a:t>
            </a:r>
            <a:r>
              <a:rPr lang="nl-NL" sz="2000" dirty="0"/>
              <a:t> variables are </a:t>
            </a:r>
            <a:r>
              <a:rPr lang="nl-NL" sz="2000" dirty="0" err="1"/>
              <a:t>defined</a:t>
            </a:r>
            <a:r>
              <a:rPr lang="nl-NL" sz="2000" dirty="0"/>
              <a:t>.</a:t>
            </a:r>
            <a:endParaRPr sz="2000" dirty="0"/>
          </a:p>
          <a:p>
            <a:pPr marL="342900" lvl="0" indent="-88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nl-NL" sz="2000" b="1" dirty="0">
                <a:solidFill>
                  <a:srgbClr val="888888"/>
                </a:solidFill>
              </a:rPr>
              <a:t>MODEL</a:t>
            </a:r>
            <a:r>
              <a:rPr lang="nl-NL" sz="2000" dirty="0"/>
              <a:t>: The </a:t>
            </a:r>
            <a:r>
              <a:rPr lang="nl-NL" sz="2000" dirty="0" err="1"/>
              <a:t>main</a:t>
            </a:r>
            <a:r>
              <a:rPr lang="nl-NL" sz="2000" dirty="0"/>
              <a:t> component of </a:t>
            </a:r>
            <a:r>
              <a:rPr lang="nl-NL" sz="2000" dirty="0" err="1"/>
              <a:t>the</a:t>
            </a:r>
            <a:r>
              <a:rPr lang="nl-NL" sz="2000" dirty="0"/>
              <a:t> </a:t>
            </a:r>
            <a:r>
              <a:rPr lang="nl-NL" sz="2000" dirty="0" err="1"/>
              <a:t>decision</a:t>
            </a:r>
            <a:r>
              <a:rPr lang="nl-NL" sz="2000" dirty="0"/>
              <a:t> model; here is </a:t>
            </a:r>
            <a:r>
              <a:rPr lang="nl-NL" sz="2000" dirty="0" err="1"/>
              <a:t>where</a:t>
            </a:r>
            <a:r>
              <a:rPr lang="nl-NL" sz="2000" dirty="0"/>
              <a:t> </a:t>
            </a:r>
            <a:r>
              <a:rPr lang="nl-NL" sz="2000" dirty="0" err="1"/>
              <a:t>the</a:t>
            </a:r>
            <a:r>
              <a:rPr lang="nl-NL" sz="2000" dirty="0"/>
              <a:t> model </a:t>
            </a:r>
            <a:r>
              <a:rPr lang="nl-NL" sz="2000" dirty="0" err="1"/>
              <a:t>outcomes</a:t>
            </a:r>
            <a:r>
              <a:rPr lang="nl-NL" sz="2000" dirty="0"/>
              <a:t> (</a:t>
            </a:r>
            <a:r>
              <a:rPr lang="nl-NL" sz="2000" dirty="0" err="1"/>
              <a:t>expected</a:t>
            </a:r>
            <a:r>
              <a:rPr lang="nl-NL" sz="2000" dirty="0"/>
              <a:t> </a:t>
            </a:r>
            <a:r>
              <a:rPr lang="nl-NL" sz="2000" dirty="0" err="1"/>
              <a:t>costs</a:t>
            </a:r>
            <a:r>
              <a:rPr lang="nl-NL" sz="2000" dirty="0"/>
              <a:t>, </a:t>
            </a:r>
            <a:r>
              <a:rPr lang="nl-NL" sz="2000" dirty="0" err="1"/>
              <a:t>expected</a:t>
            </a:r>
            <a:r>
              <a:rPr lang="nl-NL" sz="2000" dirty="0"/>
              <a:t> </a:t>
            </a:r>
            <a:r>
              <a:rPr lang="nl-NL" sz="2000" dirty="0" err="1"/>
              <a:t>outcomes</a:t>
            </a:r>
            <a:r>
              <a:rPr lang="nl-NL" sz="2000" dirty="0"/>
              <a:t>, </a:t>
            </a:r>
            <a:r>
              <a:rPr lang="nl-NL" sz="2000" dirty="0" err="1"/>
              <a:t>incremental</a:t>
            </a:r>
            <a:r>
              <a:rPr lang="nl-NL" sz="2000" dirty="0"/>
              <a:t> </a:t>
            </a:r>
            <a:r>
              <a:rPr lang="nl-NL" sz="2000" dirty="0" err="1"/>
              <a:t>costs</a:t>
            </a:r>
            <a:r>
              <a:rPr lang="nl-NL" sz="2000" dirty="0"/>
              <a:t> </a:t>
            </a:r>
            <a:r>
              <a:rPr lang="nl-NL" sz="2000" dirty="0" err="1"/>
              <a:t>and</a:t>
            </a:r>
            <a:r>
              <a:rPr lang="nl-NL" sz="2000" dirty="0"/>
              <a:t> </a:t>
            </a:r>
            <a:r>
              <a:rPr lang="nl-NL" sz="2000" dirty="0" err="1"/>
              <a:t>effects</a:t>
            </a:r>
            <a:r>
              <a:rPr lang="nl-NL" sz="2000" dirty="0"/>
              <a:t> </a:t>
            </a:r>
            <a:r>
              <a:rPr lang="nl-NL" sz="2000" dirty="0" err="1"/>
              <a:t>and</a:t>
            </a:r>
            <a:r>
              <a:rPr lang="nl-NL" sz="2000" dirty="0"/>
              <a:t> </a:t>
            </a:r>
            <a:r>
              <a:rPr lang="nl-NL" sz="2000" dirty="0" err="1"/>
              <a:t>incremental</a:t>
            </a:r>
            <a:r>
              <a:rPr lang="nl-NL" sz="2000" dirty="0"/>
              <a:t> </a:t>
            </a:r>
            <a:r>
              <a:rPr lang="nl-NL" sz="2000" dirty="0" err="1"/>
              <a:t>cost-effectiveness</a:t>
            </a:r>
            <a:r>
              <a:rPr lang="nl-NL" sz="2000" dirty="0"/>
              <a:t>/net-benefits </a:t>
            </a:r>
            <a:r>
              <a:rPr lang="nl-NL" sz="2000" dirty="0" err="1"/>
              <a:t>etc</a:t>
            </a:r>
            <a:r>
              <a:rPr lang="nl-NL" sz="2000" dirty="0"/>
              <a:t>) are </a:t>
            </a:r>
            <a:r>
              <a:rPr lang="nl-NL" sz="2000" dirty="0" err="1"/>
              <a:t>estimated</a:t>
            </a:r>
            <a:r>
              <a:rPr lang="nl-NL" sz="2000" dirty="0"/>
              <a:t>.</a:t>
            </a:r>
            <a:endParaRPr sz="2000" dirty="0"/>
          </a:p>
          <a:p>
            <a:pPr marL="342900" lvl="0" indent="-88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nl-NL" sz="2000" b="1" dirty="0">
                <a:solidFill>
                  <a:srgbClr val="888888"/>
                </a:solidFill>
              </a:rPr>
              <a:t>OUTPUT</a:t>
            </a:r>
            <a:r>
              <a:rPr lang="nl-NL" sz="2000" dirty="0"/>
              <a:t>: </a:t>
            </a:r>
            <a:r>
              <a:rPr lang="nl-NL" sz="2000" dirty="0" err="1"/>
              <a:t>Tabular</a:t>
            </a:r>
            <a:r>
              <a:rPr lang="nl-NL" sz="2000" dirty="0"/>
              <a:t> </a:t>
            </a:r>
            <a:r>
              <a:rPr lang="nl-NL" sz="2000" dirty="0" err="1"/>
              <a:t>and</a:t>
            </a:r>
            <a:r>
              <a:rPr lang="nl-NL" sz="2000" dirty="0"/>
              <a:t> </a:t>
            </a:r>
            <a:r>
              <a:rPr lang="nl-NL" sz="2000" dirty="0" err="1"/>
              <a:t>graphical</a:t>
            </a:r>
            <a:r>
              <a:rPr lang="nl-NL" sz="2000" dirty="0"/>
              <a:t> </a:t>
            </a:r>
            <a:r>
              <a:rPr lang="nl-NL" sz="2000" dirty="0" err="1"/>
              <a:t>representation</a:t>
            </a:r>
            <a:r>
              <a:rPr lang="nl-NL" sz="2000" dirty="0"/>
              <a:t> of </a:t>
            </a:r>
            <a:r>
              <a:rPr lang="nl-NL" sz="2000" dirty="0" err="1"/>
              <a:t>the</a:t>
            </a:r>
            <a:r>
              <a:rPr lang="nl-NL" sz="2000" dirty="0"/>
              <a:t> </a:t>
            </a:r>
            <a:r>
              <a:rPr lang="nl-NL" sz="2000" dirty="0" err="1"/>
              <a:t>findings</a:t>
            </a:r>
            <a:r>
              <a:rPr lang="nl-NL" sz="2000" dirty="0"/>
              <a:t>.</a:t>
            </a:r>
            <a:endParaRPr sz="2000" dirty="0"/>
          </a:p>
        </p:txBody>
      </p:sp>
      <p:sp>
        <p:nvSpPr>
          <p:cNvPr id="464" name="Shape 464"/>
          <p:cNvSpPr txBox="1">
            <a:spLocks noGrp="1"/>
          </p:cNvSpPr>
          <p:nvPr>
            <p:ph type="sldNum" idx="12"/>
          </p:nvPr>
        </p:nvSpPr>
        <p:spPr>
          <a:xfrm>
            <a:off x="8559864" y="6453336"/>
            <a:ext cx="5487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nl-NL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1065A-7611-44F5-9F0E-536F81054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3748" y="3284984"/>
            <a:ext cx="4536504" cy="533400"/>
          </a:xfrm>
        </p:spPr>
        <p:txBody>
          <a:bodyPr/>
          <a:lstStyle/>
          <a:p>
            <a:pPr algn="ctr"/>
            <a:r>
              <a:rPr lang="nl-NL" dirty="0"/>
              <a:t>2. </a:t>
            </a:r>
            <a:r>
              <a:rPr lang="en-US" dirty="0"/>
              <a:t>Practice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Decision tree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87545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7" name="Shape 4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4075" y="754232"/>
            <a:ext cx="7157925" cy="5368444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Shape 498"/>
          <p:cNvSpPr txBox="1">
            <a:spLocks noGrp="1"/>
          </p:cNvSpPr>
          <p:nvPr>
            <p:ph type="sldNum" idx="12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Shape 503" descr="screenshot.png"/>
          <p:cNvPicPr preferRelativeResize="0"/>
          <p:nvPr/>
        </p:nvPicPr>
        <p:blipFill rotWithShape="1">
          <a:blip r:embed="rId3">
            <a:alphaModFix/>
          </a:blip>
          <a:srcRect b="5249"/>
          <a:stretch/>
        </p:blipFill>
        <p:spPr>
          <a:xfrm>
            <a:off x="42275" y="248967"/>
            <a:ext cx="9144000" cy="6497807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Shape 504"/>
          <p:cNvSpPr txBox="1">
            <a:spLocks noGrp="1"/>
          </p:cNvSpPr>
          <p:nvPr>
            <p:ph type="sldNum" idx="12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9" name="Shape 5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62611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Shape 510"/>
          <p:cNvSpPr txBox="1">
            <a:spLocks noGrp="1"/>
          </p:cNvSpPr>
          <p:nvPr>
            <p:ph type="title"/>
          </p:nvPr>
        </p:nvSpPr>
        <p:spPr>
          <a:xfrm>
            <a:off x="29672" y="0"/>
            <a:ext cx="46152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The </a:t>
            </a:r>
            <a:r>
              <a:rPr lang="nl-NL" dirty="0" err="1"/>
              <a:t>Decision</a:t>
            </a:r>
            <a:r>
              <a:rPr lang="nl-NL" dirty="0"/>
              <a:t> Tree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15">
            <a:extLst>
              <a:ext uri="{FF2B5EF4-FFF2-40B4-BE49-F238E27FC236}">
                <a16:creationId xmlns:a16="http://schemas.microsoft.com/office/drawing/2014/main" id="{6532AE6D-A938-4198-9BB4-95F888608824}"/>
              </a:ext>
            </a:extLst>
          </p:cNvPr>
          <p:cNvSpPr txBox="1">
            <a:spLocks/>
          </p:cNvSpPr>
          <p:nvPr/>
        </p:nvSpPr>
        <p:spPr>
          <a:xfrm>
            <a:off x="467544" y="692696"/>
            <a:ext cx="8520600" cy="7635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nl-NL" dirty="0" err="1"/>
              <a:t>Inputting</a:t>
            </a:r>
            <a:r>
              <a:rPr lang="nl-NL" dirty="0"/>
              <a:t> data in R</a:t>
            </a:r>
          </a:p>
        </p:txBody>
      </p:sp>
      <p:sp>
        <p:nvSpPr>
          <p:cNvPr id="8" name="Shape 516">
            <a:extLst>
              <a:ext uri="{FF2B5EF4-FFF2-40B4-BE49-F238E27FC236}">
                <a16:creationId xmlns:a16="http://schemas.microsoft.com/office/drawing/2014/main" id="{B765C4E9-A6BE-4412-A13B-3529E733B171}"/>
              </a:ext>
            </a:extLst>
          </p:cNvPr>
          <p:cNvSpPr txBox="1">
            <a:spLocks/>
          </p:cNvSpPr>
          <p:nvPr/>
        </p:nvSpPr>
        <p:spPr>
          <a:xfrm>
            <a:off x="1547664" y="1826563"/>
            <a:ext cx="7716900" cy="5188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322263" indent="-322263" algn="l" defTabSz="914400" rtl="0" eaLnBrk="1" latinLnBrk="0" hangingPunct="1">
              <a:lnSpc>
                <a:spcPts val="25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7700" indent="-325438" algn="l" defTabSz="914400" rtl="0" eaLnBrk="1" latinLnBrk="0" hangingPunct="1">
              <a:lnSpc>
                <a:spcPts val="2500"/>
              </a:lnSpc>
              <a:spcBef>
                <a:spcPts val="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9963" indent="-323850" algn="l" defTabSz="914400" rtl="0" eaLnBrk="1" latinLnBrk="0" hangingPunct="1">
              <a:lnSpc>
                <a:spcPts val="25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93813" indent="-322263" algn="l" defTabSz="914400" rtl="0" eaLnBrk="1" latinLnBrk="0" hangingPunct="1">
              <a:lnSpc>
                <a:spcPts val="2500"/>
              </a:lnSpc>
              <a:spcBef>
                <a:spcPts val="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9250" indent="-323850" algn="l" defTabSz="914400" rtl="0" eaLnBrk="1" latinLnBrk="0" hangingPunct="1">
              <a:lnSpc>
                <a:spcPts val="25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dirty="0">
                <a:solidFill>
                  <a:schemeClr val="dk1"/>
                </a:solidFill>
                <a:ea typeface="Verdana"/>
                <a:cs typeface="Verdana"/>
                <a:sym typeface="Verdana"/>
              </a:rPr>
              <a:t>Input  	 </a:t>
            </a:r>
          </a:p>
          <a:p>
            <a:pPr marL="0" indent="0">
              <a:spcBef>
                <a:spcPts val="1600"/>
              </a:spcBef>
              <a:buFont typeface="Arial" pitchFamily="34" charset="0"/>
              <a:buNone/>
            </a:pPr>
            <a:r>
              <a:rPr lang="en-US" dirty="0">
                <a:solidFill>
                  <a:schemeClr val="dk1"/>
                </a:solidFill>
                <a:ea typeface="Verdana"/>
                <a:cs typeface="Verdana"/>
                <a:sym typeface="Verdana"/>
              </a:rPr>
              <a:t>: Probability of an event </a:t>
            </a:r>
            <a:r>
              <a:rPr lang="en-US" dirty="0" err="1">
                <a:solidFill>
                  <a:schemeClr val="dk1"/>
                </a:solidFill>
                <a:ea typeface="Verdana"/>
                <a:cs typeface="Verdana"/>
                <a:sym typeface="Verdana"/>
              </a:rPr>
              <a:t>i</a:t>
            </a:r>
            <a:r>
              <a:rPr lang="en-US" dirty="0">
                <a:solidFill>
                  <a:schemeClr val="dk1"/>
                </a:solidFill>
                <a:ea typeface="Verdana"/>
                <a:cs typeface="Verdana"/>
                <a:sym typeface="Verdana"/>
              </a:rPr>
              <a:t> in treatment k.</a:t>
            </a:r>
          </a:p>
          <a:p>
            <a:pPr marL="0" indent="0">
              <a:spcBef>
                <a:spcPts val="1600"/>
              </a:spcBef>
              <a:buFont typeface="Arial" pitchFamily="34" charset="0"/>
              <a:buNone/>
            </a:pPr>
            <a:r>
              <a:rPr lang="en-US" dirty="0">
                <a:solidFill>
                  <a:schemeClr val="dk1"/>
                </a:solidFill>
                <a:ea typeface="Verdana"/>
                <a:cs typeface="Verdana"/>
                <a:sym typeface="Verdana"/>
              </a:rPr>
              <a:t>: Conditional probability of  event j given event </a:t>
            </a:r>
            <a:r>
              <a:rPr lang="en-US" dirty="0" err="1">
                <a:solidFill>
                  <a:schemeClr val="dk1"/>
                </a:solidFill>
                <a:ea typeface="Verdana"/>
                <a:cs typeface="Verdana"/>
                <a:sym typeface="Verdana"/>
              </a:rPr>
              <a:t>i</a:t>
            </a:r>
            <a:r>
              <a:rPr lang="en-US" dirty="0">
                <a:solidFill>
                  <a:schemeClr val="dk1"/>
                </a:solidFill>
                <a:ea typeface="Verdana"/>
                <a:cs typeface="Verdana"/>
                <a:sym typeface="Verdana"/>
              </a:rPr>
              <a:t> in treatment k.</a:t>
            </a:r>
          </a:p>
          <a:p>
            <a:pPr marL="0" indent="0">
              <a:spcBef>
                <a:spcPts val="1600"/>
              </a:spcBef>
              <a:buFont typeface="Arial" pitchFamily="34" charset="0"/>
              <a:buNone/>
            </a:pPr>
            <a:r>
              <a:rPr lang="en-US" dirty="0">
                <a:solidFill>
                  <a:schemeClr val="dk1"/>
                </a:solidFill>
                <a:ea typeface="Verdana"/>
                <a:cs typeface="Verdana"/>
                <a:sym typeface="Verdana"/>
              </a:rPr>
              <a:t>: Effectiveness associated with experiencing the combination of events </a:t>
            </a:r>
            <a:r>
              <a:rPr lang="en-US" dirty="0" err="1">
                <a:solidFill>
                  <a:schemeClr val="dk1"/>
                </a:solidFill>
                <a:ea typeface="Verdana"/>
                <a:cs typeface="Verdana"/>
                <a:sym typeface="Verdana"/>
              </a:rPr>
              <a:t>i</a:t>
            </a:r>
            <a:r>
              <a:rPr lang="en-US" dirty="0">
                <a:solidFill>
                  <a:schemeClr val="dk1"/>
                </a:solidFill>
                <a:ea typeface="Verdana"/>
                <a:cs typeface="Verdana"/>
                <a:sym typeface="Verdana"/>
              </a:rPr>
              <a:t> and j in treatment k.</a:t>
            </a:r>
          </a:p>
          <a:p>
            <a:pPr marL="0" indent="0">
              <a:spcBef>
                <a:spcPts val="1600"/>
              </a:spcBef>
              <a:buFont typeface="Arial" pitchFamily="34" charset="0"/>
              <a:buNone/>
            </a:pPr>
            <a:r>
              <a:rPr lang="en-US" dirty="0">
                <a:solidFill>
                  <a:schemeClr val="dk1"/>
                </a:solidFill>
                <a:ea typeface="Verdana"/>
                <a:cs typeface="Verdana"/>
                <a:sym typeface="Verdana"/>
              </a:rPr>
              <a:t>: Costs associated with experiencing the combination of events </a:t>
            </a:r>
            <a:r>
              <a:rPr lang="en-US" dirty="0" err="1">
                <a:solidFill>
                  <a:schemeClr val="dk1"/>
                </a:solidFill>
                <a:ea typeface="Verdana"/>
                <a:cs typeface="Verdana"/>
                <a:sym typeface="Verdana"/>
              </a:rPr>
              <a:t>i</a:t>
            </a:r>
            <a:r>
              <a:rPr lang="en-US" dirty="0">
                <a:solidFill>
                  <a:schemeClr val="dk1"/>
                </a:solidFill>
                <a:ea typeface="Verdana"/>
                <a:cs typeface="Verdana"/>
                <a:sym typeface="Verdana"/>
              </a:rPr>
              <a:t> and j in treatment k.</a:t>
            </a:r>
          </a:p>
          <a:p>
            <a:pPr marL="0" indent="0">
              <a:spcBef>
                <a:spcPts val="1600"/>
              </a:spcBef>
              <a:spcAft>
                <a:spcPts val="1600"/>
              </a:spcAft>
              <a:buFont typeface="Arial" pitchFamily="34" charset="0"/>
              <a:buNone/>
            </a:pPr>
            <a:endParaRPr lang="en-US" sz="1900" b="1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Shape 517">
            <a:extLst>
              <a:ext uri="{FF2B5EF4-FFF2-40B4-BE49-F238E27FC236}">
                <a16:creationId xmlns:a16="http://schemas.microsoft.com/office/drawing/2014/main" id="{51646D8C-BEEA-474B-AA6C-AA690FD03E3A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608" y="2276872"/>
            <a:ext cx="428900" cy="28382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40498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Shape 536"/>
          <p:cNvSpPr txBox="1">
            <a:spLocks noGrp="1"/>
          </p:cNvSpPr>
          <p:nvPr>
            <p:ph type="title"/>
          </p:nvPr>
        </p:nvSpPr>
        <p:spPr>
          <a:xfrm>
            <a:off x="311700" y="692696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 err="1"/>
              <a:t>Example</a:t>
            </a:r>
            <a:r>
              <a:rPr lang="nl-NL" dirty="0"/>
              <a:t> </a:t>
            </a:r>
            <a:r>
              <a:rPr lang="nl-NL" dirty="0" err="1"/>
              <a:t>Decision</a:t>
            </a:r>
            <a:r>
              <a:rPr lang="nl-NL" dirty="0"/>
              <a:t> Tree</a:t>
            </a:r>
            <a:endParaRPr dirty="0"/>
          </a:p>
        </p:txBody>
      </p:sp>
      <p:sp>
        <p:nvSpPr>
          <p:cNvPr id="537" name="Shape 537"/>
          <p:cNvSpPr txBox="1">
            <a:spLocks noGrp="1"/>
          </p:cNvSpPr>
          <p:nvPr>
            <p:ph type="body" idx="1"/>
          </p:nvPr>
        </p:nvSpPr>
        <p:spPr>
          <a:xfrm>
            <a:off x="251520" y="1702676"/>
            <a:ext cx="9017100" cy="518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 err="1">
                <a:solidFill>
                  <a:schemeClr val="dk1"/>
                </a:solidFill>
                <a:ea typeface="Verdana"/>
                <a:cs typeface="Verdana"/>
                <a:sym typeface="Verdana"/>
              </a:rPr>
              <a:t>Estimating</a:t>
            </a:r>
            <a:r>
              <a:rPr lang="nl-NL" dirty="0">
                <a:solidFill>
                  <a:schemeClr val="dk1"/>
                </a:solidFill>
                <a:ea typeface="Verdana"/>
                <a:cs typeface="Verdana"/>
                <a:sym typeface="Verdana"/>
              </a:rPr>
              <a:t> </a:t>
            </a:r>
            <a:r>
              <a:rPr lang="nl-NL" dirty="0" err="1">
                <a:solidFill>
                  <a:schemeClr val="dk1"/>
                </a:solidFill>
                <a:ea typeface="Verdana"/>
                <a:cs typeface="Verdana"/>
                <a:sym typeface="Verdana"/>
              </a:rPr>
              <a:t>the</a:t>
            </a:r>
            <a:r>
              <a:rPr lang="nl-NL" dirty="0">
                <a:solidFill>
                  <a:schemeClr val="dk1"/>
                </a:solidFill>
                <a:ea typeface="Verdana"/>
                <a:cs typeface="Verdana"/>
                <a:sym typeface="Verdana"/>
              </a:rPr>
              <a:t> </a:t>
            </a:r>
            <a:r>
              <a:rPr lang="nl-NL" dirty="0" err="1">
                <a:solidFill>
                  <a:schemeClr val="dk1"/>
                </a:solidFill>
                <a:ea typeface="Verdana"/>
                <a:cs typeface="Verdana"/>
                <a:sym typeface="Verdana"/>
              </a:rPr>
              <a:t>cost-effectiveness</a:t>
            </a:r>
            <a:r>
              <a:rPr lang="nl-NL" dirty="0">
                <a:solidFill>
                  <a:schemeClr val="dk1"/>
                </a:solidFill>
                <a:ea typeface="Verdana"/>
                <a:cs typeface="Verdana"/>
                <a:sym typeface="Verdana"/>
              </a:rPr>
              <a:t> of </a:t>
            </a:r>
            <a:r>
              <a:rPr lang="nl-NL" dirty="0" err="1">
                <a:solidFill>
                  <a:schemeClr val="dk1"/>
                </a:solidFill>
                <a:ea typeface="Verdana"/>
                <a:cs typeface="Verdana"/>
                <a:sym typeface="Verdana"/>
              </a:rPr>
              <a:t>three</a:t>
            </a:r>
            <a:r>
              <a:rPr lang="nl-NL" dirty="0">
                <a:solidFill>
                  <a:schemeClr val="dk1"/>
                </a:solidFill>
                <a:ea typeface="Verdana"/>
                <a:cs typeface="Verdana"/>
                <a:sym typeface="Verdana"/>
              </a:rPr>
              <a:t> follow-up </a:t>
            </a:r>
            <a:r>
              <a:rPr lang="nl-NL" dirty="0" err="1">
                <a:solidFill>
                  <a:schemeClr val="dk1"/>
                </a:solidFill>
                <a:ea typeface="Verdana"/>
                <a:cs typeface="Verdana"/>
                <a:sym typeface="Verdana"/>
              </a:rPr>
              <a:t>practices</a:t>
            </a:r>
            <a:r>
              <a:rPr lang="nl-NL" dirty="0">
                <a:solidFill>
                  <a:schemeClr val="dk1"/>
                </a:solidFill>
                <a:ea typeface="Verdana"/>
                <a:cs typeface="Verdana"/>
                <a:sym typeface="Verdana"/>
              </a:rPr>
              <a:t> for </a:t>
            </a:r>
            <a:r>
              <a:rPr lang="nl-NL" dirty="0" err="1">
                <a:solidFill>
                  <a:schemeClr val="dk1"/>
                </a:solidFill>
                <a:ea typeface="Verdana"/>
                <a:cs typeface="Verdana"/>
                <a:sym typeface="Verdana"/>
              </a:rPr>
              <a:t>colorectal</a:t>
            </a:r>
            <a:r>
              <a:rPr lang="nl-NL" dirty="0">
                <a:solidFill>
                  <a:schemeClr val="dk1"/>
                </a:solidFill>
                <a:ea typeface="Verdana"/>
                <a:cs typeface="Verdana"/>
                <a:sym typeface="Verdana"/>
              </a:rPr>
              <a:t> </a:t>
            </a:r>
            <a:r>
              <a:rPr lang="nl-NL" dirty="0" err="1">
                <a:solidFill>
                  <a:schemeClr val="dk1"/>
                </a:solidFill>
                <a:ea typeface="Verdana"/>
                <a:cs typeface="Verdana"/>
                <a:sym typeface="Verdana"/>
              </a:rPr>
              <a:t>cancer</a:t>
            </a:r>
            <a:r>
              <a:rPr lang="nl-NL" dirty="0">
                <a:solidFill>
                  <a:schemeClr val="dk1"/>
                </a:solidFill>
                <a:ea typeface="Verdana"/>
                <a:cs typeface="Verdana"/>
                <a:sym typeface="Verdana"/>
              </a:rPr>
              <a:t> </a:t>
            </a:r>
            <a:r>
              <a:rPr lang="nl-NL" dirty="0" err="1">
                <a:solidFill>
                  <a:schemeClr val="dk1"/>
                </a:solidFill>
                <a:ea typeface="Verdana"/>
                <a:cs typeface="Verdana"/>
                <a:sym typeface="Verdana"/>
              </a:rPr>
              <a:t>after</a:t>
            </a:r>
            <a:r>
              <a:rPr lang="nl-NL" dirty="0">
                <a:solidFill>
                  <a:schemeClr val="dk1"/>
                </a:solidFill>
                <a:ea typeface="Verdana"/>
                <a:cs typeface="Verdana"/>
                <a:sym typeface="Verdana"/>
              </a:rPr>
              <a:t> </a:t>
            </a:r>
            <a:r>
              <a:rPr lang="nl-NL" dirty="0" err="1">
                <a:solidFill>
                  <a:schemeClr val="dk1"/>
                </a:solidFill>
                <a:ea typeface="Verdana"/>
                <a:cs typeface="Verdana"/>
                <a:sym typeface="Verdana"/>
              </a:rPr>
              <a:t>colorectal</a:t>
            </a:r>
            <a:r>
              <a:rPr lang="nl-NL" dirty="0">
                <a:solidFill>
                  <a:schemeClr val="dk1"/>
                </a:solidFill>
                <a:ea typeface="Verdana"/>
                <a:cs typeface="Verdana"/>
                <a:sym typeface="Verdana"/>
              </a:rPr>
              <a:t> </a:t>
            </a:r>
            <a:r>
              <a:rPr lang="nl-NL" dirty="0" err="1">
                <a:solidFill>
                  <a:schemeClr val="dk1"/>
                </a:solidFill>
                <a:ea typeface="Verdana"/>
                <a:cs typeface="Verdana"/>
                <a:sym typeface="Verdana"/>
              </a:rPr>
              <a:t>cancer</a:t>
            </a:r>
            <a:r>
              <a:rPr lang="nl-NL" dirty="0">
                <a:solidFill>
                  <a:schemeClr val="dk1"/>
                </a:solidFill>
                <a:ea typeface="Verdana"/>
                <a:cs typeface="Verdana"/>
                <a:sym typeface="Verdana"/>
              </a:rPr>
              <a:t> treatment (Gray et al, 2011).</a:t>
            </a:r>
            <a:endParaRPr dirty="0">
              <a:solidFill>
                <a:schemeClr val="dk1"/>
              </a:solidFill>
              <a:ea typeface="Verdana"/>
              <a:cs typeface="Verdana"/>
              <a:sym typeface="Verdana"/>
            </a:endParaRPr>
          </a:p>
          <a:p>
            <a:pPr marL="457200" lvl="0" indent="-3492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Verdana"/>
              <a:buChar char="●"/>
            </a:pPr>
            <a:r>
              <a:rPr lang="nl-NL" dirty="0">
                <a:solidFill>
                  <a:schemeClr val="dk1"/>
                </a:solidFill>
                <a:ea typeface="Verdana"/>
                <a:cs typeface="Verdana"/>
                <a:sym typeface="Verdana"/>
              </a:rPr>
              <a:t>Follow-up in </a:t>
            </a:r>
            <a:r>
              <a:rPr lang="nl-NL" dirty="0" err="1">
                <a:solidFill>
                  <a:schemeClr val="dk1"/>
                </a:solidFill>
                <a:ea typeface="Verdana"/>
                <a:cs typeface="Verdana"/>
                <a:sym typeface="Verdana"/>
              </a:rPr>
              <a:t>primary</a:t>
            </a:r>
            <a:r>
              <a:rPr lang="nl-NL" dirty="0">
                <a:solidFill>
                  <a:schemeClr val="dk1"/>
                </a:solidFill>
                <a:ea typeface="Verdana"/>
                <a:cs typeface="Verdana"/>
                <a:sym typeface="Verdana"/>
              </a:rPr>
              <a:t> care (PC),</a:t>
            </a:r>
            <a:endParaRPr dirty="0">
              <a:solidFill>
                <a:schemeClr val="dk1"/>
              </a:solidFill>
              <a:ea typeface="Verdana"/>
              <a:cs typeface="Verdana"/>
              <a:sym typeface="Verdana"/>
            </a:endParaRPr>
          </a:p>
          <a:p>
            <a:pPr marL="457200" lvl="0" indent="-3492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Verdana"/>
              <a:buChar char="●"/>
            </a:pPr>
            <a:r>
              <a:rPr lang="nl-NL" dirty="0">
                <a:solidFill>
                  <a:schemeClr val="dk1"/>
                </a:solidFill>
                <a:ea typeface="Verdana"/>
                <a:cs typeface="Verdana"/>
                <a:sym typeface="Verdana"/>
              </a:rPr>
              <a:t>Follow-up in </a:t>
            </a:r>
            <a:r>
              <a:rPr lang="nl-NL" dirty="0" err="1">
                <a:solidFill>
                  <a:schemeClr val="dk1"/>
                </a:solidFill>
                <a:ea typeface="Verdana"/>
                <a:cs typeface="Verdana"/>
                <a:sym typeface="Verdana"/>
              </a:rPr>
              <a:t>hospital</a:t>
            </a:r>
            <a:r>
              <a:rPr lang="nl-NL" dirty="0">
                <a:solidFill>
                  <a:schemeClr val="dk1"/>
                </a:solidFill>
                <a:ea typeface="Verdana"/>
                <a:cs typeface="Verdana"/>
                <a:sym typeface="Verdana"/>
              </a:rPr>
              <a:t> care (HC) or</a:t>
            </a:r>
            <a:endParaRPr dirty="0">
              <a:solidFill>
                <a:schemeClr val="dk1"/>
              </a:solidFill>
              <a:ea typeface="Verdana"/>
              <a:cs typeface="Verdana"/>
              <a:sym typeface="Verdana"/>
            </a:endParaRPr>
          </a:p>
          <a:p>
            <a:pPr marL="457200" lvl="0" indent="-3492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Verdana"/>
              <a:buChar char="●"/>
            </a:pPr>
            <a:r>
              <a:rPr lang="nl-NL" dirty="0">
                <a:solidFill>
                  <a:schemeClr val="dk1"/>
                </a:solidFill>
                <a:ea typeface="Verdana"/>
                <a:cs typeface="Verdana"/>
                <a:sym typeface="Verdana"/>
              </a:rPr>
              <a:t>Continue routine </a:t>
            </a:r>
            <a:r>
              <a:rPr lang="nl-NL" dirty="0" err="1">
                <a:solidFill>
                  <a:schemeClr val="dk1"/>
                </a:solidFill>
                <a:ea typeface="Verdana"/>
                <a:cs typeface="Verdana"/>
                <a:sym typeface="Verdana"/>
              </a:rPr>
              <a:t>practice</a:t>
            </a:r>
            <a:r>
              <a:rPr lang="nl-NL" dirty="0">
                <a:solidFill>
                  <a:schemeClr val="dk1"/>
                </a:solidFill>
                <a:ea typeface="Verdana"/>
                <a:cs typeface="Verdana"/>
                <a:sym typeface="Verdana"/>
              </a:rPr>
              <a:t> (RP).</a:t>
            </a:r>
            <a:endParaRPr dirty="0">
              <a:solidFill>
                <a:schemeClr val="dk1"/>
              </a:solidFill>
              <a:ea typeface="Verdana"/>
              <a:cs typeface="Verdana"/>
              <a:sym typeface="Verdana"/>
            </a:endParaRPr>
          </a:p>
          <a:p>
            <a:pPr marL="0" lvl="0" indent="0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nl-NL" dirty="0" err="1">
                <a:solidFill>
                  <a:schemeClr val="dk1"/>
                </a:solidFill>
                <a:ea typeface="Verdana"/>
                <a:cs typeface="Verdana"/>
                <a:sym typeface="Verdana"/>
              </a:rPr>
              <a:t>Strategies</a:t>
            </a:r>
            <a:r>
              <a:rPr lang="nl-NL" dirty="0">
                <a:solidFill>
                  <a:schemeClr val="dk1"/>
                </a:solidFill>
                <a:ea typeface="Verdana"/>
                <a:cs typeface="Verdana"/>
                <a:sym typeface="Verdana"/>
              </a:rPr>
              <a:t> are different on:</a:t>
            </a:r>
            <a:endParaRPr dirty="0">
              <a:solidFill>
                <a:schemeClr val="dk1"/>
              </a:solidFill>
              <a:ea typeface="Verdana"/>
              <a:cs typeface="Verdana"/>
              <a:sym typeface="Verdana"/>
            </a:endParaRPr>
          </a:p>
          <a:p>
            <a:pPr marL="457200" lvl="0" indent="-3492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Verdana"/>
              <a:buChar char="●"/>
            </a:pPr>
            <a:r>
              <a:rPr lang="nl-NL" dirty="0" err="1">
                <a:solidFill>
                  <a:schemeClr val="dk1"/>
                </a:solidFill>
                <a:ea typeface="Verdana"/>
                <a:cs typeface="Verdana"/>
                <a:sym typeface="Verdana"/>
              </a:rPr>
              <a:t>Probability</a:t>
            </a:r>
            <a:r>
              <a:rPr lang="nl-NL" dirty="0">
                <a:solidFill>
                  <a:schemeClr val="dk1"/>
                </a:solidFill>
                <a:ea typeface="Verdana"/>
                <a:cs typeface="Verdana"/>
                <a:sym typeface="Verdana"/>
              </a:rPr>
              <a:t> of </a:t>
            </a:r>
            <a:r>
              <a:rPr lang="nl-NL" dirty="0" err="1">
                <a:solidFill>
                  <a:schemeClr val="dk1"/>
                </a:solidFill>
                <a:ea typeface="Verdana"/>
                <a:cs typeface="Verdana"/>
                <a:sym typeface="Verdana"/>
              </a:rPr>
              <a:t>early</a:t>
            </a:r>
            <a:r>
              <a:rPr lang="nl-NL" dirty="0">
                <a:solidFill>
                  <a:schemeClr val="dk1"/>
                </a:solidFill>
                <a:ea typeface="Verdana"/>
                <a:cs typeface="Verdana"/>
                <a:sym typeface="Verdana"/>
              </a:rPr>
              <a:t> </a:t>
            </a:r>
            <a:r>
              <a:rPr lang="nl-NL" dirty="0" err="1">
                <a:solidFill>
                  <a:schemeClr val="dk1"/>
                </a:solidFill>
                <a:ea typeface="Verdana"/>
                <a:cs typeface="Verdana"/>
                <a:sym typeface="Verdana"/>
              </a:rPr>
              <a:t>detection</a:t>
            </a:r>
            <a:r>
              <a:rPr lang="nl-NL" dirty="0">
                <a:solidFill>
                  <a:schemeClr val="dk1"/>
                </a:solidFill>
                <a:ea typeface="Verdana"/>
                <a:cs typeface="Verdana"/>
                <a:sym typeface="Verdana"/>
              </a:rPr>
              <a:t> (</a:t>
            </a:r>
            <a:r>
              <a:rPr lang="nl-NL" dirty="0" err="1">
                <a:solidFill>
                  <a:schemeClr val="dk1"/>
                </a:solidFill>
                <a:ea typeface="Verdana"/>
                <a:cs typeface="Verdana"/>
                <a:sym typeface="Verdana"/>
              </a:rPr>
              <a:t>ed</a:t>
            </a:r>
            <a:r>
              <a:rPr lang="nl-NL" dirty="0">
                <a:solidFill>
                  <a:schemeClr val="dk1"/>
                </a:solidFill>
                <a:ea typeface="Verdana"/>
                <a:cs typeface="Verdana"/>
                <a:sym typeface="Verdana"/>
              </a:rPr>
              <a:t>) </a:t>
            </a:r>
            <a:r>
              <a:rPr lang="nl-NL" dirty="0" err="1">
                <a:solidFill>
                  <a:schemeClr val="dk1"/>
                </a:solidFill>
                <a:ea typeface="Verdana"/>
                <a:cs typeface="Verdana"/>
                <a:sym typeface="Verdana"/>
              </a:rPr>
              <a:t>vs</a:t>
            </a:r>
            <a:r>
              <a:rPr lang="nl-NL" dirty="0">
                <a:solidFill>
                  <a:schemeClr val="dk1"/>
                </a:solidFill>
                <a:ea typeface="Verdana"/>
                <a:cs typeface="Verdana"/>
                <a:sym typeface="Verdana"/>
              </a:rPr>
              <a:t> late </a:t>
            </a:r>
            <a:r>
              <a:rPr lang="nl-NL" dirty="0" err="1">
                <a:solidFill>
                  <a:schemeClr val="dk1"/>
                </a:solidFill>
                <a:ea typeface="Verdana"/>
                <a:cs typeface="Verdana"/>
                <a:sym typeface="Verdana"/>
              </a:rPr>
              <a:t>detection</a:t>
            </a:r>
            <a:r>
              <a:rPr lang="nl-NL" dirty="0">
                <a:solidFill>
                  <a:schemeClr val="dk1"/>
                </a:solidFill>
                <a:ea typeface="Verdana"/>
                <a:cs typeface="Verdana"/>
                <a:sym typeface="Verdana"/>
              </a:rPr>
              <a:t> (ld) of </a:t>
            </a:r>
            <a:r>
              <a:rPr lang="nl-NL" dirty="0" err="1">
                <a:solidFill>
                  <a:schemeClr val="dk1"/>
                </a:solidFill>
                <a:ea typeface="Verdana"/>
                <a:cs typeface="Verdana"/>
                <a:sym typeface="Verdana"/>
              </a:rPr>
              <a:t>recurrence</a:t>
            </a:r>
            <a:r>
              <a:rPr lang="nl-NL" dirty="0">
                <a:solidFill>
                  <a:schemeClr val="dk1"/>
                </a:solidFill>
                <a:ea typeface="Verdana"/>
                <a:cs typeface="Verdana"/>
                <a:sym typeface="Verdana"/>
              </a:rPr>
              <a:t> of     </a:t>
            </a:r>
            <a:r>
              <a:rPr lang="nl-NL" dirty="0" err="1">
                <a:solidFill>
                  <a:schemeClr val="dk1"/>
                </a:solidFill>
                <a:ea typeface="Verdana"/>
                <a:cs typeface="Verdana"/>
                <a:sym typeface="Verdana"/>
              </a:rPr>
              <a:t>colorectal</a:t>
            </a:r>
            <a:r>
              <a:rPr lang="nl-NL" dirty="0">
                <a:solidFill>
                  <a:schemeClr val="dk1"/>
                </a:solidFill>
                <a:ea typeface="Verdana"/>
                <a:cs typeface="Verdana"/>
                <a:sym typeface="Verdana"/>
              </a:rPr>
              <a:t> </a:t>
            </a:r>
            <a:r>
              <a:rPr lang="nl-NL" dirty="0" err="1">
                <a:solidFill>
                  <a:schemeClr val="dk1"/>
                </a:solidFill>
                <a:ea typeface="Verdana"/>
                <a:cs typeface="Verdana"/>
                <a:sym typeface="Verdana"/>
              </a:rPr>
              <a:t>cancer</a:t>
            </a:r>
            <a:endParaRPr dirty="0">
              <a:solidFill>
                <a:schemeClr val="dk1"/>
              </a:solidFill>
              <a:ea typeface="Verdana"/>
              <a:cs typeface="Verdana"/>
              <a:sym typeface="Verdana"/>
            </a:endParaRPr>
          </a:p>
          <a:p>
            <a:pPr marL="457200" lvl="0" indent="-3492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Verdana"/>
              <a:buChar char="●"/>
            </a:pPr>
            <a:r>
              <a:rPr lang="nl-NL" dirty="0">
                <a:solidFill>
                  <a:schemeClr val="dk1"/>
                </a:solidFill>
                <a:ea typeface="Verdana"/>
                <a:cs typeface="Verdana"/>
                <a:sym typeface="Verdana"/>
              </a:rPr>
              <a:t>Follow-up </a:t>
            </a:r>
            <a:r>
              <a:rPr lang="nl-NL" dirty="0" err="1">
                <a:solidFill>
                  <a:schemeClr val="dk1"/>
                </a:solidFill>
                <a:ea typeface="Verdana"/>
                <a:cs typeface="Verdana"/>
                <a:sym typeface="Verdana"/>
              </a:rPr>
              <a:t>costs</a:t>
            </a:r>
            <a:r>
              <a:rPr lang="nl-NL" dirty="0">
                <a:solidFill>
                  <a:schemeClr val="dk1"/>
                </a:solidFill>
                <a:ea typeface="Verdana"/>
                <a:cs typeface="Verdana"/>
                <a:sym typeface="Verdana"/>
              </a:rPr>
              <a:t> (C) in UK </a:t>
            </a:r>
            <a:r>
              <a:rPr lang="nl-NL" dirty="0" err="1">
                <a:solidFill>
                  <a:schemeClr val="dk1"/>
                </a:solidFill>
                <a:ea typeface="Verdana"/>
                <a:cs typeface="Verdana"/>
                <a:sym typeface="Verdana"/>
              </a:rPr>
              <a:t>pounds</a:t>
            </a:r>
            <a:r>
              <a:rPr lang="nl-NL" dirty="0">
                <a:solidFill>
                  <a:schemeClr val="dk1"/>
                </a:solidFill>
                <a:ea typeface="Verdana"/>
                <a:cs typeface="Verdana"/>
                <a:sym typeface="Verdana"/>
              </a:rPr>
              <a:t>.</a:t>
            </a:r>
            <a:endParaRPr dirty="0">
              <a:solidFill>
                <a:schemeClr val="dk1"/>
              </a:solidFill>
              <a:ea typeface="Verdana"/>
              <a:cs typeface="Verdana"/>
              <a:sym typeface="Verdana"/>
            </a:endParaRPr>
          </a:p>
          <a:p>
            <a:pPr marL="457200" lvl="0" indent="-3492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Verdana"/>
              <a:buChar char="●"/>
            </a:pPr>
            <a:r>
              <a:rPr lang="nl-NL" dirty="0" err="1">
                <a:solidFill>
                  <a:schemeClr val="dk1"/>
                </a:solidFill>
                <a:ea typeface="Verdana"/>
                <a:cs typeface="Verdana"/>
                <a:sym typeface="Verdana"/>
              </a:rPr>
              <a:t>Differences</a:t>
            </a:r>
            <a:r>
              <a:rPr lang="nl-NL" dirty="0">
                <a:solidFill>
                  <a:schemeClr val="dk1"/>
                </a:solidFill>
                <a:ea typeface="Verdana"/>
                <a:cs typeface="Verdana"/>
                <a:sym typeface="Verdana"/>
              </a:rPr>
              <a:t> in </a:t>
            </a:r>
            <a:r>
              <a:rPr lang="nl-NL" dirty="0" err="1">
                <a:solidFill>
                  <a:schemeClr val="dk1"/>
                </a:solidFill>
                <a:ea typeface="Verdana"/>
                <a:cs typeface="Verdana"/>
                <a:sym typeface="Verdana"/>
              </a:rPr>
              <a:t>early</a:t>
            </a:r>
            <a:r>
              <a:rPr lang="nl-NL" dirty="0">
                <a:solidFill>
                  <a:schemeClr val="dk1"/>
                </a:solidFill>
                <a:ea typeface="Verdana"/>
                <a:cs typeface="Verdana"/>
                <a:sym typeface="Verdana"/>
              </a:rPr>
              <a:t> </a:t>
            </a:r>
            <a:r>
              <a:rPr lang="nl-NL" dirty="0" err="1">
                <a:solidFill>
                  <a:schemeClr val="dk1"/>
                </a:solidFill>
                <a:ea typeface="Verdana"/>
                <a:cs typeface="Verdana"/>
                <a:sym typeface="Verdana"/>
              </a:rPr>
              <a:t>detection</a:t>
            </a:r>
            <a:r>
              <a:rPr lang="nl-NL" dirty="0">
                <a:solidFill>
                  <a:schemeClr val="dk1"/>
                </a:solidFill>
                <a:ea typeface="Verdana"/>
                <a:cs typeface="Verdana"/>
                <a:sym typeface="Verdana"/>
              </a:rPr>
              <a:t> </a:t>
            </a:r>
            <a:r>
              <a:rPr lang="nl-NL" dirty="0" err="1">
                <a:solidFill>
                  <a:schemeClr val="dk1"/>
                </a:solidFill>
                <a:ea typeface="Verdana"/>
                <a:cs typeface="Verdana"/>
                <a:sym typeface="Verdana"/>
              </a:rPr>
              <a:t>rates</a:t>
            </a:r>
            <a:r>
              <a:rPr lang="nl-NL" dirty="0">
                <a:solidFill>
                  <a:schemeClr val="dk1"/>
                </a:solidFill>
                <a:ea typeface="Verdana"/>
                <a:cs typeface="Verdana"/>
                <a:sym typeface="Verdana"/>
              </a:rPr>
              <a:t> are </a:t>
            </a:r>
            <a:r>
              <a:rPr lang="nl-NL" dirty="0" err="1">
                <a:solidFill>
                  <a:schemeClr val="dk1"/>
                </a:solidFill>
                <a:ea typeface="Verdana"/>
                <a:cs typeface="Verdana"/>
                <a:sym typeface="Verdana"/>
              </a:rPr>
              <a:t>associated</a:t>
            </a:r>
            <a:r>
              <a:rPr lang="nl-NL" dirty="0">
                <a:solidFill>
                  <a:schemeClr val="dk1"/>
                </a:solidFill>
                <a:ea typeface="Verdana"/>
                <a:cs typeface="Verdana"/>
                <a:sym typeface="Verdana"/>
              </a:rPr>
              <a:t> </a:t>
            </a:r>
            <a:r>
              <a:rPr lang="nl-NL" dirty="0" err="1">
                <a:solidFill>
                  <a:schemeClr val="dk1"/>
                </a:solidFill>
                <a:ea typeface="Verdana"/>
                <a:cs typeface="Verdana"/>
                <a:sym typeface="Verdana"/>
              </a:rPr>
              <a:t>with</a:t>
            </a:r>
            <a:r>
              <a:rPr lang="nl-NL" dirty="0">
                <a:solidFill>
                  <a:schemeClr val="dk1"/>
                </a:solidFill>
                <a:ea typeface="Verdana"/>
                <a:cs typeface="Verdana"/>
                <a:sym typeface="Verdana"/>
              </a:rPr>
              <a:t> life </a:t>
            </a:r>
            <a:r>
              <a:rPr lang="nl-NL" dirty="0" err="1">
                <a:solidFill>
                  <a:schemeClr val="dk1"/>
                </a:solidFill>
                <a:ea typeface="Verdana"/>
                <a:cs typeface="Verdana"/>
                <a:sym typeface="Verdana"/>
              </a:rPr>
              <a:t>expectancy</a:t>
            </a:r>
            <a:r>
              <a:rPr lang="nl-NL" dirty="0">
                <a:solidFill>
                  <a:schemeClr val="dk1"/>
                </a:solidFill>
                <a:ea typeface="Verdana"/>
                <a:cs typeface="Verdana"/>
                <a:sym typeface="Verdana"/>
              </a:rPr>
              <a:t> (LE)</a:t>
            </a:r>
            <a:endParaRPr dirty="0">
              <a:solidFill>
                <a:schemeClr val="dk1"/>
              </a:solidFill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Shape 542"/>
          <p:cNvSpPr txBox="1">
            <a:spLocks noGrp="1"/>
          </p:cNvSpPr>
          <p:nvPr>
            <p:ph type="body" idx="1"/>
          </p:nvPr>
        </p:nvSpPr>
        <p:spPr>
          <a:xfrm>
            <a:off x="1129025" y="1780900"/>
            <a:ext cx="46767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543" name="Shape 543"/>
          <p:cNvSpPr txBox="1">
            <a:spLocks noGrp="1"/>
          </p:cNvSpPr>
          <p:nvPr>
            <p:ph type="title"/>
          </p:nvPr>
        </p:nvSpPr>
        <p:spPr>
          <a:xfrm>
            <a:off x="311700" y="649276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 err="1"/>
              <a:t>Example</a:t>
            </a:r>
            <a:r>
              <a:rPr lang="nl-NL" dirty="0"/>
              <a:t> </a:t>
            </a:r>
            <a:r>
              <a:rPr lang="nl-NL" dirty="0" err="1"/>
              <a:t>Decision</a:t>
            </a:r>
            <a:r>
              <a:rPr lang="nl-NL" dirty="0"/>
              <a:t> Tree</a:t>
            </a:r>
            <a:endParaRPr dirty="0"/>
          </a:p>
        </p:txBody>
      </p:sp>
      <p:sp>
        <p:nvSpPr>
          <p:cNvPr id="544" name="Shape 544"/>
          <p:cNvSpPr/>
          <p:nvPr/>
        </p:nvSpPr>
        <p:spPr>
          <a:xfrm>
            <a:off x="0" y="1240233"/>
            <a:ext cx="9144000" cy="5392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45" name="Shape 545" descr="Screenshot 2016-06-12 00.17.3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" y="1536625"/>
            <a:ext cx="8100199" cy="4555201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Shape 546"/>
          <p:cNvSpPr txBox="1"/>
          <p:nvPr/>
        </p:nvSpPr>
        <p:spPr>
          <a:xfrm>
            <a:off x="6740853" y="1283034"/>
            <a:ext cx="2109751" cy="4799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 err="1"/>
              <a:t>c.RPed</a:t>
            </a:r>
            <a:r>
              <a:rPr lang="nl-NL" dirty="0"/>
              <a:t>; </a:t>
            </a:r>
            <a:r>
              <a:rPr lang="nl-NL" dirty="0" err="1"/>
              <a:t>e.RPed</a:t>
            </a:r>
            <a:endParaRPr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 err="1"/>
              <a:t>c.RPld</a:t>
            </a:r>
            <a:r>
              <a:rPr lang="nl-NL" dirty="0"/>
              <a:t>;  </a:t>
            </a:r>
            <a:r>
              <a:rPr lang="nl-NL" dirty="0" err="1"/>
              <a:t>e.RPld</a:t>
            </a:r>
            <a:endParaRPr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 err="1"/>
              <a:t>c.PCed</a:t>
            </a:r>
            <a:r>
              <a:rPr lang="nl-NL" dirty="0"/>
              <a:t>; </a:t>
            </a:r>
            <a:r>
              <a:rPr lang="nl-NL" dirty="0" err="1"/>
              <a:t>e.PCed</a:t>
            </a:r>
            <a:endParaRPr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 err="1"/>
              <a:t>c.PCld</a:t>
            </a:r>
            <a:r>
              <a:rPr lang="nl-NL" dirty="0"/>
              <a:t>;  </a:t>
            </a:r>
            <a:r>
              <a:rPr lang="nl-NL" dirty="0" err="1"/>
              <a:t>e.PCld</a:t>
            </a:r>
            <a:endParaRPr dirty="0"/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 err="1"/>
              <a:t>c.HCed</a:t>
            </a:r>
            <a:r>
              <a:rPr lang="nl-NL" dirty="0"/>
              <a:t>; </a:t>
            </a:r>
            <a:r>
              <a:rPr lang="nl-NL" dirty="0" err="1"/>
              <a:t>e.HCed</a:t>
            </a:r>
            <a:endParaRPr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 err="1"/>
              <a:t>c.HCld</a:t>
            </a:r>
            <a:r>
              <a:rPr lang="nl-NL" dirty="0"/>
              <a:t>;  </a:t>
            </a:r>
            <a:r>
              <a:rPr lang="nl-NL" dirty="0" err="1"/>
              <a:t>e.HCld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A4A91-31AD-4EB6-A68D-E9E13193C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tips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C7B425-FB27-47F5-9C82-ED8EDCFAC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9900" y="1268760"/>
            <a:ext cx="8104200" cy="4734950"/>
          </a:xfrm>
        </p:spPr>
        <p:txBody>
          <a:bodyPr/>
          <a:lstStyle/>
          <a:p>
            <a:r>
              <a:rPr lang="en-US" dirty="0"/>
              <a:t>Before you start, select a work-directory (to save your scripts)</a:t>
            </a:r>
          </a:p>
          <a:p>
            <a:pPr lvl="1"/>
            <a:r>
              <a:rPr lang="en-US" dirty="0"/>
              <a:t>Bottom-right, select Files tab and navigate to your folder. Then click More (gear icon in the top) and “set as working directory”</a:t>
            </a:r>
          </a:p>
          <a:p>
            <a:pPr lvl="1"/>
            <a:endParaRPr lang="en-US" dirty="0"/>
          </a:p>
          <a:p>
            <a:r>
              <a:rPr lang="en-US" dirty="0"/>
              <a:t>Assign variables using      “&lt;-”            (</a:t>
            </a:r>
            <a:r>
              <a:rPr lang="en-US" dirty="0" err="1"/>
              <a:t>shortkey</a:t>
            </a:r>
            <a:r>
              <a:rPr lang="en-US" dirty="0"/>
              <a:t> </a:t>
            </a:r>
            <a:r>
              <a:rPr lang="en-US" i="1" dirty="0"/>
              <a:t>alt  and minus (-) 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Select multiple rows using alt + drag with mouse</a:t>
            </a:r>
          </a:p>
          <a:p>
            <a:endParaRPr lang="en-US" dirty="0"/>
          </a:p>
          <a:p>
            <a:r>
              <a:rPr lang="en-US" dirty="0"/>
              <a:t>Vocabulary:</a:t>
            </a:r>
          </a:p>
          <a:p>
            <a:pPr lvl="1"/>
            <a:r>
              <a:rPr lang="en-US" dirty="0"/>
              <a:t>Vector: a line of numbers (1,2,3,4,5,6)   assigned using c(1,2,3,4)</a:t>
            </a:r>
          </a:p>
          <a:p>
            <a:pPr lvl="1"/>
            <a:r>
              <a:rPr lang="en-US" dirty="0"/>
              <a:t>Matrix: multiple vectors in a matrix structure (only numbers)</a:t>
            </a:r>
          </a:p>
          <a:p>
            <a:pPr lvl="1"/>
            <a:r>
              <a:rPr lang="en-US" dirty="0" err="1"/>
              <a:t>Data.frame</a:t>
            </a:r>
            <a:r>
              <a:rPr lang="en-US" dirty="0"/>
              <a:t>:  matrix that can contain more then numbers (text)</a:t>
            </a:r>
          </a:p>
          <a:p>
            <a:pPr lvl="1"/>
            <a:r>
              <a:rPr lang="en-US" dirty="0"/>
              <a:t>Factor: Categorical variable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4158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A4A91-31AD-4EB6-A68D-E9E13193C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tips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C7B425-FB27-47F5-9C82-ED8EDCFAC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9900" y="1268760"/>
            <a:ext cx="8104200" cy="4734950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For PSA:</a:t>
            </a:r>
          </a:p>
          <a:p>
            <a:pPr lvl="1"/>
            <a:r>
              <a:rPr lang="en-US" dirty="0"/>
              <a:t>Use </a:t>
            </a:r>
            <a:r>
              <a:rPr lang="en-US" dirty="0" err="1"/>
              <a:t>rnorm</a:t>
            </a:r>
            <a:r>
              <a:rPr lang="en-US" dirty="0"/>
              <a:t>, </a:t>
            </a:r>
            <a:r>
              <a:rPr lang="en-US" dirty="0" err="1"/>
              <a:t>rbeta</a:t>
            </a:r>
            <a:r>
              <a:rPr lang="en-US" dirty="0"/>
              <a:t>, </a:t>
            </a:r>
            <a:r>
              <a:rPr lang="en-US" dirty="0" err="1"/>
              <a:t>rgamma</a:t>
            </a:r>
            <a:r>
              <a:rPr lang="en-US" dirty="0"/>
              <a:t> and for normal, beta and gamma resp.</a:t>
            </a:r>
          </a:p>
          <a:p>
            <a:pPr lvl="1"/>
            <a:endParaRPr lang="en-US" dirty="0"/>
          </a:p>
          <a:p>
            <a:pPr lvl="1"/>
            <a:r>
              <a:rPr lang="en-US" dirty="0" err="1"/>
              <a:t>Rnorm</a:t>
            </a:r>
            <a:r>
              <a:rPr lang="en-US" dirty="0"/>
              <a:t>(1, mean, </a:t>
            </a:r>
            <a:r>
              <a:rPr lang="en-US" dirty="0" err="1"/>
              <a:t>sd</a:t>
            </a:r>
            <a:r>
              <a:rPr lang="en-US" dirty="0"/>
              <a:t>) </a:t>
            </a:r>
          </a:p>
          <a:p>
            <a:pPr lvl="1"/>
            <a:endParaRPr lang="en-US" dirty="0"/>
          </a:p>
          <a:p>
            <a:pPr lvl="1"/>
            <a:r>
              <a:rPr lang="en-US" dirty="0" err="1"/>
              <a:t>Rbeta</a:t>
            </a:r>
            <a:r>
              <a:rPr lang="en-US" dirty="0"/>
              <a:t>(1, a, b)</a:t>
            </a:r>
          </a:p>
          <a:p>
            <a:pPr lvl="1"/>
            <a:endParaRPr lang="en-US" dirty="0"/>
          </a:p>
          <a:p>
            <a:pPr lvl="1"/>
            <a:r>
              <a:rPr lang="en-US" dirty="0" err="1"/>
              <a:t>Rgamma</a:t>
            </a:r>
            <a:r>
              <a:rPr lang="en-US" dirty="0"/>
              <a:t>(1, shape, scale)</a:t>
            </a:r>
          </a:p>
          <a:p>
            <a:pPr lvl="1"/>
            <a:r>
              <a:rPr lang="en-US" dirty="0"/>
              <a:t>Or </a:t>
            </a:r>
            <a:r>
              <a:rPr lang="en-US" dirty="0" err="1"/>
              <a:t>Rgamma</a:t>
            </a:r>
            <a:r>
              <a:rPr lang="en-US" dirty="0"/>
              <a:t>(1,  shape = mean^2 / sd^2, rate = mean / sd^2)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9361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Shape 551"/>
          <p:cNvSpPr txBox="1">
            <a:spLocks noGrp="1"/>
          </p:cNvSpPr>
          <p:nvPr>
            <p:ph type="title"/>
          </p:nvPr>
        </p:nvSpPr>
        <p:spPr>
          <a:xfrm>
            <a:off x="671250" y="2855000"/>
            <a:ext cx="7852200" cy="11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nl-NL" sz="4800" dirty="0"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lang="nl-NL" dirty="0"/>
              <a:t> </a:t>
            </a:r>
            <a:r>
              <a:rPr lang="nl-NL" dirty="0" err="1"/>
              <a:t>Session</a:t>
            </a:r>
            <a:r>
              <a:rPr lang="nl-NL" dirty="0"/>
              <a:t> – </a:t>
            </a:r>
            <a:r>
              <a:rPr lang="nl-NL" dirty="0" err="1"/>
              <a:t>Decision</a:t>
            </a:r>
            <a:r>
              <a:rPr lang="nl-NL" dirty="0"/>
              <a:t> Tree</a:t>
            </a:r>
            <a:br>
              <a:rPr lang="nl-NL" dirty="0"/>
            </a:br>
            <a:br>
              <a:rPr lang="nl-NL" dirty="0"/>
            </a:br>
            <a:br>
              <a:rPr lang="nl-NL" dirty="0"/>
            </a:br>
            <a:r>
              <a:rPr lang="nl-NL" dirty="0"/>
              <a:t>https://github.com/StanWijn/DMIG</a:t>
            </a:r>
            <a:endParaRPr dirty="0"/>
          </a:p>
        </p:txBody>
      </p:sp>
      <p:sp>
        <p:nvSpPr>
          <p:cNvPr id="552" name="Shape 552"/>
          <p:cNvSpPr txBox="1">
            <a:spLocks noGrp="1"/>
          </p:cNvSpPr>
          <p:nvPr>
            <p:ph type="sldNum" idx="12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21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112611-EE74-4EED-A0E9-D6D4A7D1D1D0}"/>
              </a:ext>
            </a:extLst>
          </p:cNvPr>
          <p:cNvSpPr txBox="1"/>
          <p:nvPr/>
        </p:nvSpPr>
        <p:spPr>
          <a:xfrm rot="20436557">
            <a:off x="427751" y="1100972"/>
            <a:ext cx="30243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“Your dedication is inspiring!”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85C463E-FC71-44FA-A742-FA7F6EFCA2E7}"/>
              </a:ext>
            </a:extLst>
          </p:cNvPr>
          <p:cNvSpPr txBox="1">
            <a:spLocks/>
          </p:cNvSpPr>
          <p:nvPr/>
        </p:nvSpPr>
        <p:spPr>
          <a:xfrm>
            <a:off x="2303748" y="3284984"/>
            <a:ext cx="4536504" cy="533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lvl="0" algn="ctr" defTabSz="914400" rtl="0" eaLnBrk="1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nl-NL" dirty="0"/>
              <a:t>3. </a:t>
            </a:r>
            <a:r>
              <a:rPr lang="en-US" dirty="0"/>
              <a:t>Practice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Markov models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410353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5" name="Shape 505" descr="screenshot.png"/>
          <p:cNvPicPr preferRelativeResize="0"/>
          <p:nvPr/>
        </p:nvPicPr>
        <p:blipFill rotWithShape="1">
          <a:blip r:embed="rId3">
            <a:alphaModFix/>
          </a:blip>
          <a:srcRect b="5249"/>
          <a:stretch/>
        </p:blipFill>
        <p:spPr>
          <a:xfrm>
            <a:off x="42275" y="248967"/>
            <a:ext cx="9144000" cy="6497807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Shape 506"/>
          <p:cNvSpPr txBox="1">
            <a:spLocks noGrp="1"/>
          </p:cNvSpPr>
          <p:nvPr>
            <p:ph type="sldNum" idx="12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Shape 579"/>
          <p:cNvSpPr txBox="1">
            <a:spLocks noGrp="1"/>
          </p:cNvSpPr>
          <p:nvPr>
            <p:ph type="title"/>
          </p:nvPr>
        </p:nvSpPr>
        <p:spPr>
          <a:xfrm>
            <a:off x="840432" y="701824"/>
            <a:ext cx="7620000" cy="114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Building a state </a:t>
            </a:r>
            <a:r>
              <a:rPr lang="nl-NL" dirty="0" err="1"/>
              <a:t>transition</a:t>
            </a:r>
            <a:r>
              <a:rPr lang="nl-NL" dirty="0"/>
              <a:t> cohort Model	</a:t>
            </a:r>
            <a:endParaRPr dirty="0"/>
          </a:p>
        </p:txBody>
      </p:sp>
      <p:sp>
        <p:nvSpPr>
          <p:cNvPr id="580" name="Shape 580"/>
          <p:cNvSpPr txBox="1">
            <a:spLocks noGrp="1"/>
          </p:cNvSpPr>
          <p:nvPr>
            <p:ph type="body" idx="1"/>
          </p:nvPr>
        </p:nvSpPr>
        <p:spPr>
          <a:xfrm>
            <a:off x="840432" y="1916832"/>
            <a:ext cx="7620000" cy="44839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rtl="0">
              <a:spcBef>
                <a:spcPts val="800"/>
              </a:spcBef>
              <a:spcAft>
                <a:spcPts val="0"/>
              </a:spcAft>
              <a:buSzPts val="2200"/>
              <a:buChar char="•"/>
            </a:pPr>
            <a:r>
              <a:rPr lang="nl-NL" dirty="0"/>
              <a:t>Load model parameters</a:t>
            </a:r>
          </a:p>
          <a:p>
            <a:pPr marL="457200" lvl="0" indent="-368300" rtl="0">
              <a:spcBef>
                <a:spcPts val="800"/>
              </a:spcBef>
              <a:spcAft>
                <a:spcPts val="0"/>
              </a:spcAft>
              <a:buSzPts val="2200"/>
              <a:buChar char="•"/>
            </a:pPr>
            <a:r>
              <a:rPr lang="nl-NL" dirty="0" err="1"/>
              <a:t>Determine</a:t>
            </a:r>
            <a:r>
              <a:rPr lang="nl-NL" dirty="0"/>
              <a:t> health </a:t>
            </a:r>
            <a:r>
              <a:rPr lang="nl-NL" dirty="0" err="1"/>
              <a:t>states</a:t>
            </a:r>
            <a:endParaRPr dirty="0"/>
          </a:p>
          <a:p>
            <a:pPr marL="457200" lvl="0" indent="-368300" rtl="0"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lang="nl-NL" dirty="0" err="1"/>
              <a:t>Determine</a:t>
            </a:r>
            <a:r>
              <a:rPr lang="nl-NL" dirty="0"/>
              <a:t> </a:t>
            </a:r>
            <a:r>
              <a:rPr lang="nl-NL" dirty="0" err="1"/>
              <a:t>transitions</a:t>
            </a:r>
            <a:endParaRPr dirty="0"/>
          </a:p>
          <a:p>
            <a:pPr marL="457200" lvl="0" indent="-368300" rtl="0"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lang="nl-NL" dirty="0" err="1"/>
              <a:t>Choose</a:t>
            </a:r>
            <a:r>
              <a:rPr lang="nl-NL" dirty="0"/>
              <a:t> </a:t>
            </a:r>
            <a:r>
              <a:rPr lang="nl-NL" dirty="0" err="1"/>
              <a:t>cycle</a:t>
            </a:r>
            <a:r>
              <a:rPr lang="nl-NL" dirty="0"/>
              <a:t> </a:t>
            </a:r>
            <a:r>
              <a:rPr lang="nl-NL" dirty="0" err="1"/>
              <a:t>length</a:t>
            </a:r>
            <a:endParaRPr dirty="0"/>
          </a:p>
          <a:p>
            <a:pPr marL="457200" lvl="0" indent="-368300" rtl="0"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lang="nl-NL" dirty="0" err="1"/>
              <a:t>Estimate</a:t>
            </a:r>
            <a:r>
              <a:rPr lang="nl-NL" dirty="0"/>
              <a:t> </a:t>
            </a:r>
            <a:r>
              <a:rPr lang="nl-NL" dirty="0" err="1"/>
              <a:t>transition</a:t>
            </a:r>
            <a:r>
              <a:rPr lang="nl-NL" dirty="0"/>
              <a:t> </a:t>
            </a:r>
            <a:r>
              <a:rPr lang="nl-NL" dirty="0" err="1"/>
              <a:t>probabilities</a:t>
            </a:r>
            <a:endParaRPr dirty="0"/>
          </a:p>
          <a:p>
            <a:pPr marL="457200" lvl="0" indent="-368300" rtl="0"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lang="nl-NL" dirty="0" err="1"/>
              <a:t>Estimate</a:t>
            </a:r>
            <a:r>
              <a:rPr lang="nl-NL" dirty="0"/>
              <a:t> state </a:t>
            </a:r>
            <a:r>
              <a:rPr lang="nl-NL" dirty="0" err="1"/>
              <a:t>utilities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costs</a:t>
            </a:r>
            <a:r>
              <a:rPr lang="nl-NL" dirty="0"/>
              <a:t> per </a:t>
            </a:r>
            <a:r>
              <a:rPr lang="nl-NL" dirty="0" err="1"/>
              <a:t>cycle</a:t>
            </a:r>
            <a:endParaRPr dirty="0"/>
          </a:p>
          <a:p>
            <a:pPr marL="457200" lvl="0" indent="-368300" rtl="0"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lang="nl-NL" dirty="0" err="1"/>
              <a:t>Calculate</a:t>
            </a:r>
            <a:endParaRPr dirty="0"/>
          </a:p>
          <a:p>
            <a:pPr marL="457200" lvl="0" indent="-368300" rtl="0">
              <a:spcBef>
                <a:spcPts val="1000"/>
              </a:spcBef>
              <a:spcAft>
                <a:spcPts val="1000"/>
              </a:spcAft>
              <a:buSzPts val="2200"/>
              <a:buChar char="•"/>
            </a:pPr>
            <a:r>
              <a:rPr lang="nl-NL" dirty="0" err="1"/>
              <a:t>Results</a:t>
            </a:r>
            <a:r>
              <a:rPr lang="nl-NL" dirty="0"/>
              <a:t> &amp; plots</a:t>
            </a:r>
          </a:p>
          <a:p>
            <a:pPr marL="782637" lvl="1" indent="-368300">
              <a:spcBef>
                <a:spcPts val="1000"/>
              </a:spcBef>
              <a:spcAft>
                <a:spcPts val="1000"/>
              </a:spcAft>
              <a:buSzPts val="2200"/>
            </a:pPr>
            <a:r>
              <a:rPr lang="nl-NL" dirty="0"/>
              <a:t>(</a:t>
            </a:r>
            <a:r>
              <a:rPr lang="nl-NL" dirty="0" err="1"/>
              <a:t>Sensitivity</a:t>
            </a:r>
            <a:r>
              <a:rPr lang="nl-NL" dirty="0"/>
              <a:t> analysis)</a:t>
            </a:r>
            <a:endParaRPr dirty="0"/>
          </a:p>
        </p:txBody>
      </p:sp>
      <p:sp>
        <p:nvSpPr>
          <p:cNvPr id="581" name="Shape 581"/>
          <p:cNvSpPr txBox="1">
            <a:spLocks noGrp="1"/>
          </p:cNvSpPr>
          <p:nvPr>
            <p:ph type="sldNum" idx="12"/>
          </p:nvPr>
        </p:nvSpPr>
        <p:spPr>
          <a:xfrm>
            <a:off x="8559864" y="6453336"/>
            <a:ext cx="5487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nl-NL"/>
              <a:t>24</a:t>
            </a:fld>
            <a:endParaRPr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28CC1BC1-C05C-4CD9-BE2D-2DD4476E04EB}"/>
              </a:ext>
            </a:extLst>
          </p:cNvPr>
          <p:cNvSpPr txBox="1"/>
          <p:nvPr/>
        </p:nvSpPr>
        <p:spPr>
          <a:xfrm>
            <a:off x="6156176" y="2110339"/>
            <a:ext cx="14401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1" i="1" dirty="0"/>
              <a:t>Input</a:t>
            </a:r>
          </a:p>
          <a:p>
            <a:endParaRPr lang="nl-NL" b="1" i="1" dirty="0"/>
          </a:p>
          <a:p>
            <a:r>
              <a:rPr lang="nl-NL" b="1" i="1" dirty="0" err="1"/>
              <a:t>Initialization</a:t>
            </a:r>
            <a:endParaRPr lang="nl-NL" b="1" i="1" dirty="0"/>
          </a:p>
          <a:p>
            <a:endParaRPr lang="nl-NL" b="1" i="1" dirty="0"/>
          </a:p>
          <a:p>
            <a:endParaRPr lang="nl-NL" b="1" i="1" dirty="0"/>
          </a:p>
          <a:p>
            <a:endParaRPr lang="nl-NL" b="1" i="1" dirty="0"/>
          </a:p>
          <a:p>
            <a:endParaRPr lang="nl-NL" b="1" i="1" dirty="0"/>
          </a:p>
          <a:p>
            <a:endParaRPr lang="nl-NL" b="1" i="1" dirty="0"/>
          </a:p>
          <a:p>
            <a:endParaRPr lang="nl-NL" b="1" i="1" dirty="0"/>
          </a:p>
          <a:p>
            <a:r>
              <a:rPr lang="nl-NL" b="1" i="1" dirty="0"/>
              <a:t>Model</a:t>
            </a:r>
          </a:p>
          <a:p>
            <a:endParaRPr lang="nl-NL" b="1" i="1" dirty="0"/>
          </a:p>
          <a:p>
            <a:r>
              <a:rPr lang="nl-NL" b="1" i="1" dirty="0"/>
              <a:t>Output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Shape 597"/>
          <p:cNvSpPr txBox="1">
            <a:spLocks noGrp="1"/>
          </p:cNvSpPr>
          <p:nvPr>
            <p:ph type="title"/>
          </p:nvPr>
        </p:nvSpPr>
        <p:spPr>
          <a:xfrm>
            <a:off x="5681325" y="974375"/>
            <a:ext cx="3320400" cy="76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/>
              <a:t>Markov </a:t>
            </a:r>
            <a:endParaRPr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/>
              <a:t>Trace</a:t>
            </a:r>
            <a:endParaRPr/>
          </a:p>
        </p:txBody>
      </p:sp>
      <p:sp>
        <p:nvSpPr>
          <p:cNvPr id="598" name="Shape 598"/>
          <p:cNvSpPr txBox="1">
            <a:spLocks noGrp="1"/>
          </p:cNvSpPr>
          <p:nvPr>
            <p:ph type="body" idx="1"/>
          </p:nvPr>
        </p:nvSpPr>
        <p:spPr>
          <a:xfrm>
            <a:off x="5517875" y="2142275"/>
            <a:ext cx="3483900" cy="141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440"/>
              </a:spcBef>
              <a:spcAft>
                <a:spcPts val="0"/>
              </a:spcAft>
              <a:buNone/>
            </a:pPr>
            <a:r>
              <a:rPr lang="nl-NL">
                <a:solidFill>
                  <a:srgbClr val="004D99"/>
                </a:solidFill>
              </a:rPr>
              <a:t>Number or distribution of individuals at each cycle</a:t>
            </a:r>
            <a:endParaRPr>
              <a:solidFill>
                <a:srgbClr val="004D99"/>
              </a:solidFill>
            </a:endParaRPr>
          </a:p>
        </p:txBody>
      </p:sp>
      <p:pic>
        <p:nvPicPr>
          <p:cNvPr id="599" name="Shape 599" descr="Markov_HIV_trace.png"/>
          <p:cNvPicPr preferRelativeResize="0"/>
          <p:nvPr/>
        </p:nvPicPr>
        <p:blipFill rotWithShape="1">
          <a:blip r:embed="rId3">
            <a:alphaModFix/>
          </a:blip>
          <a:srcRect l="3623"/>
          <a:stretch/>
        </p:blipFill>
        <p:spPr>
          <a:xfrm>
            <a:off x="790325" y="463075"/>
            <a:ext cx="4727549" cy="5931850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Shape 600"/>
          <p:cNvSpPr txBox="1">
            <a:spLocks noGrp="1"/>
          </p:cNvSpPr>
          <p:nvPr>
            <p:ph type="sldNum" idx="12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25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Shape 606"/>
          <p:cNvSpPr txBox="1">
            <a:spLocks noGrp="1"/>
          </p:cNvSpPr>
          <p:nvPr>
            <p:ph type="title"/>
          </p:nvPr>
        </p:nvSpPr>
        <p:spPr>
          <a:xfrm>
            <a:off x="840432" y="274638"/>
            <a:ext cx="7620000" cy="114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nl-NL"/>
              <a:t>Healthy - Sick - Dead</a:t>
            </a:r>
            <a:endParaRPr/>
          </a:p>
        </p:txBody>
      </p:sp>
      <p:sp>
        <p:nvSpPr>
          <p:cNvPr id="607" name="Shape 607"/>
          <p:cNvSpPr>
            <a:spLocks noGrp="1"/>
          </p:cNvSpPr>
          <p:nvPr>
            <p:ph type="sldNum" idx="12"/>
          </p:nvPr>
        </p:nvSpPr>
        <p:spPr>
          <a:xfrm>
            <a:off x="8559864" y="6453336"/>
            <a:ext cx="548700" cy="396300"/>
          </a:xfrm>
          <a:prstGeom prst="bracketPair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nl-NL"/>
              <a:t>26</a:t>
            </a:fld>
            <a:endParaRPr/>
          </a:p>
        </p:txBody>
      </p:sp>
      <p:pic>
        <p:nvPicPr>
          <p:cNvPr id="608" name="Shape 6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2650" y="1805250"/>
            <a:ext cx="5261149" cy="369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Shape 768"/>
          <p:cNvSpPr txBox="1">
            <a:spLocks noGrp="1"/>
          </p:cNvSpPr>
          <p:nvPr>
            <p:ph type="title"/>
          </p:nvPr>
        </p:nvSpPr>
        <p:spPr>
          <a:xfrm>
            <a:off x="864351" y="399618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i="0" u="none" strike="noStrike" cap="none" dirty="0"/>
              <a:t>Transitioning</a:t>
            </a:r>
          </a:p>
        </p:txBody>
      </p:sp>
      <p:sp>
        <p:nvSpPr>
          <p:cNvPr id="769" name="Shape 769"/>
          <p:cNvSpPr txBox="1">
            <a:spLocks noGrp="1"/>
          </p:cNvSpPr>
          <p:nvPr>
            <p:ph type="body" idx="1"/>
          </p:nvPr>
        </p:nvSpPr>
        <p:spPr>
          <a:xfrm>
            <a:off x="803750" y="1295400"/>
            <a:ext cx="8091000" cy="50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17500" algn="l" rtl="0"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ts val="2400"/>
              <a:buFont typeface="Verdana"/>
              <a:buChar char="•"/>
            </a:pPr>
            <a:r>
              <a:rPr lang="nl-NL" sz="2400" i="0" u="none" strike="noStrike" cap="none" dirty="0" err="1">
                <a:solidFill>
                  <a:schemeClr val="dk1"/>
                </a:solidFill>
              </a:rPr>
              <a:t>Summarize</a:t>
            </a:r>
            <a:r>
              <a:rPr lang="nl-NL" sz="2400" i="0" u="none" strike="noStrike" cap="none" dirty="0">
                <a:solidFill>
                  <a:schemeClr val="dk1"/>
                </a:solidFill>
              </a:rPr>
              <a:t> </a:t>
            </a:r>
            <a:r>
              <a:rPr lang="nl-NL" sz="2400" i="0" u="none" strike="noStrike" cap="none" dirty="0" err="1">
                <a:solidFill>
                  <a:schemeClr val="dk1"/>
                </a:solidFill>
              </a:rPr>
              <a:t>transition</a:t>
            </a:r>
            <a:r>
              <a:rPr lang="nl-NL" sz="2400" i="0" u="none" strike="noStrike" cap="none" dirty="0">
                <a:solidFill>
                  <a:schemeClr val="dk1"/>
                </a:solidFill>
              </a:rPr>
              <a:t> </a:t>
            </a:r>
            <a:r>
              <a:rPr lang="nl-NL" sz="2400" i="0" u="none" strike="noStrike" cap="none" dirty="0" err="1">
                <a:solidFill>
                  <a:schemeClr val="dk1"/>
                </a:solidFill>
              </a:rPr>
              <a:t>probabilities</a:t>
            </a:r>
            <a:r>
              <a:rPr lang="nl-NL" sz="2400" i="0" u="none" strike="noStrike" cap="none" dirty="0">
                <a:solidFill>
                  <a:schemeClr val="dk1"/>
                </a:solidFill>
              </a:rPr>
              <a:t> as a matrix</a:t>
            </a:r>
            <a:endParaRPr sz="2400" dirty="0"/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2800"/>
              <a:buFont typeface="Constantia"/>
              <a:buNone/>
            </a:pPr>
            <a:endParaRPr sz="2400" i="0" u="none" strike="noStrike" cap="none" dirty="0">
              <a:solidFill>
                <a:schemeClr val="dk1"/>
              </a:solidFill>
            </a:endParaRPr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2800"/>
              <a:buFont typeface="Constantia"/>
              <a:buNone/>
            </a:pPr>
            <a:endParaRPr sz="2400" i="0" u="none" strike="noStrike" cap="none" dirty="0">
              <a:solidFill>
                <a:schemeClr val="dk1"/>
              </a:solidFill>
            </a:endParaRPr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2800"/>
              <a:buFont typeface="Constantia"/>
              <a:buNone/>
            </a:pPr>
            <a:endParaRPr sz="2400" i="0" u="none" strike="noStrike" cap="none" dirty="0">
              <a:solidFill>
                <a:schemeClr val="dk1"/>
              </a:solidFill>
            </a:endParaRPr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2800"/>
              <a:buFont typeface="Constantia"/>
              <a:buNone/>
            </a:pPr>
            <a:endParaRPr sz="2400" i="0" u="none" strike="noStrike" cap="none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endParaRPr sz="2400" dirty="0"/>
          </a:p>
          <a:p>
            <a:pPr marL="342900" marR="0" lvl="0" indent="-317500" algn="l" rtl="0">
              <a:spcBef>
                <a:spcPts val="560"/>
              </a:spcBef>
              <a:spcAft>
                <a:spcPts val="0"/>
              </a:spcAft>
              <a:buClr>
                <a:srgbClr val="009999"/>
              </a:buClr>
              <a:buSzPts val="2400"/>
              <a:buFont typeface="Verdana"/>
              <a:buChar char="•"/>
            </a:pPr>
            <a:r>
              <a:rPr lang="nl-NL" sz="2400" i="0" u="none" strike="noStrike" cap="none" dirty="0">
                <a:solidFill>
                  <a:schemeClr val="dk1"/>
                </a:solidFill>
              </a:rPr>
              <a:t>Cohort </a:t>
            </a:r>
            <a:r>
              <a:rPr lang="nl-NL" sz="2400" i="0" u="none" strike="noStrike" cap="none" dirty="0" err="1">
                <a:solidFill>
                  <a:schemeClr val="dk1"/>
                </a:solidFill>
              </a:rPr>
              <a:t>distribution</a:t>
            </a:r>
            <a:r>
              <a:rPr lang="nl-NL" sz="2400" i="0" u="none" strike="noStrike" cap="none" dirty="0">
                <a:solidFill>
                  <a:schemeClr val="dk1"/>
                </a:solidFill>
              </a:rPr>
              <a:t> at next time step </a:t>
            </a:r>
            <a:r>
              <a:rPr lang="nl-NL" sz="2400" i="0" u="none" strike="noStrike" cap="none" dirty="0" err="1">
                <a:solidFill>
                  <a:schemeClr val="dk1"/>
                </a:solidFill>
              </a:rPr>
              <a:t>calculated</a:t>
            </a:r>
            <a:r>
              <a:rPr lang="nl-NL" sz="2400" i="0" u="none" strike="noStrike" cap="none" dirty="0">
                <a:solidFill>
                  <a:schemeClr val="dk1"/>
                </a:solidFill>
              </a:rPr>
              <a:t> </a:t>
            </a:r>
            <a:r>
              <a:rPr lang="nl-NL" sz="2400" i="0" u="none" strike="noStrike" cap="none" dirty="0" err="1">
                <a:solidFill>
                  <a:schemeClr val="dk1"/>
                </a:solidFill>
              </a:rPr>
              <a:t>through</a:t>
            </a:r>
            <a:r>
              <a:rPr lang="nl-NL" sz="2400" i="0" u="none" strike="noStrike" cap="none" dirty="0">
                <a:solidFill>
                  <a:schemeClr val="dk1"/>
                </a:solidFill>
              </a:rPr>
              <a:t> matrix </a:t>
            </a:r>
            <a:r>
              <a:rPr lang="nl-NL" sz="2400" i="0" u="none" strike="noStrike" cap="none" dirty="0" err="1">
                <a:solidFill>
                  <a:schemeClr val="dk1"/>
                </a:solidFill>
              </a:rPr>
              <a:t>multiplication</a:t>
            </a:r>
            <a:endParaRPr sz="2400" i="0" u="none" strike="noStrike" cap="none" dirty="0">
              <a:solidFill>
                <a:schemeClr val="dk1"/>
              </a:solidFill>
            </a:endParaRPr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2800"/>
              <a:buFont typeface="Constantia"/>
              <a:buNone/>
            </a:pPr>
            <a:endParaRPr sz="2400" i="0" u="none" strike="noStrike" cap="none" dirty="0">
              <a:solidFill>
                <a:schemeClr val="dk1"/>
              </a:solidFill>
            </a:endParaRPr>
          </a:p>
        </p:txBody>
      </p:sp>
      <p:graphicFrame>
        <p:nvGraphicFramePr>
          <p:cNvPr id="770" name="Shape 770"/>
          <p:cNvGraphicFramePr/>
          <p:nvPr/>
        </p:nvGraphicFramePr>
        <p:xfrm>
          <a:off x="1946930" y="1993630"/>
          <a:ext cx="4023400" cy="147832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005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b="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Healthy</a:t>
                      </a:r>
                      <a:endParaRPr sz="18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1888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b="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Sick</a:t>
                      </a:r>
                      <a:endParaRPr sz="18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1888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b="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Dead</a:t>
                      </a:r>
                      <a:endParaRPr sz="18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1888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Healthy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1888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0.75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28575" cap="flat" cmpd="sng">
                      <a:solidFill>
                        <a:srgbClr val="61888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1888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1888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0.05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1888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1888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Sick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1888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 anchor="ctr">
                    <a:lnL w="28575" cap="flat" cmpd="sng">
                      <a:solidFill>
                        <a:srgbClr val="61888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0.85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0.15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1888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Dead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1888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28575" cap="flat" cmpd="sng">
                      <a:solidFill>
                        <a:srgbClr val="61888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1888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1888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1888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1888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71" name="Shape 771"/>
          <p:cNvSpPr txBox="1"/>
          <p:nvPr/>
        </p:nvSpPr>
        <p:spPr>
          <a:xfrm rot="-5400000">
            <a:off x="1420217" y="2706224"/>
            <a:ext cx="73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Shape 772"/>
          <p:cNvSpPr txBox="1"/>
          <p:nvPr/>
        </p:nvSpPr>
        <p:spPr>
          <a:xfrm>
            <a:off x="2994905" y="1713740"/>
            <a:ext cx="46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3" name="Shape 773"/>
          <p:cNvGrpSpPr/>
          <p:nvPr/>
        </p:nvGrpSpPr>
        <p:grpSpPr>
          <a:xfrm>
            <a:off x="864351" y="5295089"/>
            <a:ext cx="2235200" cy="548700"/>
            <a:chOff x="4038643" y="4217897"/>
            <a:chExt cx="2235200" cy="548700"/>
          </a:xfrm>
        </p:grpSpPr>
        <p:grpSp>
          <p:nvGrpSpPr>
            <p:cNvPr id="774" name="Shape 774"/>
            <p:cNvGrpSpPr/>
            <p:nvPr/>
          </p:nvGrpSpPr>
          <p:grpSpPr>
            <a:xfrm>
              <a:off x="4038643" y="4217897"/>
              <a:ext cx="2235200" cy="548700"/>
              <a:chOff x="1297709" y="3997072"/>
              <a:chExt cx="2235200" cy="548700"/>
            </a:xfrm>
          </p:grpSpPr>
          <p:sp>
            <p:nvSpPr>
              <p:cNvPr id="775" name="Shape 775"/>
              <p:cNvSpPr/>
              <p:nvPr/>
            </p:nvSpPr>
            <p:spPr>
              <a:xfrm>
                <a:off x="1297709" y="3997072"/>
                <a:ext cx="115500" cy="548700"/>
              </a:xfrm>
              <a:prstGeom prst="leftBracket">
                <a:avLst>
                  <a:gd name="adj" fmla="val 8333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6" name="Shape 776"/>
              <p:cNvSpPr/>
              <p:nvPr/>
            </p:nvSpPr>
            <p:spPr>
              <a:xfrm flipH="1">
                <a:off x="3417409" y="3997072"/>
                <a:ext cx="115500" cy="548700"/>
              </a:xfrm>
              <a:prstGeom prst="leftBracket">
                <a:avLst>
                  <a:gd name="adj" fmla="val 8333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77" name="Shape 777"/>
            <p:cNvSpPr txBox="1"/>
            <p:nvPr/>
          </p:nvSpPr>
          <p:spPr>
            <a:xfrm>
              <a:off x="4157880" y="4304991"/>
              <a:ext cx="662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NL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1.0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Shape 778"/>
            <p:cNvSpPr txBox="1"/>
            <p:nvPr/>
          </p:nvSpPr>
          <p:spPr>
            <a:xfrm>
              <a:off x="4841020" y="4304991"/>
              <a:ext cx="662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NL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0.0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9" name="Shape 779"/>
            <p:cNvSpPr txBox="1"/>
            <p:nvPr/>
          </p:nvSpPr>
          <p:spPr>
            <a:xfrm>
              <a:off x="5528501" y="4304991"/>
              <a:ext cx="662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NL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0.0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0" name="Shape 780"/>
          <p:cNvSpPr txBox="1"/>
          <p:nvPr/>
        </p:nvSpPr>
        <p:spPr>
          <a:xfrm>
            <a:off x="5987824" y="2644659"/>
            <a:ext cx="1299900" cy="4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	A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Shape 781"/>
          <p:cNvSpPr txBox="1"/>
          <p:nvPr/>
        </p:nvSpPr>
        <p:spPr>
          <a:xfrm>
            <a:off x="6173178" y="5356639"/>
            <a:ext cx="662400" cy="4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sz="2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82" name="Shape 782"/>
          <p:cNvGrpSpPr/>
          <p:nvPr/>
        </p:nvGrpSpPr>
        <p:grpSpPr>
          <a:xfrm>
            <a:off x="3707757" y="4737864"/>
            <a:ext cx="2235200" cy="1645800"/>
            <a:chOff x="4826000" y="3611334"/>
            <a:chExt cx="2235200" cy="1645800"/>
          </a:xfrm>
        </p:grpSpPr>
        <p:sp>
          <p:nvSpPr>
            <p:cNvPr id="783" name="Shape 783"/>
            <p:cNvSpPr/>
            <p:nvPr/>
          </p:nvSpPr>
          <p:spPr>
            <a:xfrm>
              <a:off x="4826000" y="3611334"/>
              <a:ext cx="115500" cy="1645800"/>
            </a:xfrm>
            <a:prstGeom prst="leftBracket">
              <a:avLst>
                <a:gd name="adj" fmla="val 8333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Shape 784"/>
            <p:cNvSpPr/>
            <p:nvPr/>
          </p:nvSpPr>
          <p:spPr>
            <a:xfrm flipH="1">
              <a:off x="6945700" y="3611334"/>
              <a:ext cx="115500" cy="1645800"/>
            </a:xfrm>
            <a:prstGeom prst="leftBracket">
              <a:avLst>
                <a:gd name="adj" fmla="val 8333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4" name="Shape 794"/>
          <p:cNvGrpSpPr/>
          <p:nvPr/>
        </p:nvGrpSpPr>
        <p:grpSpPr>
          <a:xfrm>
            <a:off x="6747564" y="5343366"/>
            <a:ext cx="2235200" cy="548700"/>
            <a:chOff x="1297709" y="3997072"/>
            <a:chExt cx="2235200" cy="548700"/>
          </a:xfrm>
        </p:grpSpPr>
        <p:sp>
          <p:nvSpPr>
            <p:cNvPr id="795" name="Shape 795"/>
            <p:cNvSpPr/>
            <p:nvPr/>
          </p:nvSpPr>
          <p:spPr>
            <a:xfrm>
              <a:off x="1297709" y="3997072"/>
              <a:ext cx="115500" cy="548700"/>
            </a:xfrm>
            <a:prstGeom prst="leftBracket">
              <a:avLst>
                <a:gd name="adj" fmla="val 8333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Shape 796"/>
            <p:cNvSpPr/>
            <p:nvPr/>
          </p:nvSpPr>
          <p:spPr>
            <a:xfrm flipH="1">
              <a:off x="3417409" y="3997072"/>
              <a:ext cx="115500" cy="548700"/>
            </a:xfrm>
            <a:prstGeom prst="leftBracket">
              <a:avLst>
                <a:gd name="adj" fmla="val 8333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7" name="Shape 797"/>
          <p:cNvSpPr txBox="1"/>
          <p:nvPr/>
        </p:nvSpPr>
        <p:spPr>
          <a:xfrm>
            <a:off x="4485612" y="4096231"/>
            <a:ext cx="662400" cy="4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6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2600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Shape 798"/>
          <p:cNvSpPr/>
          <p:nvPr/>
        </p:nvSpPr>
        <p:spPr>
          <a:xfrm>
            <a:off x="1761391" y="4753222"/>
            <a:ext cx="473100" cy="4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600" i="1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x</a:t>
            </a:r>
            <a:r>
              <a:rPr lang="nl-NL" sz="2600" baseline="-25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Shape 799"/>
          <p:cNvSpPr/>
          <p:nvPr/>
        </p:nvSpPr>
        <p:spPr>
          <a:xfrm>
            <a:off x="7592408" y="4802789"/>
            <a:ext cx="473100" cy="4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600" i="1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x</a:t>
            </a:r>
            <a:r>
              <a:rPr lang="nl-NL" sz="2600" baseline="-25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Shape 807"/>
          <p:cNvSpPr txBox="1">
            <a:spLocks noGrp="1"/>
          </p:cNvSpPr>
          <p:nvPr>
            <p:ph type="sldNum" idx="12"/>
          </p:nvPr>
        </p:nvSpPr>
        <p:spPr>
          <a:xfrm>
            <a:off x="8559864" y="6453336"/>
            <a:ext cx="5487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nl-NL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451156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Shape 768"/>
          <p:cNvSpPr txBox="1">
            <a:spLocks noGrp="1"/>
          </p:cNvSpPr>
          <p:nvPr>
            <p:ph type="title"/>
          </p:nvPr>
        </p:nvSpPr>
        <p:spPr>
          <a:xfrm>
            <a:off x="840432" y="274638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4000" i="0" u="none" strike="noStrike" cap="none"/>
              <a:t>Review – Markov Models</a:t>
            </a:r>
            <a:endParaRPr sz="4000" i="0" u="none" strike="noStrike" cap="none"/>
          </a:p>
        </p:txBody>
      </p:sp>
      <p:sp>
        <p:nvSpPr>
          <p:cNvPr id="769" name="Shape 769"/>
          <p:cNvSpPr txBox="1">
            <a:spLocks noGrp="1"/>
          </p:cNvSpPr>
          <p:nvPr>
            <p:ph type="body" idx="1"/>
          </p:nvPr>
        </p:nvSpPr>
        <p:spPr>
          <a:xfrm>
            <a:off x="803750" y="1295400"/>
            <a:ext cx="8091000" cy="50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17500" algn="l" rtl="0"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ts val="2400"/>
              <a:buFont typeface="Verdana"/>
              <a:buChar char="•"/>
            </a:pPr>
            <a:r>
              <a:rPr lang="nl-NL" sz="2400" i="0" u="none" strike="noStrike" cap="none" dirty="0" err="1">
                <a:solidFill>
                  <a:schemeClr val="dk1"/>
                </a:solidFill>
              </a:rPr>
              <a:t>Summarize</a:t>
            </a:r>
            <a:r>
              <a:rPr lang="nl-NL" sz="2400" i="0" u="none" strike="noStrike" cap="none" dirty="0">
                <a:solidFill>
                  <a:schemeClr val="dk1"/>
                </a:solidFill>
              </a:rPr>
              <a:t> </a:t>
            </a:r>
            <a:r>
              <a:rPr lang="nl-NL" sz="2400" i="0" u="none" strike="noStrike" cap="none" dirty="0" err="1">
                <a:solidFill>
                  <a:schemeClr val="dk1"/>
                </a:solidFill>
              </a:rPr>
              <a:t>transition</a:t>
            </a:r>
            <a:r>
              <a:rPr lang="nl-NL" sz="2400" i="0" u="none" strike="noStrike" cap="none" dirty="0">
                <a:solidFill>
                  <a:schemeClr val="dk1"/>
                </a:solidFill>
              </a:rPr>
              <a:t> </a:t>
            </a:r>
            <a:r>
              <a:rPr lang="nl-NL" sz="2400" i="0" u="none" strike="noStrike" cap="none" dirty="0" err="1">
                <a:solidFill>
                  <a:schemeClr val="dk1"/>
                </a:solidFill>
              </a:rPr>
              <a:t>probabilities</a:t>
            </a:r>
            <a:r>
              <a:rPr lang="nl-NL" sz="2400" i="0" u="none" strike="noStrike" cap="none" dirty="0">
                <a:solidFill>
                  <a:schemeClr val="dk1"/>
                </a:solidFill>
              </a:rPr>
              <a:t> as a matrix</a:t>
            </a:r>
            <a:endParaRPr sz="2400" dirty="0"/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2800"/>
              <a:buFont typeface="Constantia"/>
              <a:buNone/>
            </a:pPr>
            <a:endParaRPr sz="2400" i="0" u="none" strike="noStrike" cap="none" dirty="0">
              <a:solidFill>
                <a:schemeClr val="dk1"/>
              </a:solidFill>
            </a:endParaRPr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2800"/>
              <a:buFont typeface="Constantia"/>
              <a:buNone/>
            </a:pPr>
            <a:endParaRPr sz="2400" i="0" u="none" strike="noStrike" cap="none" dirty="0">
              <a:solidFill>
                <a:schemeClr val="dk1"/>
              </a:solidFill>
            </a:endParaRPr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2800"/>
              <a:buFont typeface="Constantia"/>
              <a:buNone/>
            </a:pPr>
            <a:endParaRPr sz="2400" i="0" u="none" strike="noStrike" cap="none" dirty="0">
              <a:solidFill>
                <a:schemeClr val="dk1"/>
              </a:solidFill>
            </a:endParaRPr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2800"/>
              <a:buFont typeface="Constantia"/>
              <a:buNone/>
            </a:pPr>
            <a:endParaRPr sz="2400" i="0" u="none" strike="noStrike" cap="none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endParaRPr sz="2400" dirty="0"/>
          </a:p>
          <a:p>
            <a:pPr marL="342900" marR="0" lvl="0" indent="-317500" algn="l" rtl="0">
              <a:spcBef>
                <a:spcPts val="560"/>
              </a:spcBef>
              <a:spcAft>
                <a:spcPts val="0"/>
              </a:spcAft>
              <a:buClr>
                <a:srgbClr val="009999"/>
              </a:buClr>
              <a:buSzPts val="2400"/>
              <a:buFont typeface="Verdana"/>
              <a:buChar char="•"/>
            </a:pPr>
            <a:r>
              <a:rPr lang="nl-NL" sz="2400" i="0" u="none" strike="noStrike" cap="none" dirty="0">
                <a:solidFill>
                  <a:schemeClr val="dk1"/>
                </a:solidFill>
              </a:rPr>
              <a:t>Cohort </a:t>
            </a:r>
            <a:r>
              <a:rPr lang="nl-NL" sz="2400" i="0" u="none" strike="noStrike" cap="none" dirty="0" err="1">
                <a:solidFill>
                  <a:schemeClr val="dk1"/>
                </a:solidFill>
              </a:rPr>
              <a:t>distribution</a:t>
            </a:r>
            <a:r>
              <a:rPr lang="nl-NL" sz="2400" i="0" u="none" strike="noStrike" cap="none" dirty="0">
                <a:solidFill>
                  <a:schemeClr val="dk1"/>
                </a:solidFill>
              </a:rPr>
              <a:t> at next time step </a:t>
            </a:r>
            <a:r>
              <a:rPr lang="nl-NL" sz="2400" i="0" u="none" strike="noStrike" cap="none" dirty="0" err="1">
                <a:solidFill>
                  <a:schemeClr val="dk1"/>
                </a:solidFill>
              </a:rPr>
              <a:t>calculated</a:t>
            </a:r>
            <a:r>
              <a:rPr lang="nl-NL" sz="2400" i="0" u="none" strike="noStrike" cap="none" dirty="0">
                <a:solidFill>
                  <a:schemeClr val="dk1"/>
                </a:solidFill>
              </a:rPr>
              <a:t> </a:t>
            </a:r>
            <a:r>
              <a:rPr lang="nl-NL" sz="2400" i="0" u="none" strike="noStrike" cap="none" dirty="0" err="1">
                <a:solidFill>
                  <a:schemeClr val="dk1"/>
                </a:solidFill>
              </a:rPr>
              <a:t>through</a:t>
            </a:r>
            <a:r>
              <a:rPr lang="nl-NL" sz="2400" i="0" u="none" strike="noStrike" cap="none" dirty="0">
                <a:solidFill>
                  <a:schemeClr val="dk1"/>
                </a:solidFill>
              </a:rPr>
              <a:t> matrix </a:t>
            </a:r>
            <a:r>
              <a:rPr lang="nl-NL" sz="2400" i="0" u="none" strike="noStrike" cap="none" dirty="0" err="1">
                <a:solidFill>
                  <a:schemeClr val="dk1"/>
                </a:solidFill>
              </a:rPr>
              <a:t>multiplication</a:t>
            </a:r>
            <a:endParaRPr sz="2400" i="0" u="none" strike="noStrike" cap="none" dirty="0">
              <a:solidFill>
                <a:schemeClr val="dk1"/>
              </a:solidFill>
            </a:endParaRPr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2800"/>
              <a:buFont typeface="Constantia"/>
              <a:buNone/>
            </a:pPr>
            <a:endParaRPr sz="2400" i="0" u="none" strike="noStrike" cap="none" dirty="0">
              <a:solidFill>
                <a:schemeClr val="dk1"/>
              </a:solidFill>
            </a:endParaRPr>
          </a:p>
        </p:txBody>
      </p:sp>
      <p:graphicFrame>
        <p:nvGraphicFramePr>
          <p:cNvPr id="770" name="Shape 770"/>
          <p:cNvGraphicFramePr/>
          <p:nvPr/>
        </p:nvGraphicFramePr>
        <p:xfrm>
          <a:off x="1946930" y="1993630"/>
          <a:ext cx="4023400" cy="147832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005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b="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Healthy</a:t>
                      </a:r>
                      <a:endParaRPr sz="18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1888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b="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Sick</a:t>
                      </a:r>
                      <a:endParaRPr sz="18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1888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b="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Dead</a:t>
                      </a:r>
                      <a:endParaRPr sz="18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1888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Healthy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1888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0.75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28575" cap="flat" cmpd="sng">
                      <a:solidFill>
                        <a:srgbClr val="61888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1888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1888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0.05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1888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1888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Sick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1888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 anchor="ctr">
                    <a:lnL w="28575" cap="flat" cmpd="sng">
                      <a:solidFill>
                        <a:srgbClr val="61888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0.85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0.15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1888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Dead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1888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28575" cap="flat" cmpd="sng">
                      <a:solidFill>
                        <a:srgbClr val="61888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1888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1888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1888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1888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71" name="Shape 771"/>
          <p:cNvSpPr txBox="1"/>
          <p:nvPr/>
        </p:nvSpPr>
        <p:spPr>
          <a:xfrm rot="-5400000">
            <a:off x="1420217" y="2706224"/>
            <a:ext cx="73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Shape 772"/>
          <p:cNvSpPr txBox="1"/>
          <p:nvPr/>
        </p:nvSpPr>
        <p:spPr>
          <a:xfrm>
            <a:off x="2994905" y="1713740"/>
            <a:ext cx="46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3" name="Shape 773"/>
          <p:cNvGrpSpPr/>
          <p:nvPr/>
        </p:nvGrpSpPr>
        <p:grpSpPr>
          <a:xfrm>
            <a:off x="864351" y="5295089"/>
            <a:ext cx="2235200" cy="548700"/>
            <a:chOff x="4038643" y="4217897"/>
            <a:chExt cx="2235200" cy="548700"/>
          </a:xfrm>
        </p:grpSpPr>
        <p:grpSp>
          <p:nvGrpSpPr>
            <p:cNvPr id="774" name="Shape 774"/>
            <p:cNvGrpSpPr/>
            <p:nvPr/>
          </p:nvGrpSpPr>
          <p:grpSpPr>
            <a:xfrm>
              <a:off x="4038643" y="4217897"/>
              <a:ext cx="2235200" cy="548700"/>
              <a:chOff x="1297709" y="3997072"/>
              <a:chExt cx="2235200" cy="548700"/>
            </a:xfrm>
          </p:grpSpPr>
          <p:sp>
            <p:nvSpPr>
              <p:cNvPr id="775" name="Shape 775"/>
              <p:cNvSpPr/>
              <p:nvPr/>
            </p:nvSpPr>
            <p:spPr>
              <a:xfrm>
                <a:off x="1297709" y="3997072"/>
                <a:ext cx="115500" cy="548700"/>
              </a:xfrm>
              <a:prstGeom prst="leftBracket">
                <a:avLst>
                  <a:gd name="adj" fmla="val 8333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6" name="Shape 776"/>
              <p:cNvSpPr/>
              <p:nvPr/>
            </p:nvSpPr>
            <p:spPr>
              <a:xfrm flipH="1">
                <a:off x="3417409" y="3997072"/>
                <a:ext cx="115500" cy="548700"/>
              </a:xfrm>
              <a:prstGeom prst="leftBracket">
                <a:avLst>
                  <a:gd name="adj" fmla="val 8333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77" name="Shape 777"/>
            <p:cNvSpPr txBox="1"/>
            <p:nvPr/>
          </p:nvSpPr>
          <p:spPr>
            <a:xfrm>
              <a:off x="4157880" y="4304991"/>
              <a:ext cx="662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NL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1.0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Shape 778"/>
            <p:cNvSpPr txBox="1"/>
            <p:nvPr/>
          </p:nvSpPr>
          <p:spPr>
            <a:xfrm>
              <a:off x="4841020" y="4304991"/>
              <a:ext cx="662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NL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0.0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9" name="Shape 779"/>
            <p:cNvSpPr txBox="1"/>
            <p:nvPr/>
          </p:nvSpPr>
          <p:spPr>
            <a:xfrm>
              <a:off x="5528501" y="4304991"/>
              <a:ext cx="662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NL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0.0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0" name="Shape 780"/>
          <p:cNvSpPr txBox="1"/>
          <p:nvPr/>
        </p:nvSpPr>
        <p:spPr>
          <a:xfrm>
            <a:off x="5987824" y="2644659"/>
            <a:ext cx="1299900" cy="4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	A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Shape 781"/>
          <p:cNvSpPr txBox="1"/>
          <p:nvPr/>
        </p:nvSpPr>
        <p:spPr>
          <a:xfrm>
            <a:off x="6173178" y="5356639"/>
            <a:ext cx="662400" cy="4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sz="2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82" name="Shape 782"/>
          <p:cNvGrpSpPr/>
          <p:nvPr/>
        </p:nvGrpSpPr>
        <p:grpSpPr>
          <a:xfrm>
            <a:off x="3707757" y="4737864"/>
            <a:ext cx="2235200" cy="1645800"/>
            <a:chOff x="4826000" y="3611334"/>
            <a:chExt cx="2235200" cy="1645800"/>
          </a:xfrm>
        </p:grpSpPr>
        <p:sp>
          <p:nvSpPr>
            <p:cNvPr id="783" name="Shape 783"/>
            <p:cNvSpPr/>
            <p:nvPr/>
          </p:nvSpPr>
          <p:spPr>
            <a:xfrm>
              <a:off x="4826000" y="3611334"/>
              <a:ext cx="115500" cy="1645800"/>
            </a:xfrm>
            <a:prstGeom prst="leftBracket">
              <a:avLst>
                <a:gd name="adj" fmla="val 8333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Shape 784"/>
            <p:cNvSpPr/>
            <p:nvPr/>
          </p:nvSpPr>
          <p:spPr>
            <a:xfrm flipH="1">
              <a:off x="6945700" y="3611334"/>
              <a:ext cx="115500" cy="1645800"/>
            </a:xfrm>
            <a:prstGeom prst="leftBracket">
              <a:avLst>
                <a:gd name="adj" fmla="val 8333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Shape 785"/>
            <p:cNvSpPr txBox="1"/>
            <p:nvPr/>
          </p:nvSpPr>
          <p:spPr>
            <a:xfrm>
              <a:off x="4941455" y="3699154"/>
              <a:ext cx="662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NL" sz="1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0.75</a:t>
              </a: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6" name="Shape 786"/>
            <p:cNvSpPr txBox="1"/>
            <p:nvPr/>
          </p:nvSpPr>
          <p:spPr>
            <a:xfrm>
              <a:off x="5624595" y="3699154"/>
              <a:ext cx="662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NL" sz="1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0.20</a:t>
              </a: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7" name="Shape 787"/>
            <p:cNvSpPr txBox="1"/>
            <p:nvPr/>
          </p:nvSpPr>
          <p:spPr>
            <a:xfrm>
              <a:off x="6312076" y="3699154"/>
              <a:ext cx="662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NL" sz="1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0.05</a:t>
              </a: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8" name="Shape 788"/>
            <p:cNvSpPr txBox="1"/>
            <p:nvPr/>
          </p:nvSpPr>
          <p:spPr>
            <a:xfrm>
              <a:off x="6312076" y="4237637"/>
              <a:ext cx="662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NL" sz="1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0.15</a:t>
              </a: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9" name="Shape 789"/>
            <p:cNvSpPr txBox="1"/>
            <p:nvPr/>
          </p:nvSpPr>
          <p:spPr>
            <a:xfrm>
              <a:off x="5624595" y="4237637"/>
              <a:ext cx="662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NL" sz="1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0.85</a:t>
              </a: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0" name="Shape 790"/>
            <p:cNvSpPr txBox="1"/>
            <p:nvPr/>
          </p:nvSpPr>
          <p:spPr>
            <a:xfrm>
              <a:off x="6312076" y="4776120"/>
              <a:ext cx="662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NL" sz="1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1.0</a:t>
              </a: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1" name="Shape 791"/>
            <p:cNvSpPr txBox="1"/>
            <p:nvPr/>
          </p:nvSpPr>
          <p:spPr>
            <a:xfrm>
              <a:off x="4941455" y="4237637"/>
              <a:ext cx="662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NL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2" name="Shape 792"/>
            <p:cNvSpPr txBox="1"/>
            <p:nvPr/>
          </p:nvSpPr>
          <p:spPr>
            <a:xfrm>
              <a:off x="4941455" y="4776120"/>
              <a:ext cx="662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NL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3" name="Shape 793"/>
            <p:cNvSpPr txBox="1"/>
            <p:nvPr/>
          </p:nvSpPr>
          <p:spPr>
            <a:xfrm>
              <a:off x="5624595" y="4776120"/>
              <a:ext cx="662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NL" sz="1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94" name="Shape 794"/>
          <p:cNvGrpSpPr/>
          <p:nvPr/>
        </p:nvGrpSpPr>
        <p:grpSpPr>
          <a:xfrm>
            <a:off x="6747564" y="5343366"/>
            <a:ext cx="2235200" cy="548700"/>
            <a:chOff x="1297709" y="3997072"/>
            <a:chExt cx="2235200" cy="548700"/>
          </a:xfrm>
        </p:grpSpPr>
        <p:sp>
          <p:nvSpPr>
            <p:cNvPr id="795" name="Shape 795"/>
            <p:cNvSpPr/>
            <p:nvPr/>
          </p:nvSpPr>
          <p:spPr>
            <a:xfrm>
              <a:off x="1297709" y="3997072"/>
              <a:ext cx="115500" cy="548700"/>
            </a:xfrm>
            <a:prstGeom prst="leftBracket">
              <a:avLst>
                <a:gd name="adj" fmla="val 8333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Shape 796"/>
            <p:cNvSpPr/>
            <p:nvPr/>
          </p:nvSpPr>
          <p:spPr>
            <a:xfrm flipH="1">
              <a:off x="3417409" y="3997072"/>
              <a:ext cx="115500" cy="548700"/>
            </a:xfrm>
            <a:prstGeom prst="leftBracket">
              <a:avLst>
                <a:gd name="adj" fmla="val 8333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7" name="Shape 797"/>
          <p:cNvSpPr txBox="1"/>
          <p:nvPr/>
        </p:nvSpPr>
        <p:spPr>
          <a:xfrm>
            <a:off x="4485612" y="4096231"/>
            <a:ext cx="662400" cy="4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6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2600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Shape 798"/>
          <p:cNvSpPr/>
          <p:nvPr/>
        </p:nvSpPr>
        <p:spPr>
          <a:xfrm>
            <a:off x="1761391" y="4753222"/>
            <a:ext cx="473100" cy="4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600" i="1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x</a:t>
            </a:r>
            <a:r>
              <a:rPr lang="nl-NL" sz="2600" baseline="-25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Shape 799"/>
          <p:cNvSpPr/>
          <p:nvPr/>
        </p:nvSpPr>
        <p:spPr>
          <a:xfrm>
            <a:off x="7592408" y="4802789"/>
            <a:ext cx="473100" cy="4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600" i="1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x</a:t>
            </a:r>
            <a:r>
              <a:rPr lang="nl-NL" sz="2600" baseline="-25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Shape 800"/>
          <p:cNvSpPr txBox="1"/>
          <p:nvPr/>
        </p:nvSpPr>
        <p:spPr>
          <a:xfrm>
            <a:off x="6834155" y="5435010"/>
            <a:ext cx="662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0.75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Shape 801"/>
          <p:cNvSpPr txBox="1"/>
          <p:nvPr/>
        </p:nvSpPr>
        <p:spPr>
          <a:xfrm>
            <a:off x="7517295" y="5435010"/>
            <a:ext cx="662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0.20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Shape 802"/>
          <p:cNvSpPr txBox="1"/>
          <p:nvPr/>
        </p:nvSpPr>
        <p:spPr>
          <a:xfrm>
            <a:off x="8204776" y="5435010"/>
            <a:ext cx="662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0.05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Shape 803"/>
          <p:cNvSpPr/>
          <p:nvPr/>
        </p:nvSpPr>
        <p:spPr>
          <a:xfrm rot="-5400000">
            <a:off x="1656239" y="4554312"/>
            <a:ext cx="683400" cy="2000400"/>
          </a:xfrm>
          <a:prstGeom prst="ellipse">
            <a:avLst/>
          </a:prstGeom>
          <a:noFill/>
          <a:ln w="25400" cap="flat" cmpd="sng">
            <a:solidFill>
              <a:srgbClr val="004D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Shape 804"/>
          <p:cNvSpPr/>
          <p:nvPr/>
        </p:nvSpPr>
        <p:spPr>
          <a:xfrm>
            <a:off x="3813847" y="4629336"/>
            <a:ext cx="683400" cy="1824000"/>
          </a:xfrm>
          <a:prstGeom prst="ellipse">
            <a:avLst/>
          </a:prstGeom>
          <a:noFill/>
          <a:ln w="25400" cap="flat" cmpd="sng">
            <a:solidFill>
              <a:srgbClr val="004D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Shape 805"/>
          <p:cNvSpPr/>
          <p:nvPr/>
        </p:nvSpPr>
        <p:spPr>
          <a:xfrm>
            <a:off x="4517479" y="4623144"/>
            <a:ext cx="683400" cy="1824000"/>
          </a:xfrm>
          <a:prstGeom prst="ellipse">
            <a:avLst/>
          </a:prstGeom>
          <a:noFill/>
          <a:ln w="25400" cap="flat" cmpd="sng">
            <a:solidFill>
              <a:srgbClr val="004D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Shape 806"/>
          <p:cNvSpPr/>
          <p:nvPr/>
        </p:nvSpPr>
        <p:spPr>
          <a:xfrm>
            <a:off x="5204855" y="4629336"/>
            <a:ext cx="683400" cy="1824000"/>
          </a:xfrm>
          <a:prstGeom prst="ellipse">
            <a:avLst/>
          </a:prstGeom>
          <a:noFill/>
          <a:ln w="25400" cap="flat" cmpd="sng">
            <a:solidFill>
              <a:srgbClr val="004D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Shape 807"/>
          <p:cNvSpPr txBox="1">
            <a:spLocks noGrp="1"/>
          </p:cNvSpPr>
          <p:nvPr>
            <p:ph type="sldNum" idx="12"/>
          </p:nvPr>
        </p:nvSpPr>
        <p:spPr>
          <a:xfrm>
            <a:off x="8559864" y="6453336"/>
            <a:ext cx="5487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nl-NL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88101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962C9-5198-4E2E-8A45-9354C9F85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Cycle</a:t>
            </a:r>
            <a:r>
              <a:rPr lang="nl-NL" dirty="0"/>
              <a:t> </a:t>
            </a:r>
            <a:r>
              <a:rPr lang="nl-NL" dirty="0" err="1"/>
              <a:t>dependancies</a:t>
            </a:r>
            <a:r>
              <a:rPr lang="nl-NL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F2C19-F1D7-48E5-A169-65427BDC6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576" y="1700808"/>
            <a:ext cx="8100000" cy="1050661"/>
          </a:xfrm>
        </p:spPr>
        <p:txBody>
          <a:bodyPr/>
          <a:lstStyle/>
          <a:p>
            <a:r>
              <a:rPr lang="nl-NL" dirty="0"/>
              <a:t>3D-array of </a:t>
            </a:r>
            <a:r>
              <a:rPr lang="nl-NL" dirty="0" err="1"/>
              <a:t>transition</a:t>
            </a:r>
            <a:r>
              <a:rPr lang="nl-NL" dirty="0"/>
              <a:t> </a:t>
            </a:r>
            <a:r>
              <a:rPr lang="nl-NL" dirty="0" err="1"/>
              <a:t>probabilities</a:t>
            </a:r>
            <a:endParaRPr lang="nl-NL" dirty="0"/>
          </a:p>
        </p:txBody>
      </p:sp>
      <p:pic>
        <p:nvPicPr>
          <p:cNvPr id="2050" name="Picture 2" descr="Image result for 3d array">
            <a:extLst>
              <a:ext uri="{FF2B5EF4-FFF2-40B4-BE49-F238E27FC236}">
                <a16:creationId xmlns:a16="http://schemas.microsoft.com/office/drawing/2014/main" id="{8119D593-6E1C-44E4-A598-331EB2092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1228" y="2348880"/>
            <a:ext cx="4073180" cy="36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Rechte verbindingslijn met pijl 5">
            <a:extLst>
              <a:ext uri="{FF2B5EF4-FFF2-40B4-BE49-F238E27FC236}">
                <a16:creationId xmlns:a16="http://schemas.microsoft.com/office/drawing/2014/main" id="{B85FD38F-B168-4112-98EE-1AB6D4E987F5}"/>
              </a:ext>
            </a:extLst>
          </p:cNvPr>
          <p:cNvCxnSpPr/>
          <p:nvPr/>
        </p:nvCxnSpPr>
        <p:spPr>
          <a:xfrm>
            <a:off x="1187624" y="5301208"/>
            <a:ext cx="13681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Rechte verbindingslijn met pijl 7">
            <a:extLst>
              <a:ext uri="{FF2B5EF4-FFF2-40B4-BE49-F238E27FC236}">
                <a16:creationId xmlns:a16="http://schemas.microsoft.com/office/drawing/2014/main" id="{8532D3E8-F949-4442-96E3-2511252DFC17}"/>
              </a:ext>
            </a:extLst>
          </p:cNvPr>
          <p:cNvCxnSpPr>
            <a:cxnSpLocks/>
          </p:cNvCxnSpPr>
          <p:nvPr/>
        </p:nvCxnSpPr>
        <p:spPr>
          <a:xfrm flipV="1">
            <a:off x="1159096" y="4293096"/>
            <a:ext cx="1224136" cy="1008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met pijl 9">
            <a:extLst>
              <a:ext uri="{FF2B5EF4-FFF2-40B4-BE49-F238E27FC236}">
                <a16:creationId xmlns:a16="http://schemas.microsoft.com/office/drawing/2014/main" id="{381E83A2-8F0F-4CA4-8DE9-9E880FC5DA61}"/>
              </a:ext>
            </a:extLst>
          </p:cNvPr>
          <p:cNvCxnSpPr>
            <a:cxnSpLocks/>
          </p:cNvCxnSpPr>
          <p:nvPr/>
        </p:nvCxnSpPr>
        <p:spPr>
          <a:xfrm flipH="1" flipV="1">
            <a:off x="1153144" y="3693918"/>
            <a:ext cx="11904" cy="1607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kstvak 10">
            <a:extLst>
              <a:ext uri="{FF2B5EF4-FFF2-40B4-BE49-F238E27FC236}">
                <a16:creationId xmlns:a16="http://schemas.microsoft.com/office/drawing/2014/main" id="{AADCB43B-7B02-4736-9A02-33B246471F22}"/>
              </a:ext>
            </a:extLst>
          </p:cNvPr>
          <p:cNvSpPr txBox="1"/>
          <p:nvPr/>
        </p:nvSpPr>
        <p:spPr>
          <a:xfrm>
            <a:off x="1273035" y="5337242"/>
            <a:ext cx="20432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From</a:t>
            </a:r>
            <a:r>
              <a:rPr lang="nl-NL" dirty="0"/>
              <a:t>: health </a:t>
            </a:r>
            <a:r>
              <a:rPr lang="nl-NL" dirty="0" err="1"/>
              <a:t>states</a:t>
            </a:r>
            <a:r>
              <a:rPr lang="nl-NL" dirty="0"/>
              <a:t> </a:t>
            </a:r>
          </a:p>
          <a:p>
            <a:endParaRPr lang="nl-NL" dirty="0"/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054FBED5-95B9-4E9D-B0BD-135515F431A1}"/>
              </a:ext>
            </a:extLst>
          </p:cNvPr>
          <p:cNvSpPr txBox="1"/>
          <p:nvPr/>
        </p:nvSpPr>
        <p:spPr>
          <a:xfrm rot="19238662">
            <a:off x="934597" y="4312896"/>
            <a:ext cx="1768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To</a:t>
            </a:r>
            <a:r>
              <a:rPr lang="nl-NL" dirty="0"/>
              <a:t>: health </a:t>
            </a:r>
            <a:r>
              <a:rPr lang="nl-NL" dirty="0" err="1"/>
              <a:t>states</a:t>
            </a:r>
            <a:r>
              <a:rPr lang="nl-NL" dirty="0"/>
              <a:t> 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ABAE900B-FBDC-45AD-BB28-27729DEDE4E1}"/>
              </a:ext>
            </a:extLst>
          </p:cNvPr>
          <p:cNvSpPr txBox="1"/>
          <p:nvPr/>
        </p:nvSpPr>
        <p:spPr>
          <a:xfrm rot="19087096">
            <a:off x="519004" y="3448760"/>
            <a:ext cx="765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Cycles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104695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Shape 858"/>
          <p:cNvSpPr txBox="1">
            <a:spLocks noGrp="1"/>
          </p:cNvSpPr>
          <p:nvPr>
            <p:ph type="title"/>
          </p:nvPr>
        </p:nvSpPr>
        <p:spPr>
          <a:xfrm>
            <a:off x="671250" y="2855000"/>
            <a:ext cx="7852200" cy="11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Building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Markov</a:t>
            </a:r>
            <a:r>
              <a:rPr lang="nl-NL" dirty="0"/>
              <a:t> model in R</a:t>
            </a:r>
            <a:endParaRPr dirty="0"/>
          </a:p>
        </p:txBody>
      </p:sp>
      <p:sp>
        <p:nvSpPr>
          <p:cNvPr id="859" name="Shape 859"/>
          <p:cNvSpPr txBox="1">
            <a:spLocks noGrp="1"/>
          </p:cNvSpPr>
          <p:nvPr>
            <p:ph type="sldNum" idx="12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30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E5DEB-25D3-4F95-90A8-DDD22A8B9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1052736"/>
            <a:ext cx="7852200" cy="1148100"/>
          </a:xfrm>
        </p:spPr>
        <p:txBody>
          <a:bodyPr/>
          <a:lstStyle/>
          <a:p>
            <a:r>
              <a:rPr lang="en-US" dirty="0"/>
              <a:t>Demo </a:t>
            </a:r>
            <a:br>
              <a:rPr lang="en-US" dirty="0"/>
            </a:br>
            <a:r>
              <a:rPr lang="en-US" dirty="0"/>
              <a:t>Healthy – Sick- Dead</a:t>
            </a:r>
          </a:p>
        </p:txBody>
      </p:sp>
      <p:pic>
        <p:nvPicPr>
          <p:cNvPr id="3" name="Shape 599">
            <a:extLst>
              <a:ext uri="{FF2B5EF4-FFF2-40B4-BE49-F238E27FC236}">
                <a16:creationId xmlns:a16="http://schemas.microsoft.com/office/drawing/2014/main" id="{26263792-B74E-46DD-88C9-01E90EE88F53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41425" y="2348880"/>
            <a:ext cx="5261149" cy="36994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641097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Shape 551"/>
          <p:cNvSpPr txBox="1">
            <a:spLocks noGrp="1"/>
          </p:cNvSpPr>
          <p:nvPr>
            <p:ph type="title"/>
          </p:nvPr>
        </p:nvSpPr>
        <p:spPr>
          <a:xfrm>
            <a:off x="645900" y="1484784"/>
            <a:ext cx="7852200" cy="11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nl-NL" sz="4800" dirty="0"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lang="nl-NL" dirty="0"/>
              <a:t> </a:t>
            </a:r>
            <a:r>
              <a:rPr lang="nl-NL" dirty="0" err="1"/>
              <a:t>Session</a:t>
            </a:r>
            <a:r>
              <a:rPr lang="nl-NL" dirty="0"/>
              <a:t> – </a:t>
            </a:r>
            <a:r>
              <a:rPr lang="nl-NL" dirty="0" err="1"/>
              <a:t>Markov</a:t>
            </a:r>
            <a:r>
              <a:rPr lang="nl-NL" dirty="0"/>
              <a:t> Model</a:t>
            </a:r>
            <a:br>
              <a:rPr lang="nl-NL" dirty="0"/>
            </a:br>
            <a:br>
              <a:rPr lang="nl-NL" dirty="0"/>
            </a:br>
            <a:r>
              <a:rPr lang="nl-NL" dirty="0"/>
              <a:t>https://github.com/StanWijn/DMIG</a:t>
            </a:r>
            <a:endParaRPr dirty="0"/>
          </a:p>
        </p:txBody>
      </p:sp>
      <p:sp>
        <p:nvSpPr>
          <p:cNvPr id="552" name="Shape 552"/>
          <p:cNvSpPr txBox="1">
            <a:spLocks noGrp="1"/>
          </p:cNvSpPr>
          <p:nvPr>
            <p:ph type="sldNum" idx="12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32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829F95-F259-40A6-9B2B-632EBA246E2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4910" y="3287183"/>
            <a:ext cx="4234180" cy="2926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1055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0EA62-9F2D-4E7F-BC85-837FA98EA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PSA?</a:t>
            </a:r>
          </a:p>
        </p:txBody>
      </p:sp>
    </p:spTree>
    <p:extLst>
      <p:ext uri="{BB962C8B-B14F-4D97-AF65-F5344CB8AC3E}">
        <p14:creationId xmlns:p14="http://schemas.microsoft.com/office/powerpoint/2010/main" val="35848339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Shape 434"/>
          <p:cNvSpPr txBox="1">
            <a:spLocks noGrp="1"/>
          </p:cNvSpPr>
          <p:nvPr>
            <p:ph type="title"/>
          </p:nvPr>
        </p:nvSpPr>
        <p:spPr>
          <a:xfrm>
            <a:off x="762000" y="404664"/>
            <a:ext cx="7620000" cy="114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 err="1"/>
              <a:t>Why</a:t>
            </a:r>
            <a:r>
              <a:rPr lang="nl-NL" dirty="0"/>
              <a:t> R? - take home</a:t>
            </a:r>
            <a:endParaRPr dirty="0"/>
          </a:p>
        </p:txBody>
      </p:sp>
      <p:sp>
        <p:nvSpPr>
          <p:cNvPr id="435" name="Shape 435"/>
          <p:cNvSpPr txBox="1">
            <a:spLocks noGrp="1"/>
          </p:cNvSpPr>
          <p:nvPr>
            <p:ph type="sldNum" idx="12"/>
          </p:nvPr>
        </p:nvSpPr>
        <p:spPr>
          <a:xfrm>
            <a:off x="8559864" y="6453336"/>
            <a:ext cx="5487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34</a:t>
            </a:fld>
            <a:endParaRPr/>
          </a:p>
        </p:txBody>
      </p:sp>
      <p:sp>
        <p:nvSpPr>
          <p:cNvPr id="436" name="Shape 436"/>
          <p:cNvSpPr txBox="1">
            <a:spLocks noGrp="1"/>
          </p:cNvSpPr>
          <p:nvPr>
            <p:ph type="body" idx="1"/>
          </p:nvPr>
        </p:nvSpPr>
        <p:spPr>
          <a:xfrm>
            <a:off x="840432" y="1219200"/>
            <a:ext cx="7620000" cy="48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marR="0" lvl="0" indent="-3175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Verdana"/>
              <a:buChar char="•"/>
            </a:pPr>
            <a:r>
              <a:rPr lang="nl-NL" sz="2400" dirty="0" err="1"/>
              <a:t>Freely</a:t>
            </a:r>
            <a:r>
              <a:rPr lang="nl-NL" sz="2400" dirty="0"/>
              <a:t> </a:t>
            </a:r>
            <a:r>
              <a:rPr lang="nl-NL" sz="2400" dirty="0" err="1"/>
              <a:t>available</a:t>
            </a:r>
            <a:r>
              <a:rPr lang="nl-NL" sz="2400" dirty="0"/>
              <a:t> </a:t>
            </a:r>
            <a:r>
              <a:rPr lang="nl-NL" sz="2400" dirty="0" err="1"/>
              <a:t>and</a:t>
            </a:r>
            <a:r>
              <a:rPr lang="nl-NL" sz="2400" dirty="0"/>
              <a:t> open-source</a:t>
            </a:r>
            <a:endParaRPr sz="2400" dirty="0">
              <a:solidFill>
                <a:srgbClr val="000000"/>
              </a:solidFill>
            </a:endParaRPr>
          </a:p>
          <a:p>
            <a:pPr marL="342900" lvl="0" indent="-317500" rtl="0">
              <a:spcBef>
                <a:spcPts val="18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Verdana"/>
              <a:buChar char="•"/>
            </a:pPr>
            <a:r>
              <a:rPr lang="nl-NL" sz="2400" dirty="0" err="1"/>
              <a:t>Results</a:t>
            </a:r>
            <a:r>
              <a:rPr lang="nl-NL" sz="2400" dirty="0"/>
              <a:t> are open, </a:t>
            </a:r>
            <a:r>
              <a:rPr lang="nl-NL" sz="2400" dirty="0" err="1"/>
              <a:t>reproducible</a:t>
            </a:r>
            <a:r>
              <a:rPr lang="nl-NL" sz="2400" dirty="0"/>
              <a:t> </a:t>
            </a:r>
            <a:r>
              <a:rPr lang="nl-NL" sz="2400" dirty="0" err="1"/>
              <a:t>and</a:t>
            </a:r>
            <a:r>
              <a:rPr lang="nl-NL" sz="2400" dirty="0"/>
              <a:t> </a:t>
            </a:r>
            <a:r>
              <a:rPr lang="nl-NL" sz="2400" dirty="0" err="1"/>
              <a:t>sharable</a:t>
            </a:r>
            <a:endParaRPr sz="2400" dirty="0">
              <a:solidFill>
                <a:srgbClr val="000000"/>
              </a:solidFill>
            </a:endParaRPr>
          </a:p>
          <a:p>
            <a:pPr marL="742950" lvl="1" indent="-273050" rtl="0">
              <a:spcBef>
                <a:spcPts val="600"/>
              </a:spcBef>
              <a:spcAft>
                <a:spcPts val="0"/>
              </a:spcAft>
              <a:buSzPts val="2200"/>
              <a:buFont typeface="Verdana"/>
              <a:buChar char="–"/>
            </a:pPr>
            <a:r>
              <a:rPr lang="nl-NL" sz="2200" dirty="0"/>
              <a:t>no “point-</a:t>
            </a:r>
            <a:r>
              <a:rPr lang="nl-NL" sz="2200" dirty="0" err="1"/>
              <a:t>and</a:t>
            </a:r>
            <a:r>
              <a:rPr lang="nl-NL" sz="2200" dirty="0"/>
              <a:t>-click” steps</a:t>
            </a:r>
            <a:endParaRPr sz="2200" dirty="0">
              <a:solidFill>
                <a:srgbClr val="000000"/>
              </a:solidFill>
            </a:endParaRPr>
          </a:p>
          <a:p>
            <a:pPr marL="342900" lvl="0" indent="-317500" rtl="0">
              <a:spcBef>
                <a:spcPts val="18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Verdana"/>
              <a:buChar char="•"/>
            </a:pPr>
            <a:r>
              <a:rPr lang="nl-NL" sz="2400" dirty="0" err="1"/>
              <a:t>Integrate</a:t>
            </a:r>
            <a:r>
              <a:rPr lang="nl-NL" sz="2400" dirty="0"/>
              <a:t> </a:t>
            </a:r>
            <a:r>
              <a:rPr lang="nl-NL" sz="2400" dirty="0" err="1"/>
              <a:t>statistical</a:t>
            </a:r>
            <a:r>
              <a:rPr lang="nl-NL" sz="2400" dirty="0"/>
              <a:t> analyses </a:t>
            </a:r>
            <a:r>
              <a:rPr lang="nl-NL" sz="2400" dirty="0" err="1"/>
              <a:t>with</a:t>
            </a:r>
            <a:r>
              <a:rPr lang="nl-NL" sz="2400" dirty="0"/>
              <a:t> </a:t>
            </a:r>
            <a:r>
              <a:rPr lang="nl-NL" sz="2400" dirty="0" err="1"/>
              <a:t>modeling</a:t>
            </a:r>
            <a:endParaRPr sz="2400" dirty="0">
              <a:solidFill>
                <a:srgbClr val="000000"/>
              </a:solidFill>
            </a:endParaRPr>
          </a:p>
          <a:p>
            <a:pPr marL="742950" lvl="1" indent="-273050" rtl="0">
              <a:spcBef>
                <a:spcPts val="600"/>
              </a:spcBef>
              <a:spcAft>
                <a:spcPts val="0"/>
              </a:spcAft>
              <a:buSzPts val="2200"/>
              <a:buFont typeface="Verdana"/>
              <a:buChar char="–"/>
            </a:pPr>
            <a:r>
              <a:rPr lang="nl-NL" sz="2200" dirty="0"/>
              <a:t>Parameter </a:t>
            </a:r>
            <a:r>
              <a:rPr lang="nl-NL" sz="2200" dirty="0" err="1"/>
              <a:t>estimation</a:t>
            </a:r>
            <a:endParaRPr sz="2200" dirty="0">
              <a:solidFill>
                <a:srgbClr val="000000"/>
              </a:solidFill>
            </a:endParaRPr>
          </a:p>
          <a:p>
            <a:pPr marL="742950" lvl="1" indent="-273050" rtl="0">
              <a:spcBef>
                <a:spcPts val="600"/>
              </a:spcBef>
              <a:spcAft>
                <a:spcPts val="0"/>
              </a:spcAft>
              <a:buSzPts val="2200"/>
              <a:buFont typeface="Verdana"/>
              <a:buChar char="–"/>
            </a:pPr>
            <a:r>
              <a:rPr lang="nl-NL" sz="2200" dirty="0"/>
              <a:t>Analysis / </a:t>
            </a:r>
            <a:r>
              <a:rPr lang="nl-NL" sz="2200" dirty="0" err="1"/>
              <a:t>visualization</a:t>
            </a:r>
            <a:r>
              <a:rPr lang="nl-NL" sz="2200" dirty="0"/>
              <a:t> of </a:t>
            </a:r>
            <a:r>
              <a:rPr lang="nl-NL" sz="2200" dirty="0" err="1"/>
              <a:t>results</a:t>
            </a:r>
            <a:endParaRPr sz="2200" dirty="0"/>
          </a:p>
          <a:p>
            <a:pPr marL="457200" lvl="0" indent="0" rtl="0">
              <a:spcBef>
                <a:spcPts val="600"/>
              </a:spcBef>
              <a:spcAft>
                <a:spcPts val="0"/>
              </a:spcAft>
              <a:buNone/>
            </a:pPr>
            <a:endParaRPr sz="2200" dirty="0"/>
          </a:p>
          <a:p>
            <a:pPr marL="342900" lvl="0" indent="-3175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Verdana"/>
              <a:buChar char="•"/>
            </a:pPr>
            <a:r>
              <a:rPr lang="nl-NL" sz="2400" dirty="0" err="1"/>
              <a:t>Accommodates</a:t>
            </a:r>
            <a:r>
              <a:rPr lang="nl-NL" sz="2400" dirty="0"/>
              <a:t> </a:t>
            </a:r>
            <a:r>
              <a:rPr lang="nl-NL" sz="2400" dirty="0" err="1"/>
              <a:t>the</a:t>
            </a:r>
            <a:r>
              <a:rPr lang="nl-NL" sz="2400" dirty="0"/>
              <a:t> </a:t>
            </a:r>
            <a:r>
              <a:rPr lang="nl-NL" sz="2400" dirty="0" err="1"/>
              <a:t>complexity</a:t>
            </a:r>
            <a:r>
              <a:rPr lang="nl-NL" sz="2400" dirty="0"/>
              <a:t> of </a:t>
            </a:r>
            <a:r>
              <a:rPr lang="nl-NL" sz="2400" dirty="0" err="1"/>
              <a:t>microsimulation</a:t>
            </a:r>
            <a:endParaRPr sz="2400" dirty="0"/>
          </a:p>
          <a:p>
            <a:pPr marL="742950" lvl="1" indent="-273050" rtl="0">
              <a:spcBef>
                <a:spcPts val="600"/>
              </a:spcBef>
              <a:spcAft>
                <a:spcPts val="0"/>
              </a:spcAft>
              <a:buSzPts val="2200"/>
              <a:buFont typeface="Verdana"/>
              <a:buChar char="–"/>
            </a:pPr>
            <a:r>
              <a:rPr lang="nl-NL" sz="2200" dirty="0"/>
              <a:t>Flexibility </a:t>
            </a:r>
            <a:r>
              <a:rPr lang="nl-NL" sz="2200" dirty="0" err="1"/>
              <a:t>to</a:t>
            </a:r>
            <a:r>
              <a:rPr lang="nl-NL" sz="2200" dirty="0"/>
              <a:t> </a:t>
            </a:r>
            <a:r>
              <a:rPr lang="nl-NL" sz="2200" dirty="0" err="1"/>
              <a:t>implement</a:t>
            </a:r>
            <a:r>
              <a:rPr lang="nl-NL" sz="2200" dirty="0"/>
              <a:t> </a:t>
            </a:r>
            <a:r>
              <a:rPr lang="nl-NL" sz="2200" dirty="0" err="1"/>
              <a:t>any</a:t>
            </a:r>
            <a:r>
              <a:rPr lang="nl-NL" sz="2200" dirty="0"/>
              <a:t> </a:t>
            </a:r>
            <a:r>
              <a:rPr lang="nl-NL" sz="2200" dirty="0" err="1"/>
              <a:t>desired</a:t>
            </a:r>
            <a:r>
              <a:rPr lang="nl-NL" sz="2200" dirty="0"/>
              <a:t> </a:t>
            </a:r>
            <a:r>
              <a:rPr lang="nl-NL" sz="2200" dirty="0" err="1"/>
              <a:t>modeling</a:t>
            </a:r>
            <a:r>
              <a:rPr lang="nl-NL" sz="2200" dirty="0"/>
              <a:t> </a:t>
            </a:r>
            <a:r>
              <a:rPr lang="nl-NL" sz="2200" dirty="0" err="1"/>
              <a:t>structure</a:t>
            </a:r>
            <a:endParaRPr sz="2200" dirty="0"/>
          </a:p>
          <a:p>
            <a:pPr marL="742950" lvl="1" indent="-273050" rtl="0">
              <a:spcBef>
                <a:spcPts val="600"/>
              </a:spcBef>
              <a:spcAft>
                <a:spcPts val="0"/>
              </a:spcAft>
              <a:buSzPts val="2200"/>
              <a:buFont typeface="Verdana"/>
              <a:buChar char="–"/>
            </a:pPr>
            <a:r>
              <a:rPr lang="nl-NL" sz="2200" dirty="0" err="1"/>
              <a:t>Computational</a:t>
            </a:r>
            <a:r>
              <a:rPr lang="nl-NL" sz="2200" dirty="0"/>
              <a:t> efficiency (</a:t>
            </a:r>
            <a:r>
              <a:rPr lang="nl-NL" sz="2200" dirty="0" err="1"/>
              <a:t>fast</a:t>
            </a:r>
            <a:r>
              <a:rPr lang="nl-NL" sz="2200" dirty="0"/>
              <a:t>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059356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Shape 932"/>
          <p:cNvSpPr txBox="1">
            <a:spLocks noGrp="1"/>
          </p:cNvSpPr>
          <p:nvPr>
            <p:ph type="title"/>
          </p:nvPr>
        </p:nvSpPr>
        <p:spPr>
          <a:xfrm>
            <a:off x="648426" y="795900"/>
            <a:ext cx="7054800" cy="76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/>
              <a:t>Conclusion</a:t>
            </a:r>
            <a:endParaRPr/>
          </a:p>
        </p:txBody>
      </p:sp>
      <p:sp>
        <p:nvSpPr>
          <p:cNvPr id="933" name="Shape 933"/>
          <p:cNvSpPr txBox="1">
            <a:spLocks noGrp="1"/>
          </p:cNvSpPr>
          <p:nvPr>
            <p:ph type="body" idx="1"/>
          </p:nvPr>
        </p:nvSpPr>
        <p:spPr>
          <a:xfrm>
            <a:off x="756750" y="1508600"/>
            <a:ext cx="77640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88900" algn="ctr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nl-NL" sz="2000" dirty="0">
                <a:latin typeface="Oswald"/>
                <a:ea typeface="Oswald"/>
                <a:cs typeface="Oswald"/>
                <a:sym typeface="Oswald"/>
              </a:rPr>
              <a:t>No software platform is perfect but:</a:t>
            </a:r>
            <a:endParaRPr sz="2000" dirty="0">
              <a:latin typeface="Oswald"/>
              <a:ea typeface="Oswald"/>
              <a:cs typeface="Oswald"/>
              <a:sym typeface="Oswald"/>
            </a:endParaRPr>
          </a:p>
          <a:p>
            <a:pPr marL="342900" lvl="0" indent="-88900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nl-NL" sz="2000" dirty="0">
                <a:latin typeface="Oswald"/>
                <a:ea typeface="Oswald"/>
                <a:cs typeface="Oswald"/>
                <a:sym typeface="Oswald"/>
              </a:rPr>
              <a:t> R offers </a:t>
            </a:r>
            <a:r>
              <a:rPr lang="nl-NL" sz="2000" b="1" dirty="0" err="1">
                <a:latin typeface="Oswald"/>
                <a:ea typeface="Oswald"/>
                <a:cs typeface="Oswald"/>
                <a:sym typeface="Oswald"/>
              </a:rPr>
              <a:t>potential</a:t>
            </a:r>
            <a:r>
              <a:rPr lang="nl-NL" sz="2000" b="1" dirty="0"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nl-NL" sz="2000" dirty="0">
                <a:latin typeface="Oswald"/>
                <a:ea typeface="Oswald"/>
                <a:cs typeface="Oswald"/>
                <a:sym typeface="Oswald"/>
              </a:rPr>
              <a:t>for </a:t>
            </a:r>
            <a:br>
              <a:rPr lang="nl-NL" sz="2000" dirty="0">
                <a:latin typeface="Oswald"/>
                <a:ea typeface="Oswald"/>
                <a:cs typeface="Oswald"/>
                <a:sym typeface="Oswald"/>
              </a:rPr>
            </a:br>
            <a:r>
              <a:rPr lang="nl-NL" sz="2000" dirty="0">
                <a:latin typeface="Oswald"/>
                <a:ea typeface="Oswald"/>
                <a:cs typeface="Oswald"/>
                <a:sym typeface="Oswald"/>
              </a:rPr>
              <a:t>	</a:t>
            </a:r>
            <a:r>
              <a:rPr lang="nl-NL" sz="2000" dirty="0" err="1">
                <a:latin typeface="Oswald"/>
                <a:ea typeface="Oswald"/>
                <a:cs typeface="Oswald"/>
                <a:sym typeface="Oswald"/>
              </a:rPr>
              <a:t>transparency</a:t>
            </a:r>
            <a:r>
              <a:rPr lang="nl-NL" sz="2000" dirty="0">
                <a:latin typeface="Oswald"/>
                <a:ea typeface="Oswald"/>
                <a:cs typeface="Oswald"/>
                <a:sym typeface="Oswald"/>
              </a:rPr>
              <a:t>,</a:t>
            </a:r>
            <a:br>
              <a:rPr lang="nl-NL" sz="2000" dirty="0">
                <a:latin typeface="Oswald"/>
                <a:ea typeface="Oswald"/>
                <a:cs typeface="Oswald"/>
                <a:sym typeface="Oswald"/>
              </a:rPr>
            </a:br>
            <a:r>
              <a:rPr lang="nl-NL" sz="2000" dirty="0">
                <a:latin typeface="Oswald"/>
                <a:ea typeface="Oswald"/>
                <a:cs typeface="Oswald"/>
                <a:sym typeface="Oswald"/>
              </a:rPr>
              <a:t>	</a:t>
            </a:r>
            <a:r>
              <a:rPr lang="nl-NL" sz="2000" dirty="0" err="1">
                <a:latin typeface="Oswald"/>
                <a:ea typeface="Oswald"/>
                <a:cs typeface="Oswald"/>
                <a:sym typeface="Oswald"/>
              </a:rPr>
              <a:t>reproducibility</a:t>
            </a:r>
            <a:r>
              <a:rPr lang="nl-NL" sz="2000" dirty="0">
                <a:latin typeface="Oswald"/>
                <a:ea typeface="Oswald"/>
                <a:cs typeface="Oswald"/>
                <a:sym typeface="Oswald"/>
              </a:rPr>
              <a:t>, </a:t>
            </a:r>
            <a:br>
              <a:rPr lang="nl-NL" sz="2000" dirty="0">
                <a:latin typeface="Oswald"/>
                <a:ea typeface="Oswald"/>
                <a:cs typeface="Oswald"/>
                <a:sym typeface="Oswald"/>
              </a:rPr>
            </a:br>
            <a:r>
              <a:rPr lang="nl-NL" sz="2000" dirty="0">
                <a:latin typeface="Oswald"/>
                <a:ea typeface="Oswald"/>
                <a:cs typeface="Oswald"/>
                <a:sym typeface="Oswald"/>
              </a:rPr>
              <a:t>	</a:t>
            </a:r>
            <a:r>
              <a:rPr lang="nl-NL" sz="2000" dirty="0" err="1">
                <a:latin typeface="Oswald"/>
                <a:ea typeface="Oswald"/>
                <a:cs typeface="Oswald"/>
                <a:sym typeface="Oswald"/>
              </a:rPr>
              <a:t>incorporating</a:t>
            </a:r>
            <a:r>
              <a:rPr lang="nl-NL" sz="2000" dirty="0">
                <a:latin typeface="Oswald"/>
                <a:ea typeface="Oswald"/>
                <a:cs typeface="Oswald"/>
                <a:sym typeface="Oswald"/>
              </a:rPr>
              <a:t> model </a:t>
            </a:r>
            <a:r>
              <a:rPr lang="nl-NL" sz="2000" dirty="0" err="1">
                <a:latin typeface="Oswald"/>
                <a:ea typeface="Oswald"/>
                <a:cs typeface="Oswald"/>
                <a:sym typeface="Oswald"/>
              </a:rPr>
              <a:t>complexity</a:t>
            </a:r>
            <a:r>
              <a:rPr lang="nl-NL" sz="2000" dirty="0">
                <a:latin typeface="Oswald"/>
                <a:ea typeface="Oswald"/>
                <a:cs typeface="Oswald"/>
                <a:sym typeface="Oswald"/>
              </a:rPr>
              <a:t>,</a:t>
            </a:r>
            <a:br>
              <a:rPr lang="nl-NL" sz="2000" dirty="0">
                <a:latin typeface="Oswald"/>
                <a:ea typeface="Oswald"/>
                <a:cs typeface="Oswald"/>
                <a:sym typeface="Oswald"/>
              </a:rPr>
            </a:br>
            <a:r>
              <a:rPr lang="nl-NL" sz="2000" dirty="0">
                <a:latin typeface="Oswald"/>
                <a:ea typeface="Oswald"/>
                <a:cs typeface="Oswald"/>
                <a:sym typeface="Oswald"/>
              </a:rPr>
              <a:t>	</a:t>
            </a:r>
            <a:r>
              <a:rPr lang="nl-NL" sz="2000" dirty="0" err="1">
                <a:latin typeface="Oswald"/>
                <a:ea typeface="Oswald"/>
                <a:cs typeface="Oswald"/>
                <a:sym typeface="Oswald"/>
              </a:rPr>
              <a:t>improved</a:t>
            </a:r>
            <a:r>
              <a:rPr lang="nl-NL" sz="2000" dirty="0">
                <a:latin typeface="Oswald"/>
                <a:ea typeface="Oswald"/>
                <a:cs typeface="Oswald"/>
                <a:sym typeface="Oswald"/>
              </a:rPr>
              <a:t> performance, </a:t>
            </a:r>
            <a:br>
              <a:rPr lang="nl-NL" sz="2000" dirty="0">
                <a:latin typeface="Oswald"/>
                <a:ea typeface="Oswald"/>
                <a:cs typeface="Oswald"/>
                <a:sym typeface="Oswald"/>
              </a:rPr>
            </a:br>
            <a:r>
              <a:rPr lang="nl-NL" sz="2000" dirty="0">
                <a:latin typeface="Oswald"/>
                <a:ea typeface="Oswald"/>
                <a:cs typeface="Oswald"/>
                <a:sym typeface="Oswald"/>
              </a:rPr>
              <a:t>	a </a:t>
            </a:r>
            <a:r>
              <a:rPr lang="nl-NL" sz="2000" dirty="0" err="1">
                <a:latin typeface="Oswald"/>
                <a:ea typeface="Oswald"/>
                <a:cs typeface="Oswald"/>
                <a:sym typeface="Oswald"/>
              </a:rPr>
              <a:t>unified</a:t>
            </a:r>
            <a:r>
              <a:rPr lang="nl-NL" sz="2000" dirty="0"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nl-NL" sz="2000" dirty="0" err="1">
                <a:latin typeface="Oswald"/>
                <a:ea typeface="Oswald"/>
                <a:cs typeface="Oswald"/>
                <a:sym typeface="Oswald"/>
              </a:rPr>
              <a:t>framework</a:t>
            </a:r>
            <a:r>
              <a:rPr lang="nl-NL" sz="2000" dirty="0">
                <a:latin typeface="Oswald"/>
                <a:ea typeface="Oswald"/>
                <a:cs typeface="Oswald"/>
                <a:sym typeface="Oswald"/>
              </a:rPr>
              <a:t>, </a:t>
            </a:r>
            <a:br>
              <a:rPr lang="nl-NL" sz="2000" dirty="0">
                <a:latin typeface="Oswald"/>
                <a:ea typeface="Oswald"/>
                <a:cs typeface="Oswald"/>
                <a:sym typeface="Oswald"/>
              </a:rPr>
            </a:br>
            <a:r>
              <a:rPr lang="nl-NL" sz="2000" dirty="0">
                <a:latin typeface="Oswald"/>
                <a:ea typeface="Oswald"/>
                <a:cs typeface="Oswald"/>
                <a:sym typeface="Oswald"/>
              </a:rPr>
              <a:t>	a </a:t>
            </a:r>
            <a:r>
              <a:rPr lang="nl-NL" sz="2000" dirty="0" err="1">
                <a:latin typeface="Oswald"/>
                <a:ea typeface="Oswald"/>
                <a:cs typeface="Oswald"/>
                <a:sym typeface="Oswald"/>
              </a:rPr>
              <a:t>great</a:t>
            </a:r>
            <a:r>
              <a:rPr lang="nl-NL" sz="2000" dirty="0"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nl-NL" sz="2000" dirty="0" err="1">
                <a:latin typeface="Oswald"/>
                <a:ea typeface="Oswald"/>
                <a:cs typeface="Oswald"/>
                <a:sym typeface="Oswald"/>
              </a:rPr>
              <a:t>educational</a:t>
            </a:r>
            <a:r>
              <a:rPr lang="nl-NL" sz="2000" dirty="0">
                <a:latin typeface="Oswald"/>
                <a:ea typeface="Oswald"/>
                <a:cs typeface="Oswald"/>
                <a:sym typeface="Oswald"/>
              </a:rPr>
              <a:t> platform</a:t>
            </a:r>
            <a:br>
              <a:rPr lang="nl-NL" sz="2000" dirty="0">
                <a:latin typeface="Oswald"/>
                <a:ea typeface="Oswald"/>
                <a:cs typeface="Oswald"/>
                <a:sym typeface="Oswald"/>
              </a:rPr>
            </a:br>
            <a:r>
              <a:rPr lang="nl-NL" sz="2000" dirty="0">
                <a:latin typeface="Oswald"/>
                <a:ea typeface="Oswald"/>
                <a:cs typeface="Oswald"/>
                <a:sym typeface="Oswald"/>
              </a:rPr>
              <a:t>	GUI </a:t>
            </a:r>
            <a:r>
              <a:rPr lang="nl-NL" sz="2000" dirty="0" err="1">
                <a:latin typeface="Oswald"/>
                <a:ea typeface="Oswald"/>
                <a:cs typeface="Oswald"/>
                <a:sym typeface="Oswald"/>
              </a:rPr>
              <a:t>capabilities</a:t>
            </a:r>
            <a:r>
              <a:rPr lang="nl-NL" sz="2000" dirty="0">
                <a:latin typeface="Oswald"/>
                <a:ea typeface="Oswald"/>
                <a:cs typeface="Oswald"/>
                <a:sym typeface="Oswald"/>
              </a:rPr>
              <a:t>, </a:t>
            </a:r>
            <a:br>
              <a:rPr lang="nl-NL" sz="2000" dirty="0">
                <a:latin typeface="Oswald"/>
                <a:ea typeface="Oswald"/>
                <a:cs typeface="Oswald"/>
                <a:sym typeface="Oswald"/>
              </a:rPr>
            </a:br>
            <a:r>
              <a:rPr lang="nl-NL" sz="2000" dirty="0">
                <a:latin typeface="Oswald"/>
                <a:ea typeface="Oswald"/>
                <a:cs typeface="Oswald"/>
                <a:sym typeface="Oswald"/>
              </a:rPr>
              <a:t>	</a:t>
            </a:r>
            <a:r>
              <a:rPr lang="nl-NL" sz="2000" dirty="0" err="1">
                <a:latin typeface="Oswald"/>
                <a:ea typeface="Oswald"/>
                <a:cs typeface="Oswald"/>
                <a:sym typeface="Oswald"/>
              </a:rPr>
              <a:t>which</a:t>
            </a:r>
            <a:r>
              <a:rPr lang="nl-NL" sz="2000" dirty="0">
                <a:latin typeface="Oswald"/>
                <a:ea typeface="Oswald"/>
                <a:cs typeface="Oswald"/>
                <a:sym typeface="Oswald"/>
              </a:rPr>
              <a:t> is FREE!</a:t>
            </a:r>
            <a:endParaRPr sz="2000" dirty="0">
              <a:latin typeface="Oswald"/>
              <a:ea typeface="Oswald"/>
              <a:cs typeface="Oswald"/>
              <a:sym typeface="Oswald"/>
            </a:endParaRPr>
          </a:p>
          <a:p>
            <a:pPr marL="342900" lvl="0" indent="-88900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2000" dirty="0">
              <a:latin typeface="Oswald"/>
              <a:ea typeface="Oswald"/>
              <a:cs typeface="Oswald"/>
              <a:sym typeface="Oswald"/>
            </a:endParaRPr>
          </a:p>
          <a:p>
            <a:pPr marL="342900" lvl="0" indent="-88900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2000" dirty="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934" name="Shape 934"/>
          <p:cNvSpPr txBox="1">
            <a:spLocks noGrp="1"/>
          </p:cNvSpPr>
          <p:nvPr>
            <p:ph type="body" idx="1"/>
          </p:nvPr>
        </p:nvSpPr>
        <p:spPr>
          <a:xfrm>
            <a:off x="4724400" y="1559400"/>
            <a:ext cx="4287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88900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2000" dirty="0">
              <a:latin typeface="Oswald"/>
              <a:ea typeface="Oswald"/>
              <a:cs typeface="Oswald"/>
              <a:sym typeface="Oswald"/>
            </a:endParaRPr>
          </a:p>
          <a:p>
            <a:pPr marL="342900" lvl="0" indent="-88900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nl-NL" sz="2000" dirty="0">
                <a:latin typeface="Oswald"/>
                <a:ea typeface="Oswald"/>
                <a:cs typeface="Oswald"/>
                <a:sym typeface="Oswald"/>
              </a:rPr>
              <a:t> The </a:t>
            </a:r>
            <a:r>
              <a:rPr lang="nl-NL" sz="2000" b="1" dirty="0" err="1">
                <a:latin typeface="Oswald"/>
                <a:ea typeface="Oswald"/>
                <a:cs typeface="Oswald"/>
                <a:sym typeface="Oswald"/>
              </a:rPr>
              <a:t>price</a:t>
            </a:r>
            <a:r>
              <a:rPr lang="nl-NL" sz="2000" b="1" dirty="0"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nl-NL" sz="2000" b="1" dirty="0" err="1">
                <a:latin typeface="Oswald"/>
                <a:ea typeface="Oswald"/>
                <a:cs typeface="Oswald"/>
                <a:sym typeface="Oswald"/>
              </a:rPr>
              <a:t>to</a:t>
            </a:r>
            <a:r>
              <a:rPr lang="nl-NL" sz="2000" b="1" dirty="0"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nl-NL" sz="2000" b="1" dirty="0" err="1">
                <a:latin typeface="Oswald"/>
                <a:ea typeface="Oswald"/>
                <a:cs typeface="Oswald"/>
                <a:sym typeface="Oswald"/>
              </a:rPr>
              <a:t>pay</a:t>
            </a:r>
            <a:r>
              <a:rPr lang="nl-NL" sz="2000" dirty="0">
                <a:latin typeface="Oswald"/>
                <a:ea typeface="Oswald"/>
                <a:cs typeface="Oswald"/>
                <a:sym typeface="Oswald"/>
              </a:rPr>
              <a:t>: </a:t>
            </a:r>
            <a:br>
              <a:rPr lang="nl-NL" sz="2000" dirty="0">
                <a:latin typeface="Oswald"/>
                <a:ea typeface="Oswald"/>
                <a:cs typeface="Oswald"/>
                <a:sym typeface="Oswald"/>
              </a:rPr>
            </a:br>
            <a:r>
              <a:rPr lang="nl-NL" sz="2000" dirty="0">
                <a:latin typeface="Oswald"/>
                <a:ea typeface="Oswald"/>
                <a:cs typeface="Oswald"/>
                <a:sym typeface="Oswald"/>
              </a:rPr>
              <a:t>	</a:t>
            </a:r>
            <a:r>
              <a:rPr lang="nl-NL" sz="2000" dirty="0" err="1">
                <a:latin typeface="Oswald"/>
                <a:ea typeface="Oswald"/>
                <a:cs typeface="Oswald"/>
                <a:sym typeface="Oswald"/>
              </a:rPr>
              <a:t>Steep</a:t>
            </a:r>
            <a:r>
              <a:rPr lang="nl-NL" sz="2000" dirty="0"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nl-NL" sz="2000" dirty="0" err="1">
                <a:latin typeface="Oswald"/>
                <a:ea typeface="Oswald"/>
                <a:cs typeface="Oswald"/>
                <a:sym typeface="Oswald"/>
              </a:rPr>
              <a:t>learning</a:t>
            </a:r>
            <a:r>
              <a:rPr lang="nl-NL" sz="2000" dirty="0">
                <a:latin typeface="Oswald"/>
                <a:ea typeface="Oswald"/>
                <a:cs typeface="Oswald"/>
                <a:sym typeface="Oswald"/>
              </a:rPr>
              <a:t> curve,</a:t>
            </a:r>
            <a:br>
              <a:rPr lang="nl-NL" sz="2000" dirty="0">
                <a:latin typeface="Oswald"/>
                <a:ea typeface="Oswald"/>
                <a:cs typeface="Oswald"/>
                <a:sym typeface="Oswald"/>
              </a:rPr>
            </a:br>
            <a:r>
              <a:rPr lang="nl-NL" sz="2000" dirty="0">
                <a:latin typeface="Oswald"/>
                <a:ea typeface="Oswald"/>
                <a:cs typeface="Oswald"/>
                <a:sym typeface="Oswald"/>
              </a:rPr>
              <a:t>	Programming skills, </a:t>
            </a:r>
            <a:br>
              <a:rPr lang="nl-NL" sz="2000" dirty="0">
                <a:latin typeface="Oswald"/>
                <a:ea typeface="Oswald"/>
                <a:cs typeface="Oswald"/>
                <a:sym typeface="Oswald"/>
              </a:rPr>
            </a:br>
            <a:r>
              <a:rPr lang="nl-NL" sz="2000" dirty="0">
                <a:latin typeface="Oswald"/>
                <a:ea typeface="Oswald"/>
                <a:cs typeface="Oswald"/>
                <a:sym typeface="Oswald"/>
              </a:rPr>
              <a:t>	</a:t>
            </a:r>
            <a:r>
              <a:rPr lang="nl-NL" sz="2000" dirty="0" err="1">
                <a:latin typeface="Oswald"/>
                <a:ea typeface="Oswald"/>
                <a:cs typeface="Oswald"/>
                <a:sym typeface="Oswald"/>
              </a:rPr>
              <a:t>Poorer</a:t>
            </a:r>
            <a:r>
              <a:rPr lang="nl-NL" sz="2000" dirty="0">
                <a:latin typeface="Oswald"/>
                <a:ea typeface="Oswald"/>
                <a:cs typeface="Oswald"/>
                <a:sym typeface="Oswald"/>
              </a:rPr>
              <a:t> GUI </a:t>
            </a:r>
            <a:r>
              <a:rPr lang="nl-NL" sz="2000" dirty="0" err="1">
                <a:latin typeface="Oswald"/>
                <a:ea typeface="Oswald"/>
                <a:cs typeface="Oswald"/>
                <a:sym typeface="Oswald"/>
              </a:rPr>
              <a:t>compared</a:t>
            </a:r>
            <a:r>
              <a:rPr lang="nl-NL" sz="2000" dirty="0"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nl-NL" sz="2000" dirty="0" err="1">
                <a:latin typeface="Oswald"/>
                <a:ea typeface="Oswald"/>
                <a:cs typeface="Oswald"/>
                <a:sym typeface="Oswald"/>
              </a:rPr>
              <a:t>to</a:t>
            </a:r>
            <a:r>
              <a:rPr lang="nl-NL" sz="2000" dirty="0"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nl-NL" sz="2000" dirty="0" err="1">
                <a:latin typeface="Oswald"/>
                <a:ea typeface="Oswald"/>
                <a:cs typeface="Oswald"/>
                <a:sym typeface="Oswald"/>
              </a:rPr>
              <a:t>other</a:t>
            </a:r>
            <a:r>
              <a:rPr lang="nl-NL" sz="2000" dirty="0">
                <a:latin typeface="Oswald"/>
                <a:ea typeface="Oswald"/>
                <a:cs typeface="Oswald"/>
                <a:sym typeface="Oswald"/>
              </a:rPr>
              <a:t> software</a:t>
            </a:r>
            <a:br>
              <a:rPr lang="nl-NL" sz="2000" dirty="0">
                <a:latin typeface="Oswald"/>
                <a:ea typeface="Oswald"/>
                <a:cs typeface="Oswald"/>
                <a:sym typeface="Oswald"/>
              </a:rPr>
            </a:br>
            <a:r>
              <a:rPr lang="nl-NL" sz="2000" dirty="0">
                <a:latin typeface="Oswald"/>
                <a:ea typeface="Oswald"/>
                <a:cs typeface="Oswald"/>
                <a:sym typeface="Oswald"/>
              </a:rPr>
              <a:t>	</a:t>
            </a:r>
            <a:r>
              <a:rPr lang="nl-NL" sz="2000" dirty="0" err="1">
                <a:latin typeface="Oswald"/>
                <a:ea typeface="Oswald"/>
                <a:cs typeface="Oswald"/>
                <a:sym typeface="Oswald"/>
              </a:rPr>
              <a:t>Poorer</a:t>
            </a:r>
            <a:r>
              <a:rPr lang="nl-NL" sz="2000" dirty="0"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nl-NL" sz="2000" dirty="0" err="1">
                <a:latin typeface="Oswald"/>
                <a:ea typeface="Oswald"/>
                <a:cs typeface="Oswald"/>
                <a:sym typeface="Oswald"/>
              </a:rPr>
              <a:t>documentation</a:t>
            </a:r>
            <a:endParaRPr sz="2000" dirty="0">
              <a:latin typeface="Oswald"/>
              <a:ea typeface="Oswald"/>
              <a:cs typeface="Oswald"/>
              <a:sym typeface="Oswald"/>
            </a:endParaRPr>
          </a:p>
          <a:p>
            <a:pPr marL="342900" lvl="0" indent="-88900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2000" dirty="0">
              <a:latin typeface="Oswald"/>
              <a:ea typeface="Oswald"/>
              <a:cs typeface="Oswald"/>
              <a:sym typeface="Oswald"/>
            </a:endParaRPr>
          </a:p>
          <a:p>
            <a:pPr marL="342900" lvl="0" indent="-88900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br>
              <a:rPr lang="nl-NL" sz="2000" dirty="0">
                <a:latin typeface="Oswald"/>
                <a:ea typeface="Oswald"/>
                <a:cs typeface="Oswald"/>
                <a:sym typeface="Oswald"/>
              </a:rPr>
            </a:br>
            <a:r>
              <a:rPr lang="nl-NL" sz="2000" dirty="0">
                <a:latin typeface="Oswald"/>
                <a:ea typeface="Oswald"/>
                <a:cs typeface="Oswald"/>
                <a:sym typeface="Oswald"/>
              </a:rPr>
              <a:t>	</a:t>
            </a:r>
            <a:endParaRPr sz="2000" dirty="0">
              <a:latin typeface="Oswald"/>
              <a:ea typeface="Oswald"/>
              <a:cs typeface="Oswald"/>
              <a:sym typeface="Oswald"/>
            </a:endParaRPr>
          </a:p>
          <a:p>
            <a:pPr marL="342900" lvl="0" indent="-88900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2000" dirty="0">
              <a:latin typeface="Oswald"/>
              <a:ea typeface="Oswald"/>
              <a:cs typeface="Oswald"/>
              <a:sym typeface="Oswald"/>
            </a:endParaRPr>
          </a:p>
          <a:p>
            <a:pPr marL="342900" lvl="0" indent="-88900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2000" dirty="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935" name="Shape 935"/>
          <p:cNvSpPr txBox="1">
            <a:spLocks noGrp="1"/>
          </p:cNvSpPr>
          <p:nvPr>
            <p:ph type="sldNum" idx="12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35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10A9F-D1DB-47DD-8489-02DD8A9C6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075" y="692696"/>
            <a:ext cx="7951500" cy="763500"/>
          </a:xfrm>
        </p:spPr>
        <p:txBody>
          <a:bodyPr/>
          <a:lstStyle/>
          <a:p>
            <a:r>
              <a:rPr lang="nl-NL" dirty="0" err="1"/>
              <a:t>Literature</a:t>
            </a:r>
            <a:r>
              <a:rPr lang="nl-NL" dirty="0"/>
              <a:t>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1FB48-3305-4A6C-9011-9AD34572D5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Tutorial </a:t>
            </a:r>
            <a:r>
              <a:rPr lang="nl-NL" dirty="0" err="1"/>
              <a:t>Microsimulation</a:t>
            </a:r>
            <a:r>
              <a:rPr lang="nl-NL" dirty="0"/>
              <a:t>: </a:t>
            </a:r>
          </a:p>
          <a:p>
            <a:pPr lvl="1"/>
            <a:r>
              <a:rPr lang="nl-NL" dirty="0">
                <a:hlinkClick r:id="rId2"/>
              </a:rPr>
              <a:t>http://journals.sagepub.com/doi/full/10.1177/0272989X18754513</a:t>
            </a:r>
            <a:endParaRPr lang="nl-NL" dirty="0"/>
          </a:p>
          <a:p>
            <a:endParaRPr lang="nl-NL" dirty="0"/>
          </a:p>
          <a:p>
            <a:r>
              <a:rPr lang="nl-NL" dirty="0"/>
              <a:t>General </a:t>
            </a:r>
            <a:r>
              <a:rPr lang="nl-NL" dirty="0" err="1"/>
              <a:t>overview</a:t>
            </a:r>
            <a:r>
              <a:rPr lang="nl-NL" dirty="0"/>
              <a:t> of R </a:t>
            </a:r>
            <a:r>
              <a:rPr lang="nl-NL" dirty="0" err="1"/>
              <a:t>modelling</a:t>
            </a:r>
            <a:r>
              <a:rPr lang="nl-NL" dirty="0"/>
              <a:t>: </a:t>
            </a:r>
          </a:p>
          <a:p>
            <a:pPr lvl="1"/>
            <a:r>
              <a:rPr lang="nl-NL" dirty="0"/>
              <a:t>http://journals.sagepub.com/doi/abs/10.1177/0272989X16686559?url_ver=Z39.88-2003&amp;rfr_id=ori:rid:crossref.org&amp;rfr_dat=cr_pub%3dpubmed</a:t>
            </a:r>
          </a:p>
        </p:txBody>
      </p:sp>
    </p:spTree>
    <p:extLst>
      <p:ext uri="{BB962C8B-B14F-4D97-AF65-F5344CB8AC3E}">
        <p14:creationId xmlns:p14="http://schemas.microsoft.com/office/powerpoint/2010/main" val="2449414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6167A-D790-4B9E-9ADA-EA8B1922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54EDB-E531-4422-AEE5-B0BDFA6D6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Image result for radboudumc logo">
            <a:extLst>
              <a:ext uri="{FF2B5EF4-FFF2-40B4-BE49-F238E27FC236}">
                <a16:creationId xmlns:a16="http://schemas.microsoft.com/office/drawing/2014/main" id="{65ACCE7B-0D33-4DE2-8305-4043F4F33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7868" y="1784412"/>
            <a:ext cx="6948264" cy="3474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6754543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e_4x3">
  <a:themeElements>
    <a:clrScheme name="Radboudumc">
      <a:dk1>
        <a:srgbClr val="000000"/>
      </a:dk1>
      <a:lt1>
        <a:sysClr val="window" lastClr="FFFFFF"/>
      </a:lt1>
      <a:dk2>
        <a:srgbClr val="00AFDC"/>
      </a:dk2>
      <a:lt2>
        <a:srgbClr val="FFFFFF"/>
      </a:lt2>
      <a:accent1>
        <a:srgbClr val="006991"/>
      </a:accent1>
      <a:accent2>
        <a:srgbClr val="7FB4C8"/>
      </a:accent2>
      <a:accent3>
        <a:srgbClr val="00AFDC"/>
      </a:accent3>
      <a:accent4>
        <a:srgbClr val="7FD7ED"/>
      </a:accent4>
      <a:accent5>
        <a:srgbClr val="CCCCCC"/>
      </a:accent5>
      <a:accent6>
        <a:srgbClr val="E6E6E6"/>
      </a:accent6>
      <a:hlink>
        <a:srgbClr val="000000"/>
      </a:hlink>
      <a:folHlink>
        <a:srgbClr val="00AFDC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Presentatie_4x3</Template>
  <TotalTime>2875</TotalTime>
  <Words>1333</Words>
  <Application>Microsoft Office PowerPoint</Application>
  <PresentationFormat>On-screen Show (4:3)</PresentationFormat>
  <Paragraphs>278</Paragraphs>
  <Slides>37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5" baseType="lpstr">
      <vt:lpstr>Arial</vt:lpstr>
      <vt:lpstr>Calibri</vt:lpstr>
      <vt:lpstr>Cambria</vt:lpstr>
      <vt:lpstr>Constantia</vt:lpstr>
      <vt:lpstr>Courier New</vt:lpstr>
      <vt:lpstr>Oswald</vt:lpstr>
      <vt:lpstr>Verdana</vt:lpstr>
      <vt:lpstr>Presentatie_4x3</vt:lpstr>
      <vt:lpstr>      Workshop:  Decision modelling in R </vt:lpstr>
      <vt:lpstr>Today</vt:lpstr>
      <vt:lpstr>Disclaimer</vt:lpstr>
      <vt:lpstr>1. Why build a decision model in R</vt:lpstr>
      <vt:lpstr>Current decision modeling software</vt:lpstr>
      <vt:lpstr>PowerPoint Presentation</vt:lpstr>
      <vt:lpstr>It is fast!</vt:lpstr>
      <vt:lpstr>PowerPoint Presentation</vt:lpstr>
      <vt:lpstr>When to build a decision model in R</vt:lpstr>
      <vt:lpstr>How?</vt:lpstr>
      <vt:lpstr>Conceptualizing a decision model in R</vt:lpstr>
      <vt:lpstr>2. Practice   Decision tree</vt:lpstr>
      <vt:lpstr>PowerPoint Presentation</vt:lpstr>
      <vt:lpstr>PowerPoint Presentation</vt:lpstr>
      <vt:lpstr>The Decision Tree</vt:lpstr>
      <vt:lpstr>PowerPoint Presentation</vt:lpstr>
      <vt:lpstr>Example Decision Tree</vt:lpstr>
      <vt:lpstr>Example Decision Tree</vt:lpstr>
      <vt:lpstr>General tips</vt:lpstr>
      <vt:lpstr>General tips</vt:lpstr>
      <vt:lpstr>R Session – Decision Tree   https://github.com/StanWijn/DMIG</vt:lpstr>
      <vt:lpstr>PowerPoint Presentation</vt:lpstr>
      <vt:lpstr>PowerPoint Presentation</vt:lpstr>
      <vt:lpstr>Building a state transition cohort Model </vt:lpstr>
      <vt:lpstr>Markov  Trace</vt:lpstr>
      <vt:lpstr>Healthy - Sick - Dead</vt:lpstr>
      <vt:lpstr>Transitioning</vt:lpstr>
      <vt:lpstr>Review – Markov Models</vt:lpstr>
      <vt:lpstr>Cycle dependancies?</vt:lpstr>
      <vt:lpstr>Building the Markov model in R</vt:lpstr>
      <vt:lpstr>Demo  Healthy – Sick- Dead</vt:lpstr>
      <vt:lpstr>R Session – Markov Model  https://github.com/StanWijn/DMIG</vt:lpstr>
      <vt:lpstr>PSA?</vt:lpstr>
      <vt:lpstr>Why R? - take home</vt:lpstr>
      <vt:lpstr>Conclusion</vt:lpstr>
      <vt:lpstr>Literature:</vt:lpstr>
      <vt:lpstr>PowerPoint Presentation</vt:lpstr>
    </vt:vector>
  </TitlesOfParts>
  <Company>UMC St Radboud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 1</dc:title>
  <dc:creator>Grutters</dc:creator>
  <dc:description>versie 1.0</dc:description>
  <cp:lastModifiedBy>Stan Wijn</cp:lastModifiedBy>
  <cp:revision>228</cp:revision>
  <cp:lastPrinted>2018-02-27T13:14:38Z</cp:lastPrinted>
  <dcterms:created xsi:type="dcterms:W3CDTF">2013-10-16T15:06:57Z</dcterms:created>
  <dcterms:modified xsi:type="dcterms:W3CDTF">2019-03-08T11:40:29Z</dcterms:modified>
  <cp:category>Huisstijl</cp:category>
</cp:coreProperties>
</file>